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Arimo Bold" charset="1" panose="020B0704020202020204"/>
      <p:regular r:id="rId41"/>
    </p:embeddedFont>
    <p:embeddedFont>
      <p:font typeface="Inter Medium" charset="1" panose="02000503000000020004"/>
      <p:regular r:id="rId42"/>
    </p:embeddedFont>
    <p:embeddedFont>
      <p:font typeface="Arimo" charset="1" panose="020B0604020202020204"/>
      <p:regular r:id="rId43"/>
    </p:embeddedFont>
    <p:embeddedFont>
      <p:font typeface="Inter" charset="1" panose="02000503000000020004"/>
      <p:regular r:id="rId46"/>
    </p:embeddedFont>
    <p:embeddedFont>
      <p:font typeface="Inter Semi-Bold" charset="1" panose="02000503000000020004"/>
      <p:regular r:id="rId49"/>
    </p:embeddedFont>
    <p:embeddedFont>
      <p:font typeface="JetBrains Mono Medium" charset="1" panose="02010609020102050004"/>
      <p:regular r:id="rId53"/>
    </p:embeddedFont>
    <p:embeddedFont>
      <p:font typeface="Inter Bold" charset="1" panose="02000503000000020004"/>
      <p:regular r:id="rId56"/>
    </p:embeddedFont>
    <p:embeddedFont>
      <p:font typeface="JetBrains Mono" charset="1" panose="02010509020102050004"/>
      <p:regular r:id="rId57"/>
    </p:embeddedFont>
    <p:embeddedFont>
      <p:font typeface="Inter Italics" charset="1" panose="02000503000000020004"/>
      <p:regular r:id="rId58"/>
    </p:embeddedFont>
    <p:embeddedFont>
      <p:font typeface="JetBrains Mono Bold" charset="1" panose="02010809030102050004"/>
      <p:regular r:id="rId59"/>
    </p:embeddedFont>
    <p:embeddedFont>
      <p:font typeface="JetBrains Mono Italics" charset="1" panose="02010509020102050004"/>
      <p:regular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notesMasters/notesMaster1.xml" Type="http://schemas.openxmlformats.org/officeDocument/2006/relationships/notesMaster"/><Relationship Id="rId39" Target="theme/theme2.xml" Type="http://schemas.openxmlformats.org/officeDocument/2006/relationships/theme"/><Relationship Id="rId4" Target="theme/theme1.xml" Type="http://schemas.openxmlformats.org/officeDocument/2006/relationships/theme"/><Relationship Id="rId40" Target="notesSlides/notesSlide1.xml" Type="http://schemas.openxmlformats.org/officeDocument/2006/relationships/note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notesSlides/notesSlide2.xml" Type="http://schemas.openxmlformats.org/officeDocument/2006/relationships/notesSlide"/><Relationship Id="rId45" Target="notesSlides/notesSlide3.xml" Type="http://schemas.openxmlformats.org/officeDocument/2006/relationships/notesSlide"/><Relationship Id="rId46" Target="fonts/font46.fntdata" Type="http://schemas.openxmlformats.org/officeDocument/2006/relationships/font"/><Relationship Id="rId47" Target="notesSlides/notesSlide4.xml" Type="http://schemas.openxmlformats.org/officeDocument/2006/relationships/notesSlide"/><Relationship Id="rId48" Target="notesSlides/notesSlide5.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6.xml" Type="http://schemas.openxmlformats.org/officeDocument/2006/relationships/notesSlide"/><Relationship Id="rId51" Target="notesSlides/notesSlide7.xml" Type="http://schemas.openxmlformats.org/officeDocument/2006/relationships/notesSlide"/><Relationship Id="rId52" Target="notesSlides/notesSlide8.xml" Type="http://schemas.openxmlformats.org/officeDocument/2006/relationships/notesSlide"/><Relationship Id="rId53" Target="fonts/font53.fntdata" Type="http://schemas.openxmlformats.org/officeDocument/2006/relationships/font"/><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notesSlides/notesSlide11.xml" Type="http://schemas.openxmlformats.org/officeDocument/2006/relationships/notesSlide"/><Relationship Id="rId61" Target="notesSlides/notesSlide12.xml" Type="http://schemas.openxmlformats.org/officeDocument/2006/relationships/notesSlide"/><Relationship Id="rId62" Target="notesSlides/notesSlide13.xml" Type="http://schemas.openxmlformats.org/officeDocument/2006/relationships/notesSlide"/><Relationship Id="rId63" Target="notesSlides/notesSlide14.xml" Type="http://schemas.openxmlformats.org/officeDocument/2006/relationships/notesSlide"/><Relationship Id="rId64" Target="notesSlides/notesSlide15.xml" Type="http://schemas.openxmlformats.org/officeDocument/2006/relationships/notesSlide"/><Relationship Id="rId65" Target="notesSlides/notesSlide16.xml" Type="http://schemas.openxmlformats.org/officeDocument/2006/relationships/notesSlide"/><Relationship Id="rId66" Target="notesSlides/notesSlide17.xml" Type="http://schemas.openxmlformats.org/officeDocument/2006/relationships/notesSlide"/><Relationship Id="rId67" Target="notesSlides/notesSlide18.xml" Type="http://schemas.openxmlformats.org/officeDocument/2006/relationships/notesSlide"/><Relationship Id="rId68" Target="notesSlides/notesSlide19.xml" Type="http://schemas.openxmlformats.org/officeDocument/2006/relationships/notesSlide"/><Relationship Id="rId69" Target="notesSlides/notesSlide20.xml" Type="http://schemas.openxmlformats.org/officeDocument/2006/relationships/notesSlide"/><Relationship Id="rId7" Target="slides/slide2.xml" Type="http://schemas.openxmlformats.org/officeDocument/2006/relationships/slide"/><Relationship Id="rId70" Target="notesSlides/notesSlide21.xml" Type="http://schemas.openxmlformats.org/officeDocument/2006/relationships/notesSlide"/><Relationship Id="rId71" Target="notesSlides/notesSlide22.xml" Type="http://schemas.openxmlformats.org/officeDocument/2006/relationships/notesSlide"/><Relationship Id="rId72" Target="notesSlides/notesSlide23.xml" Type="http://schemas.openxmlformats.org/officeDocument/2006/relationships/notesSlide"/><Relationship Id="rId73" Target="notesSlides/notesSlide24.xml" Type="http://schemas.openxmlformats.org/officeDocument/2006/relationships/notesSlide"/><Relationship Id="rId74" Target="notesSlides/notesSlide25.xml" Type="http://schemas.openxmlformats.org/officeDocument/2006/relationships/notesSlide"/><Relationship Id="rId75" Target="notesSlides/notesSlide26.xml" Type="http://schemas.openxmlformats.org/officeDocument/2006/relationships/notesSlide"/><Relationship Id="rId76" Target="notesSlides/notesSlide27.xml" Type="http://schemas.openxmlformats.org/officeDocument/2006/relationships/notesSlide"/><Relationship Id="rId77" Target="notesSlides/notesSlide28.xml" Type="http://schemas.openxmlformats.org/officeDocument/2006/relationships/notesSlide"/><Relationship Id="rId78" Target="notesSlides/notesSlide29.xml" Type="http://schemas.openxmlformats.org/officeDocument/2006/relationships/notesSlide"/><Relationship Id="rId79" Target="notesSlides/notesSlide30.xml" Type="http://schemas.openxmlformats.org/officeDocument/2006/relationships/notesSlide"/><Relationship Id="rId8" Target="slides/slide3.xml" Type="http://schemas.openxmlformats.org/officeDocument/2006/relationships/slide"/><Relationship Id="rId80" Target="fonts/font80.fntdata" Type="http://schemas.openxmlformats.org/officeDocument/2006/relationships/font"/><Relationship Id="rId81" Target="notesSlides/notesSlide31.xml" Type="http://schemas.openxmlformats.org/officeDocument/2006/relationships/notesSlide"/><Relationship Id="rId82" Target="notesSlides/notesSlide32.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Today we're looking at React performance from three angles: how the renderer actually spends its time, how memoization can help — and hurt, and how concurrent rendering changes the game. Workshop format: talk, then exercise, three times.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plan. Three parts, each around six minutes of me talking, then hands-on time between them. We won't go code-heavy in the slides — the code lives in the exercises.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Part one. Before we optimize anything, we need to know what we're optimizing. The new Performance panel in React Native 0.83 breaks the renderer's work into five distinct phases. If you can name the phase that's slow, you know which lever to pull.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Part one. Before we optimize anything, we need to know what we're optimizing. The new Performance panel in React Native 0.83 breaks the renderer's work into five distinct phases. If you can name the phase that's slow, you know which lever to pull.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one. I'll hand you a small RN app with a deliberate slow path. Profile one interaction, identify the offending phase, write down a hypothesis. Ten minutes.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one. I'll hand you a small RN app with a deliberate slow path. Profile one interaction, identify the offending phase, write down a hypothesis. Ten minutes.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Part two. Now that we can find a slow Render phase, let's talk about shrinking it. Memoization is the main tool — but it's a tool, not a panacea.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default: when a component re-renders, every descendant re-renders too. Parent ran — children run. Fine for small trees. Painful for big ones with expensive leaves.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React.memo wraps a component so it only re-renders when its props actually change. Shallow compare by default. Best for expensive components with stable props.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useMemo caches a value across renders. Use it for expensive computations — or, more often, to stabilize a reference being passed to a memo'd child.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useMemo caches a value across renders. Use it for expensive computations — or, more often, to stabilize a reference being passed to a memo'd child.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useCallback is useMemo for functions. Same idea: keep the reference stable so a memo'd consumer can skip re-rendering. Useless if there's no memo'd consumer downstream.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useCallback is useMemo for functions. Same idea: keep the reference stable so a memo'd consumer can skip re-rendering. Useless if there's no memo'd consumer downstream.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React Compiler is the team's answer to 'I shouldn't have to think about this.' Build-time tool that analyzes your component code and inserts memoization for you — automatically and conservatively.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it auto-memoizes: component outputs, hook return values, JSX, intermediate computations — anywhere it can prove referential equality is safe. Worst case it skips: same perf as today, never wrong-cached.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two. Fix the over-rendering screen by hand. Then enable the compiler, delete your manual memos, and verify the profile is the same.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two. Fix the over-rendering screen by hand. Then enable the compiler, delete your manual memos, and verify the profile is the same.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two. Fix the over-rendering screen by hand. Then enable the compiler, delete your manual memos, and verify the profile is the same.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Part three. Concurrent rendering. The deeper answer: instead of making renders smaller, make them interruptible.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Every UI update walks through these five steps. Most of the time it's microseconds. Sometimes one of them blows up. We'll spend the next five slides on each.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Phase one. The work React does before any of your render code runs — figuring out what changed and what's now dirty. Usually tiny. Spikes here often mean heavy context fan-out or too many subscribers.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Phase two. Your component functions run here, and reconciliation diffs the new tree against the old one. This is where most performance problems live. The rest of the workshop is about shrinking this bar.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Commit. React mutates the host tree — native views on RN, the DOM on web. Layout effects run synchronously at the end of this phase, before the screen paints. Slow layout effects are the classic culprit.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commit, React hands control back to the platform to actually paint. We can't do much here, but big commits make big paints — so upstream work still shows up.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Effects — useEffect, not useLayoutEffect — run after paint. The user already sees the new frame. Heavy effects here don't jank the current frame, but they delay the next interaction.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one. I'll hand you a small RN app with a deliberate slow path. Profile one interaction, identify the offending phase, write down a hypothesis. Ten minutes.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Part three. Concurrent rendering. The deeper answer: instead of making renders smaller, make them interruptible.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concurrent rendering, every render ran to completion synchronously. Two-hundred-millisecond render means two-hundred-millisecond frozen UI. The textbook example: a big list re-filtering on every keystroke.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With concurrent rendering, React splits work into chunks, yields back to the platform between them, and can throw away half-done work for something more important. The result still appears atomically — never a half tree.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useTransition is how you opt in. Wrap a non-urgent state update in startTransition; urgent updates preempt it; isPending gives you a subtle loading state without blocking input.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useDeferredValue is the same idea from the consumer side. Pass a fast-changing value through it and the expensive subtree downstream re-renders at its own pace.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two. Fix the over-rendering screen by hand. Then enable the compiler, delete your manual memos, and verify the profile is the same.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FFF"/>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3603605" y="833438"/>
            <a:ext cx="3541395"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REACT PERFORMANCE · 2026</a:t>
            </a:r>
          </a:p>
        </p:txBody>
      </p:sp>
      <p:sp>
        <p:nvSpPr>
          <p:cNvPr name="AutoShape 6" id="6"/>
          <p:cNvSpPr/>
          <p:nvPr/>
        </p:nvSpPr>
        <p:spPr>
          <a:xfrm rot="0">
            <a:off x="1143000" y="2832926"/>
            <a:ext cx="192691" cy="276225"/>
          </a:xfrm>
          <a:prstGeom prst="rect">
            <a:avLst/>
          </a:prstGeom>
          <a:solidFill>
            <a:srgbClr val="C8CEF5"/>
          </a:solidFill>
        </p:spPr>
      </p:sp>
      <p:sp>
        <p:nvSpPr>
          <p:cNvPr name="TextBox 7" id="7"/>
          <p:cNvSpPr txBox="true"/>
          <p:nvPr/>
        </p:nvSpPr>
        <p:spPr>
          <a:xfrm rot="0">
            <a:off x="1143000" y="2794826"/>
            <a:ext cx="13338620" cy="314325"/>
          </a:xfrm>
          <a:prstGeom prst="rect">
            <a:avLst/>
          </a:prstGeom>
        </p:spPr>
        <p:txBody>
          <a:bodyPr anchor="t" rtlCol="false" tIns="0" lIns="0" bIns="0" rIns="0">
            <a:spAutoFit/>
          </a:bodyPr>
          <a:lstStyle/>
          <a:p>
            <a:pPr algn="l">
              <a:lnSpc>
                <a:spcPts val="2520"/>
              </a:lnSpc>
            </a:pPr>
            <a:r>
              <a:rPr lang="en-US" b="true" sz="1800" spc="144">
                <a:solidFill>
                  <a:srgbClr val="0D0F26"/>
                </a:solidFill>
                <a:latin typeface="Inter Medium"/>
                <a:ea typeface="Inter Medium"/>
                <a:cs typeface="Inter Medium"/>
                <a:sym typeface="Inter Medium"/>
              </a:rPr>
              <a:t>●</a:t>
            </a: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  A WORKSHOP IN THREE PARTS</a:t>
            </a:r>
          </a:p>
        </p:txBody>
      </p:sp>
      <p:sp>
        <p:nvSpPr>
          <p:cNvPr name="AutoShape 8" id="8"/>
          <p:cNvSpPr/>
          <p:nvPr/>
        </p:nvSpPr>
        <p:spPr>
          <a:xfrm rot="0">
            <a:off x="1143000" y="5224462"/>
            <a:ext cx="13338620" cy="27146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9" id="9"/>
          <p:cNvSpPr txBox="true"/>
          <p:nvPr/>
        </p:nvSpPr>
        <p:spPr>
          <a:xfrm rot="0">
            <a:off x="1143000" y="4033075"/>
            <a:ext cx="14742397" cy="4131183"/>
          </a:xfrm>
          <a:prstGeom prst="rect">
            <a:avLst/>
          </a:prstGeom>
        </p:spPr>
        <p:txBody>
          <a:bodyPr anchor="t" rtlCol="false" tIns="0" lIns="0" bIns="0" rIns="0">
            <a:spAutoFit/>
          </a:bodyPr>
          <a:lstStyle/>
          <a:p>
            <a:pPr algn="l">
              <a:lnSpc>
                <a:spcPts val="15456"/>
              </a:lnSpc>
            </a:pPr>
            <a:r>
              <a:rPr lang="en-US" b="true" sz="16800" spc="-504">
                <a:solidFill>
                  <a:srgbClr val="0D0F26"/>
                </a:solidFill>
                <a:latin typeface="Arimo Bold"/>
                <a:ea typeface="Arimo Bold"/>
                <a:cs typeface="Arimo Bold"/>
                <a:sym typeface="Arimo Bold"/>
              </a:rPr>
              <a:t>React</a:t>
            </a:r>
          </a:p>
          <a:p>
            <a:pPr algn="l">
              <a:lnSpc>
                <a:spcPts val="15456"/>
              </a:lnSpc>
            </a:pPr>
            <a:r>
              <a:rPr lang="en-US" b="true" sz="16800" spc="-504">
                <a:solidFill>
                  <a:srgbClr val="0D0F26"/>
                </a:solidFill>
                <a:latin typeface="Arimo Bold"/>
                <a:ea typeface="Arimo Bold"/>
                <a:cs typeface="Arimo Bold"/>
                <a:sym typeface="Arimo Bold"/>
              </a:rPr>
              <a:t>performance.</a:t>
            </a:r>
          </a:p>
        </p:txBody>
      </p:sp>
      <p:sp>
        <p:nvSpPr>
          <p:cNvPr name="AutoShape 10" id="10"/>
          <p:cNvSpPr/>
          <p:nvPr/>
        </p:nvSpPr>
        <p:spPr>
          <a:xfrm rot="0">
            <a:off x="1143000" y="8410575"/>
            <a:ext cx="16002000" cy="9525"/>
          </a:xfrm>
          <a:prstGeom prst="rect">
            <a:avLst/>
          </a:prstGeom>
          <a:solidFill>
            <a:srgbClr val="0D0F26"/>
          </a:solidFill>
        </p:spPr>
      </p:sp>
      <p:sp>
        <p:nvSpPr>
          <p:cNvPr name="AutoShape 11" id="11"/>
          <p:cNvSpPr/>
          <p:nvPr/>
        </p:nvSpPr>
        <p:spPr>
          <a:xfrm rot="0">
            <a:off x="5133975" y="8420100"/>
            <a:ext cx="9525" cy="1028700"/>
          </a:xfrm>
          <a:prstGeom prst="rect">
            <a:avLst/>
          </a:prstGeom>
          <a:solidFill>
            <a:srgbClr val="0D0F26"/>
          </a:solidFill>
        </p:spPr>
      </p:sp>
      <p:sp>
        <p:nvSpPr>
          <p:cNvPr name="TextBox 12" id="12"/>
          <p:cNvSpPr txBox="true"/>
          <p:nvPr/>
        </p:nvSpPr>
        <p:spPr>
          <a:xfrm rot="0">
            <a:off x="1143000" y="8648700"/>
            <a:ext cx="3724275"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FOR</a:t>
            </a:r>
          </a:p>
        </p:txBody>
      </p:sp>
      <p:sp>
        <p:nvSpPr>
          <p:cNvPr name="TextBox 13" id="13"/>
          <p:cNvSpPr txBox="true"/>
          <p:nvPr/>
        </p:nvSpPr>
        <p:spPr>
          <a:xfrm rot="0">
            <a:off x="1143000" y="9020175"/>
            <a:ext cx="3724275" cy="428625"/>
          </a:xfrm>
          <a:prstGeom prst="rect">
            <a:avLst/>
          </a:prstGeom>
        </p:spPr>
        <p:txBody>
          <a:bodyPr anchor="t" rtlCol="false" tIns="0" lIns="0" bIns="0" rIns="0">
            <a:spAutoFit/>
          </a:bodyPr>
          <a:lstStyle/>
          <a:p>
            <a:pPr algn="l">
              <a:lnSpc>
                <a:spcPts val="3149"/>
              </a:lnSpc>
            </a:pPr>
            <a:r>
              <a:rPr lang="en-US" sz="2250" spc="-22">
                <a:solidFill>
                  <a:srgbClr val="0D0F26"/>
                </a:solidFill>
                <a:latin typeface="Arimo"/>
                <a:ea typeface="Arimo"/>
                <a:cs typeface="Arimo"/>
                <a:sym typeface="Arimo"/>
              </a:rPr>
              <a:t>React Native developers</a:t>
            </a:r>
          </a:p>
        </p:txBody>
      </p:sp>
      <p:sp>
        <p:nvSpPr>
          <p:cNvPr name="AutoShape 14" id="14"/>
          <p:cNvSpPr/>
          <p:nvPr/>
        </p:nvSpPr>
        <p:spPr>
          <a:xfrm rot="0">
            <a:off x="9134475" y="8420100"/>
            <a:ext cx="9525" cy="1028700"/>
          </a:xfrm>
          <a:prstGeom prst="rect">
            <a:avLst/>
          </a:prstGeom>
          <a:solidFill>
            <a:srgbClr val="0D0F26"/>
          </a:solidFill>
        </p:spPr>
      </p:sp>
      <p:sp>
        <p:nvSpPr>
          <p:cNvPr name="TextBox 15" id="15"/>
          <p:cNvSpPr txBox="true"/>
          <p:nvPr/>
        </p:nvSpPr>
        <p:spPr>
          <a:xfrm rot="0">
            <a:off x="5410200" y="8648700"/>
            <a:ext cx="3457575"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DURATION</a:t>
            </a:r>
          </a:p>
        </p:txBody>
      </p:sp>
      <p:sp>
        <p:nvSpPr>
          <p:cNvPr name="TextBox 16" id="16"/>
          <p:cNvSpPr txBox="true"/>
          <p:nvPr/>
        </p:nvSpPr>
        <p:spPr>
          <a:xfrm rot="0">
            <a:off x="5410200" y="9020175"/>
            <a:ext cx="1173659" cy="400050"/>
          </a:xfrm>
          <a:prstGeom prst="rect">
            <a:avLst/>
          </a:prstGeom>
        </p:spPr>
        <p:txBody>
          <a:bodyPr anchor="t" rtlCol="false" tIns="0" lIns="0" bIns="0" rIns="0">
            <a:spAutoFit/>
          </a:bodyPr>
          <a:lstStyle/>
          <a:p>
            <a:pPr algn="l">
              <a:lnSpc>
                <a:spcPts val="3149"/>
              </a:lnSpc>
            </a:pPr>
            <a:r>
              <a:rPr lang="en-US" sz="2250" spc="-22">
                <a:solidFill>
                  <a:srgbClr val="0D0F26"/>
                </a:solidFill>
                <a:latin typeface="Arimo"/>
                <a:ea typeface="Arimo"/>
                <a:cs typeface="Arimo"/>
                <a:sym typeface="Arimo"/>
              </a:rPr>
              <a:t>~ 8 hours</a:t>
            </a:r>
          </a:p>
        </p:txBody>
      </p:sp>
      <p:sp>
        <p:nvSpPr>
          <p:cNvPr name="AutoShape 17" id="17"/>
          <p:cNvSpPr/>
          <p:nvPr/>
        </p:nvSpPr>
        <p:spPr>
          <a:xfrm rot="0">
            <a:off x="13134975" y="8420100"/>
            <a:ext cx="9525" cy="1028700"/>
          </a:xfrm>
          <a:prstGeom prst="rect">
            <a:avLst/>
          </a:prstGeom>
          <a:solidFill>
            <a:srgbClr val="0D0F26"/>
          </a:solidFill>
        </p:spPr>
      </p:sp>
      <p:sp>
        <p:nvSpPr>
          <p:cNvPr name="TextBox 18" id="18"/>
          <p:cNvSpPr txBox="true"/>
          <p:nvPr/>
        </p:nvSpPr>
        <p:spPr>
          <a:xfrm rot="0">
            <a:off x="9410700" y="8648700"/>
            <a:ext cx="3457575"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FORMAT</a:t>
            </a:r>
          </a:p>
        </p:txBody>
      </p:sp>
      <p:sp>
        <p:nvSpPr>
          <p:cNvPr name="TextBox 19" id="19"/>
          <p:cNvSpPr txBox="true"/>
          <p:nvPr/>
        </p:nvSpPr>
        <p:spPr>
          <a:xfrm rot="0">
            <a:off x="9410700" y="9020175"/>
            <a:ext cx="3457575" cy="428625"/>
          </a:xfrm>
          <a:prstGeom prst="rect">
            <a:avLst/>
          </a:prstGeom>
        </p:spPr>
        <p:txBody>
          <a:bodyPr anchor="t" rtlCol="false" tIns="0" lIns="0" bIns="0" rIns="0">
            <a:spAutoFit/>
          </a:bodyPr>
          <a:lstStyle/>
          <a:p>
            <a:pPr algn="l">
              <a:lnSpc>
                <a:spcPts val="3149"/>
              </a:lnSpc>
            </a:pPr>
            <a:r>
              <a:rPr lang="en-US" sz="2250" spc="-22">
                <a:solidFill>
                  <a:srgbClr val="0D0F26"/>
                </a:solidFill>
                <a:latin typeface="Arimo"/>
                <a:ea typeface="Arimo"/>
                <a:cs typeface="Arimo"/>
                <a:sym typeface="Arimo"/>
              </a:rPr>
              <a:t>Talk + exercises</a:t>
            </a:r>
          </a:p>
        </p:txBody>
      </p:sp>
      <p:sp>
        <p:nvSpPr>
          <p:cNvPr name="TextBox 20" id="20"/>
          <p:cNvSpPr txBox="true"/>
          <p:nvPr/>
        </p:nvSpPr>
        <p:spPr>
          <a:xfrm rot="0">
            <a:off x="13411200" y="8648700"/>
            <a:ext cx="34671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EDITION</a:t>
            </a:r>
          </a:p>
        </p:txBody>
      </p:sp>
      <p:sp>
        <p:nvSpPr>
          <p:cNvPr name="TextBox 21" id="21"/>
          <p:cNvSpPr txBox="true"/>
          <p:nvPr/>
        </p:nvSpPr>
        <p:spPr>
          <a:xfrm rot="0">
            <a:off x="13411200" y="9020175"/>
            <a:ext cx="3467100" cy="428625"/>
          </a:xfrm>
          <a:prstGeom prst="rect">
            <a:avLst/>
          </a:prstGeom>
        </p:spPr>
        <p:txBody>
          <a:bodyPr anchor="t" rtlCol="false" tIns="0" lIns="0" bIns="0" rIns="0">
            <a:spAutoFit/>
          </a:bodyPr>
          <a:lstStyle/>
          <a:p>
            <a:pPr algn="l">
              <a:lnSpc>
                <a:spcPts val="3149"/>
              </a:lnSpc>
            </a:pPr>
            <a:r>
              <a:rPr lang="en-US" sz="2250" spc="-22">
                <a:solidFill>
                  <a:srgbClr val="0D0F26"/>
                </a:solidFill>
                <a:latin typeface="Arimo"/>
                <a:ea typeface="Arimo"/>
                <a:cs typeface="Arimo"/>
                <a:sym typeface="Arimo"/>
              </a:rPr>
              <a:t>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FFF"/>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6301276" y="833438"/>
            <a:ext cx="84372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02 / 26</a:t>
            </a:r>
          </a:p>
        </p:txBody>
      </p:sp>
      <p:sp>
        <p:nvSpPr>
          <p:cNvPr name="TextBox 6" id="6"/>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THE PLAN</a:t>
            </a:r>
          </a:p>
        </p:txBody>
      </p:sp>
      <p:sp>
        <p:nvSpPr>
          <p:cNvPr name="TextBox 7" id="7"/>
          <p:cNvSpPr txBox="true"/>
          <p:nvPr/>
        </p:nvSpPr>
        <p:spPr>
          <a:xfrm rot="0">
            <a:off x="1143000" y="2628900"/>
            <a:ext cx="15718838" cy="2276475"/>
          </a:xfrm>
          <a:prstGeom prst="rect">
            <a:avLst/>
          </a:prstGeom>
        </p:spPr>
        <p:txBody>
          <a:bodyPr anchor="t" rtlCol="false" tIns="0" lIns="0" bIns="0" rIns="0">
            <a:spAutoFit/>
          </a:bodyPr>
          <a:lstStyle/>
          <a:p>
            <a:pPr algn="l">
              <a:lnSpc>
                <a:spcPts val="8550"/>
              </a:lnSpc>
            </a:pPr>
            <a:r>
              <a:rPr lang="en-US" sz="9000" spc="-179" b="true">
                <a:solidFill>
                  <a:srgbClr val="0D0F26"/>
                </a:solidFill>
                <a:latin typeface="Arimo Bold"/>
                <a:ea typeface="Arimo Bold"/>
                <a:cs typeface="Arimo Bold"/>
                <a:sym typeface="Arimo Bold"/>
              </a:rPr>
              <a:t>React performance workshop</a:t>
            </a:r>
          </a:p>
          <a:p>
            <a:pPr algn="l">
              <a:lnSpc>
                <a:spcPts val="8550"/>
              </a:lnSpc>
            </a:pPr>
          </a:p>
        </p:txBody>
      </p:sp>
      <p:sp>
        <p:nvSpPr>
          <p:cNvPr name="AutoShape 8" id="8"/>
          <p:cNvSpPr/>
          <p:nvPr/>
        </p:nvSpPr>
        <p:spPr>
          <a:xfrm rot="0">
            <a:off x="1143000" y="4295775"/>
            <a:ext cx="16002000" cy="9525"/>
          </a:xfrm>
          <a:prstGeom prst="rect">
            <a:avLst/>
          </a:prstGeom>
          <a:solidFill>
            <a:srgbClr val="0D0F26"/>
          </a:solidFill>
        </p:spPr>
      </p:sp>
      <p:sp>
        <p:nvSpPr>
          <p:cNvPr name="AutoShape 9" id="9"/>
          <p:cNvSpPr/>
          <p:nvPr/>
        </p:nvSpPr>
        <p:spPr>
          <a:xfrm rot="0">
            <a:off x="6467475" y="4305300"/>
            <a:ext cx="9525" cy="4539139"/>
          </a:xfrm>
          <a:prstGeom prst="rect">
            <a:avLst/>
          </a:prstGeom>
          <a:solidFill>
            <a:srgbClr val="0D0F26"/>
          </a:solidFill>
        </p:spPr>
      </p:sp>
      <p:sp>
        <p:nvSpPr>
          <p:cNvPr name="AutoShape 10" id="10"/>
          <p:cNvSpPr/>
          <p:nvPr/>
        </p:nvSpPr>
        <p:spPr>
          <a:xfrm rot="0">
            <a:off x="1143000" y="4838700"/>
            <a:ext cx="1216247" cy="822865"/>
          </a:xfrm>
          <a:prstGeom prst="rect">
            <a:avLst/>
          </a:prstGeom>
          <a:solidFill>
            <a:srgbClr val="C8CEF5"/>
          </a:solidFill>
        </p:spPr>
      </p:sp>
      <p:sp>
        <p:nvSpPr>
          <p:cNvPr name="TextBox 11" id="11"/>
          <p:cNvSpPr txBox="true"/>
          <p:nvPr/>
        </p:nvSpPr>
        <p:spPr>
          <a:xfrm rot="0">
            <a:off x="1143000" y="5019675"/>
            <a:ext cx="1216247" cy="641890"/>
          </a:xfrm>
          <a:prstGeom prst="rect">
            <a:avLst/>
          </a:prstGeom>
        </p:spPr>
        <p:txBody>
          <a:bodyPr anchor="t" rtlCol="false" tIns="0" lIns="0" bIns="0" rIns="0">
            <a:spAutoFit/>
          </a:bodyPr>
          <a:lstStyle/>
          <a:p>
            <a:pPr algn="l">
              <a:lnSpc>
                <a:spcPts val="6480"/>
              </a:lnSpc>
            </a:pPr>
            <a:r>
              <a:rPr lang="en-US" b="true" sz="7200" spc="-144">
                <a:solidFill>
                  <a:srgbClr val="0D0F26"/>
                </a:solidFill>
                <a:latin typeface="Arimo Bold"/>
                <a:ea typeface="Arimo Bold"/>
                <a:cs typeface="Arimo Bold"/>
                <a:sym typeface="Arimo Bold"/>
              </a:rPr>
              <a:t>01</a:t>
            </a:r>
          </a:p>
        </p:txBody>
      </p:sp>
      <p:sp>
        <p:nvSpPr>
          <p:cNvPr name="TextBox 12" id="12"/>
          <p:cNvSpPr txBox="true"/>
          <p:nvPr/>
        </p:nvSpPr>
        <p:spPr>
          <a:xfrm rot="0">
            <a:off x="1143000" y="6052090"/>
            <a:ext cx="5324475" cy="1666875"/>
          </a:xfrm>
          <a:prstGeom prst="rect">
            <a:avLst/>
          </a:prstGeom>
        </p:spPr>
        <p:txBody>
          <a:bodyPr anchor="t" rtlCol="false" tIns="0" lIns="0" bIns="0" rIns="0">
            <a:spAutoFit/>
          </a:bodyPr>
          <a:lstStyle/>
          <a:p>
            <a:pPr algn="l">
              <a:lnSpc>
                <a:spcPts val="6270"/>
              </a:lnSpc>
            </a:pPr>
            <a:r>
              <a:rPr lang="en-US" b="true" sz="6600" spc="-132">
                <a:solidFill>
                  <a:srgbClr val="0D0F26"/>
                </a:solidFill>
                <a:latin typeface="Arimo Bold"/>
                <a:ea typeface="Arimo Bold"/>
                <a:cs typeface="Arimo Bold"/>
                <a:sym typeface="Arimo Bold"/>
              </a:rPr>
              <a:t>Render and DevTools</a:t>
            </a:r>
          </a:p>
        </p:txBody>
      </p:sp>
      <p:sp>
        <p:nvSpPr>
          <p:cNvPr name="AutoShape 13" id="13"/>
          <p:cNvSpPr/>
          <p:nvPr/>
        </p:nvSpPr>
        <p:spPr>
          <a:xfrm rot="0">
            <a:off x="11801475" y="4305300"/>
            <a:ext cx="9525" cy="4539139"/>
          </a:xfrm>
          <a:prstGeom prst="rect">
            <a:avLst/>
          </a:prstGeom>
          <a:solidFill>
            <a:srgbClr val="0D0F26"/>
          </a:solidFill>
        </p:spPr>
      </p:sp>
      <p:sp>
        <p:nvSpPr>
          <p:cNvPr name="AutoShape 14" id="14"/>
          <p:cNvSpPr/>
          <p:nvPr/>
        </p:nvSpPr>
        <p:spPr>
          <a:xfrm rot="0">
            <a:off x="6934200" y="4838700"/>
            <a:ext cx="1355217" cy="822865"/>
          </a:xfrm>
          <a:prstGeom prst="rect">
            <a:avLst/>
          </a:prstGeom>
          <a:solidFill>
            <a:srgbClr val="C8CEF5"/>
          </a:solidFill>
        </p:spPr>
      </p:sp>
      <p:sp>
        <p:nvSpPr>
          <p:cNvPr name="TextBox 15" id="15"/>
          <p:cNvSpPr txBox="true"/>
          <p:nvPr/>
        </p:nvSpPr>
        <p:spPr>
          <a:xfrm rot="0">
            <a:off x="6934200" y="5019675"/>
            <a:ext cx="1355217" cy="641890"/>
          </a:xfrm>
          <a:prstGeom prst="rect">
            <a:avLst/>
          </a:prstGeom>
        </p:spPr>
        <p:txBody>
          <a:bodyPr anchor="t" rtlCol="false" tIns="0" lIns="0" bIns="0" rIns="0">
            <a:spAutoFit/>
          </a:bodyPr>
          <a:lstStyle/>
          <a:p>
            <a:pPr algn="l">
              <a:lnSpc>
                <a:spcPts val="6480"/>
              </a:lnSpc>
            </a:pPr>
            <a:r>
              <a:rPr lang="en-US" b="true" sz="7200" spc="-144">
                <a:solidFill>
                  <a:srgbClr val="0D0F26"/>
                </a:solidFill>
                <a:latin typeface="Arimo Bold"/>
                <a:ea typeface="Arimo Bold"/>
                <a:cs typeface="Arimo Bold"/>
                <a:sym typeface="Arimo Bold"/>
              </a:rPr>
              <a:t>02</a:t>
            </a:r>
          </a:p>
        </p:txBody>
      </p:sp>
      <p:sp>
        <p:nvSpPr>
          <p:cNvPr name="TextBox 16" id="16"/>
          <p:cNvSpPr txBox="true"/>
          <p:nvPr/>
        </p:nvSpPr>
        <p:spPr>
          <a:xfrm rot="0">
            <a:off x="6934200" y="6052090"/>
            <a:ext cx="4867275" cy="1666875"/>
          </a:xfrm>
          <a:prstGeom prst="rect">
            <a:avLst/>
          </a:prstGeom>
        </p:spPr>
        <p:txBody>
          <a:bodyPr anchor="t" rtlCol="false" tIns="0" lIns="0" bIns="0" rIns="0">
            <a:spAutoFit/>
          </a:bodyPr>
          <a:lstStyle/>
          <a:p>
            <a:pPr algn="l">
              <a:lnSpc>
                <a:spcPts val="6270"/>
              </a:lnSpc>
            </a:pPr>
            <a:r>
              <a:rPr lang="en-US" b="true" sz="6600" spc="-132">
                <a:solidFill>
                  <a:srgbClr val="0D0F26"/>
                </a:solidFill>
                <a:latin typeface="Arimo Bold"/>
                <a:ea typeface="Arimo Bold"/>
                <a:cs typeface="Arimo Bold"/>
                <a:sym typeface="Arimo Bold"/>
              </a:rPr>
              <a:t>List optimization</a:t>
            </a:r>
          </a:p>
        </p:txBody>
      </p:sp>
      <p:sp>
        <p:nvSpPr>
          <p:cNvPr name="AutoShape 17" id="17"/>
          <p:cNvSpPr/>
          <p:nvPr/>
        </p:nvSpPr>
        <p:spPr>
          <a:xfrm rot="0">
            <a:off x="12268200" y="4838700"/>
            <a:ext cx="1365218" cy="822865"/>
          </a:xfrm>
          <a:prstGeom prst="rect">
            <a:avLst/>
          </a:prstGeom>
          <a:solidFill>
            <a:srgbClr val="C8CEF5"/>
          </a:solidFill>
        </p:spPr>
      </p:sp>
      <p:sp>
        <p:nvSpPr>
          <p:cNvPr name="TextBox 18" id="18"/>
          <p:cNvSpPr txBox="true"/>
          <p:nvPr/>
        </p:nvSpPr>
        <p:spPr>
          <a:xfrm rot="0">
            <a:off x="12268200" y="5019675"/>
            <a:ext cx="1365218" cy="641890"/>
          </a:xfrm>
          <a:prstGeom prst="rect">
            <a:avLst/>
          </a:prstGeom>
        </p:spPr>
        <p:txBody>
          <a:bodyPr anchor="t" rtlCol="false" tIns="0" lIns="0" bIns="0" rIns="0">
            <a:spAutoFit/>
          </a:bodyPr>
          <a:lstStyle/>
          <a:p>
            <a:pPr algn="l">
              <a:lnSpc>
                <a:spcPts val="6480"/>
              </a:lnSpc>
            </a:pPr>
            <a:r>
              <a:rPr lang="en-US" b="true" sz="7200" spc="-144">
                <a:solidFill>
                  <a:srgbClr val="0D0F26"/>
                </a:solidFill>
                <a:latin typeface="Arimo Bold"/>
                <a:ea typeface="Arimo Bold"/>
                <a:cs typeface="Arimo Bold"/>
                <a:sym typeface="Arimo Bold"/>
              </a:rPr>
              <a:t>03</a:t>
            </a:r>
          </a:p>
        </p:txBody>
      </p:sp>
      <p:sp>
        <p:nvSpPr>
          <p:cNvPr name="TextBox 19" id="19"/>
          <p:cNvSpPr txBox="true"/>
          <p:nvPr/>
        </p:nvSpPr>
        <p:spPr>
          <a:xfrm rot="0">
            <a:off x="12268200" y="6052090"/>
            <a:ext cx="6019800" cy="1666875"/>
          </a:xfrm>
          <a:prstGeom prst="rect">
            <a:avLst/>
          </a:prstGeom>
        </p:spPr>
        <p:txBody>
          <a:bodyPr anchor="t" rtlCol="false" tIns="0" lIns="0" bIns="0" rIns="0">
            <a:spAutoFit/>
          </a:bodyPr>
          <a:lstStyle/>
          <a:p>
            <a:pPr algn="l">
              <a:lnSpc>
                <a:spcPts val="6270"/>
              </a:lnSpc>
            </a:pPr>
            <a:r>
              <a:rPr lang="en-US" b="true" sz="6600" spc="-132">
                <a:solidFill>
                  <a:srgbClr val="0D0F26"/>
                </a:solidFill>
                <a:latin typeface="Arimo Bold"/>
                <a:ea typeface="Arimo Bold"/>
                <a:cs typeface="Arimo Bold"/>
                <a:sym typeface="Arimo Bold"/>
              </a:rPr>
              <a:t>Native debugging</a:t>
            </a:r>
          </a:p>
        </p:txBody>
      </p:sp>
      <p:sp>
        <p:nvSpPr>
          <p:cNvPr name="AutoShape 20" id="20"/>
          <p:cNvSpPr/>
          <p:nvPr/>
        </p:nvSpPr>
        <p:spPr>
          <a:xfrm rot="0">
            <a:off x="1143000" y="8896350"/>
            <a:ext cx="16002000" cy="9525"/>
          </a:xfrm>
          <a:prstGeom prst="rect">
            <a:avLst/>
          </a:prstGeom>
          <a:solidFill>
            <a:srgbClr val="0D0F26"/>
          </a:solidFill>
        </p:spPr>
      </p:sp>
      <p:sp>
        <p:nvSpPr>
          <p:cNvPr name="TextBox 21" id="21"/>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SOFTWARE MANSION · REACT PERFORMANCE</a:t>
            </a:r>
          </a:p>
        </p:txBody>
      </p:sp>
      <p:sp>
        <p:nvSpPr>
          <p:cNvPr name="TextBox 22" id="22"/>
          <p:cNvSpPr txBox="true"/>
          <p:nvPr/>
        </p:nvSpPr>
        <p:spPr>
          <a:xfrm rot="0">
            <a:off x="14987111" y="9134475"/>
            <a:ext cx="2167830" cy="30670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 2 HOURS TOTAL</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0D0F26"/>
          </a:solidFill>
        </p:spPr>
      </p:sp>
      <p:sp>
        <p:nvSpPr>
          <p:cNvPr name="AutoShape 3" id="3"/>
          <p:cNvSpPr/>
          <p:nvPr/>
        </p:nvSpPr>
        <p:spPr>
          <a:xfrm rot="0">
            <a:off x="1143000" y="1447800"/>
            <a:ext cx="16002000" cy="9525"/>
          </a:xfrm>
          <a:prstGeom prst="rect">
            <a:avLst/>
          </a:prstGeom>
          <a:solidFill>
            <a:srgbClr val="FFFFFF">
              <a:alpha val="24706"/>
            </a:srgbClr>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FFFFFF"/>
                </a:solidFill>
                <a:latin typeface="Arimo Bold"/>
                <a:ea typeface="Arimo Bold"/>
                <a:cs typeface="Arimo Bold"/>
                <a:sym typeface="Arimo Bold"/>
              </a:rPr>
              <a:t>Software Mansion</a:t>
            </a:r>
          </a:p>
        </p:txBody>
      </p:sp>
      <p:sp>
        <p:nvSpPr>
          <p:cNvPr name="TextBox 5" id="5"/>
          <p:cNvSpPr txBox="true"/>
          <p:nvPr/>
        </p:nvSpPr>
        <p:spPr>
          <a:xfrm rot="0">
            <a:off x="15959423" y="833438"/>
            <a:ext cx="1185577"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PART 1 / 3</a:t>
            </a:r>
          </a:p>
        </p:txBody>
      </p:sp>
      <p:sp>
        <p:nvSpPr>
          <p:cNvPr name="TextBox 6" id="6"/>
          <p:cNvSpPr txBox="true"/>
          <p:nvPr/>
        </p:nvSpPr>
        <p:spPr>
          <a:xfrm rot="0">
            <a:off x="1028700" y="4554791"/>
            <a:ext cx="17259300" cy="3034793"/>
          </a:xfrm>
          <a:prstGeom prst="rect">
            <a:avLst/>
          </a:prstGeom>
        </p:spPr>
        <p:txBody>
          <a:bodyPr anchor="t" rtlCol="false" tIns="0" lIns="0" bIns="0" rIns="0">
            <a:spAutoFit/>
          </a:bodyPr>
          <a:lstStyle/>
          <a:p>
            <a:pPr algn="l">
              <a:lnSpc>
                <a:spcPts val="11264"/>
              </a:lnSpc>
            </a:pPr>
            <a:r>
              <a:rPr lang="en-US" b="true" sz="12800" spc="-512">
                <a:solidFill>
                  <a:srgbClr val="FFFFFF"/>
                </a:solidFill>
                <a:latin typeface="Arimo Bold"/>
                <a:ea typeface="Arimo Bold"/>
                <a:cs typeface="Arimo Bold"/>
                <a:sym typeface="Arimo Bold"/>
              </a:rPr>
              <a:t>Part I - </a:t>
            </a:r>
            <a:r>
              <a:rPr lang="en-US" b="true" sz="12800" spc="-512">
                <a:solidFill>
                  <a:srgbClr val="C8CEF5"/>
                </a:solidFill>
                <a:latin typeface="Arimo Bold"/>
                <a:ea typeface="Arimo Bold"/>
                <a:cs typeface="Arimo Bold"/>
                <a:sym typeface="Arimo Bold"/>
              </a:rPr>
              <a:t>R</a:t>
            </a:r>
            <a:r>
              <a:rPr lang="en-US" b="true" sz="12800" spc="-512">
                <a:solidFill>
                  <a:srgbClr val="C8CEF5"/>
                </a:solidFill>
                <a:latin typeface="Arimo Bold"/>
                <a:ea typeface="Arimo Bold"/>
                <a:cs typeface="Arimo Bold"/>
                <a:sym typeface="Arimo Bold"/>
              </a:rPr>
              <a:t>ender and DevTools</a:t>
            </a:r>
          </a:p>
        </p:txBody>
      </p:sp>
      <p:sp>
        <p:nvSpPr>
          <p:cNvPr name="TextBox 7" id="7"/>
          <p:cNvSpPr txBox="true"/>
          <p:nvPr/>
        </p:nvSpPr>
        <p:spPr>
          <a:xfrm rot="0">
            <a:off x="1143000" y="8020050"/>
            <a:ext cx="2523554"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REACT NATIVE 0.83</a:t>
            </a:r>
          </a:p>
        </p:txBody>
      </p:sp>
      <p:sp>
        <p:nvSpPr>
          <p:cNvPr name="TextBox 8" id="8"/>
          <p:cNvSpPr txBox="true"/>
          <p:nvPr/>
        </p:nvSpPr>
        <p:spPr>
          <a:xfrm rot="0">
            <a:off x="4238054" y="8020050"/>
            <a:ext cx="2896648"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PERFORMANCE PANEL</a:t>
            </a:r>
          </a:p>
        </p:txBody>
      </p:sp>
      <p:sp>
        <p:nvSpPr>
          <p:cNvPr name="TextBox 9" id="9"/>
          <p:cNvSpPr txBox="true"/>
          <p:nvPr/>
        </p:nvSpPr>
        <p:spPr>
          <a:xfrm rot="0">
            <a:off x="7706201" y="8020050"/>
            <a:ext cx="2292858"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THE FIVE PHASES</a:t>
            </a:r>
          </a:p>
        </p:txBody>
      </p:sp>
      <p:sp>
        <p:nvSpPr>
          <p:cNvPr name="AutoShape 10" id="10"/>
          <p:cNvSpPr/>
          <p:nvPr/>
        </p:nvSpPr>
        <p:spPr>
          <a:xfrm rot="0">
            <a:off x="1143000" y="8896350"/>
            <a:ext cx="16002000" cy="9525"/>
          </a:xfrm>
          <a:prstGeom prst="rect">
            <a:avLst/>
          </a:prstGeom>
          <a:solidFill>
            <a:srgbClr val="FFFFFF">
              <a:alpha val="24706"/>
            </a:srgbClr>
          </a:solidFill>
        </p:spPr>
      </p:sp>
      <p:sp>
        <p:nvSpPr>
          <p:cNvPr name="TextBox 11" id="11"/>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SOFTWARE MANSION · REACT PERFORMANCE</a:t>
            </a:r>
          </a:p>
        </p:txBody>
      </p:sp>
      <p:sp>
        <p:nvSpPr>
          <p:cNvPr name="TextBox 12" id="12"/>
          <p:cNvSpPr txBox="true"/>
          <p:nvPr/>
        </p:nvSpPr>
        <p:spPr>
          <a:xfrm rot="0">
            <a:off x="16298799" y="9134475"/>
            <a:ext cx="846201"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03 / 26</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0D0F26"/>
          </a:solidFill>
        </p:spPr>
      </p:sp>
      <p:sp>
        <p:nvSpPr>
          <p:cNvPr name="AutoShape 3" id="3"/>
          <p:cNvSpPr/>
          <p:nvPr/>
        </p:nvSpPr>
        <p:spPr>
          <a:xfrm rot="0">
            <a:off x="1143000" y="1447800"/>
            <a:ext cx="16002000" cy="9525"/>
          </a:xfrm>
          <a:prstGeom prst="rect">
            <a:avLst/>
          </a:prstGeom>
          <a:solidFill>
            <a:srgbClr val="FFFFFF">
              <a:alpha val="24706"/>
            </a:srgbClr>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FFFFFF"/>
                </a:solidFill>
                <a:latin typeface="Arimo Bold"/>
                <a:ea typeface="Arimo Bold"/>
                <a:cs typeface="Arimo Bold"/>
                <a:sym typeface="Arimo Bold"/>
              </a:rPr>
              <a:t>Software Mansion</a:t>
            </a:r>
          </a:p>
        </p:txBody>
      </p:sp>
      <p:sp>
        <p:nvSpPr>
          <p:cNvPr name="TextBox 5" id="5"/>
          <p:cNvSpPr txBox="true"/>
          <p:nvPr/>
        </p:nvSpPr>
        <p:spPr>
          <a:xfrm rot="0">
            <a:off x="15959423" y="833438"/>
            <a:ext cx="1185577"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PART 1 / 3</a:t>
            </a:r>
          </a:p>
        </p:txBody>
      </p:sp>
      <p:sp>
        <p:nvSpPr>
          <p:cNvPr name="TextBox 6" id="6"/>
          <p:cNvSpPr txBox="true"/>
          <p:nvPr/>
        </p:nvSpPr>
        <p:spPr>
          <a:xfrm rot="0">
            <a:off x="1143000" y="2095500"/>
            <a:ext cx="16002000" cy="809625"/>
          </a:xfrm>
          <a:prstGeom prst="rect">
            <a:avLst/>
          </a:prstGeom>
        </p:spPr>
        <p:txBody>
          <a:bodyPr anchor="t" rtlCol="false" tIns="0" lIns="0" bIns="0" rIns="0">
            <a:spAutoFit/>
          </a:bodyPr>
          <a:lstStyle/>
          <a:p>
            <a:pPr algn="l">
              <a:lnSpc>
                <a:spcPts val="7200"/>
              </a:lnSpc>
            </a:pPr>
            <a:r>
              <a:rPr lang="en-US" b="true" sz="7200" spc="-144">
                <a:solidFill>
                  <a:srgbClr val="C8CEF5"/>
                </a:solidFill>
                <a:latin typeface="Arimo Bold"/>
                <a:ea typeface="Arimo Bold"/>
                <a:cs typeface="Arimo Bold"/>
                <a:sym typeface="Arimo Bold"/>
              </a:rPr>
              <a:t>01.</a:t>
            </a:r>
          </a:p>
        </p:txBody>
      </p:sp>
      <p:sp>
        <p:nvSpPr>
          <p:cNvPr name="TextBox 7" id="7"/>
          <p:cNvSpPr txBox="true"/>
          <p:nvPr/>
        </p:nvSpPr>
        <p:spPr>
          <a:xfrm rot="0">
            <a:off x="1143000" y="4942713"/>
            <a:ext cx="15782330" cy="2002804"/>
          </a:xfrm>
          <a:prstGeom prst="rect">
            <a:avLst/>
          </a:prstGeom>
        </p:spPr>
        <p:txBody>
          <a:bodyPr anchor="t" rtlCol="false" tIns="0" lIns="0" bIns="0" rIns="0">
            <a:spAutoFit/>
          </a:bodyPr>
          <a:lstStyle/>
          <a:p>
            <a:pPr algn="l">
              <a:lnSpc>
                <a:spcPts val="14080"/>
              </a:lnSpc>
            </a:pPr>
            <a:r>
              <a:rPr lang="en-US" b="true" sz="16000" spc="-640">
                <a:solidFill>
                  <a:srgbClr val="FFFFFF"/>
                </a:solidFill>
                <a:latin typeface="Arimo Bold"/>
                <a:ea typeface="Arimo Bold"/>
                <a:cs typeface="Arimo Bold"/>
                <a:sym typeface="Arimo Bold"/>
              </a:rPr>
              <a:t>The state </a:t>
            </a:r>
            <a:r>
              <a:rPr lang="en-US" b="true" sz="16000" spc="-640">
                <a:solidFill>
                  <a:srgbClr val="C8CEF5"/>
                </a:solidFill>
                <a:latin typeface="Arimo Bold"/>
                <a:ea typeface="Arimo Bold"/>
                <a:cs typeface="Arimo Bold"/>
                <a:sym typeface="Arimo Bold"/>
              </a:rPr>
              <a:t>change</a:t>
            </a:r>
            <a:r>
              <a:rPr lang="en-US" b="true" sz="16000" spc="-640">
                <a:solidFill>
                  <a:srgbClr val="C8CEF5"/>
                </a:solidFill>
                <a:latin typeface="Arimo Bold"/>
                <a:ea typeface="Arimo Bold"/>
                <a:cs typeface="Arimo Bold"/>
                <a:sym typeface="Arimo Bold"/>
              </a:rPr>
              <a:t>.</a:t>
            </a:r>
          </a:p>
        </p:txBody>
      </p:sp>
      <p:sp>
        <p:nvSpPr>
          <p:cNvPr name="TextBox 8" id="8"/>
          <p:cNvSpPr txBox="true"/>
          <p:nvPr/>
        </p:nvSpPr>
        <p:spPr>
          <a:xfrm rot="0">
            <a:off x="1143000" y="8020050"/>
            <a:ext cx="2523554"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REACT NATIVE 0.83</a:t>
            </a:r>
          </a:p>
        </p:txBody>
      </p:sp>
      <p:sp>
        <p:nvSpPr>
          <p:cNvPr name="TextBox 9" id="9"/>
          <p:cNvSpPr txBox="true"/>
          <p:nvPr/>
        </p:nvSpPr>
        <p:spPr>
          <a:xfrm rot="0">
            <a:off x="4238054" y="8020050"/>
            <a:ext cx="2896648"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PERFORMANCE PANEL</a:t>
            </a:r>
          </a:p>
        </p:txBody>
      </p:sp>
      <p:sp>
        <p:nvSpPr>
          <p:cNvPr name="TextBox 10" id="10"/>
          <p:cNvSpPr txBox="true"/>
          <p:nvPr/>
        </p:nvSpPr>
        <p:spPr>
          <a:xfrm rot="0">
            <a:off x="7706201" y="8020050"/>
            <a:ext cx="2292858"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THE FIVE PHASES</a:t>
            </a:r>
          </a:p>
        </p:txBody>
      </p:sp>
      <p:sp>
        <p:nvSpPr>
          <p:cNvPr name="AutoShape 11" id="11"/>
          <p:cNvSpPr/>
          <p:nvPr/>
        </p:nvSpPr>
        <p:spPr>
          <a:xfrm rot="0">
            <a:off x="1143000" y="8896350"/>
            <a:ext cx="16002000" cy="9525"/>
          </a:xfrm>
          <a:prstGeom prst="rect">
            <a:avLst/>
          </a:prstGeom>
          <a:solidFill>
            <a:srgbClr val="FFFFFF">
              <a:alpha val="24706"/>
            </a:srgbClr>
          </a:solidFill>
        </p:spPr>
      </p:sp>
      <p:sp>
        <p:nvSpPr>
          <p:cNvPr name="TextBox 12" id="12"/>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SOFTWARE MANSION · REACT PERFORMANCE</a:t>
            </a:r>
          </a:p>
        </p:txBody>
      </p:sp>
      <p:sp>
        <p:nvSpPr>
          <p:cNvPr name="TextBox 13" id="13"/>
          <p:cNvSpPr txBox="true"/>
          <p:nvPr/>
        </p:nvSpPr>
        <p:spPr>
          <a:xfrm rot="0">
            <a:off x="16298799" y="9134475"/>
            <a:ext cx="846201"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03 / 26</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C8CEF5"/>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143000" y="1943100"/>
            <a:ext cx="16002000" cy="342900"/>
          </a:xfrm>
          <a:prstGeom prst="rect">
            <a:avLst/>
          </a:prstGeom>
        </p:spPr>
        <p:txBody>
          <a:bodyPr anchor="t" rtlCol="false" tIns="0" lIns="0" bIns="0" rIns="0">
            <a:spAutoFit/>
          </a:bodyPr>
          <a:lstStyle/>
          <a:p>
            <a:pPr algn="l">
              <a:lnSpc>
                <a:spcPts val="2729"/>
              </a:lnSpc>
            </a:pPr>
            <a:r>
              <a:rPr lang="en-US" b="true" sz="1950" spc="234">
                <a:gradFill>
                  <a:gsLst>
                    <a:gs pos="0">
                      <a:srgbClr val="0D0F26">
                        <a:alpha val="55000"/>
                      </a:srgbClr>
                    </a:gs>
                    <a:gs pos="100000">
                      <a:srgbClr val="0D0F26">
                        <a:alpha val="55000"/>
                      </a:srgbClr>
                    </a:gs>
                  </a:gsLst>
                  <a:lin ang="16200000"/>
                </a:gradFill>
                <a:latin typeface="Inter Semi-Bold"/>
                <a:ea typeface="Inter Semi-Bold"/>
                <a:cs typeface="Inter Semi-Bold"/>
                <a:sym typeface="Inter Semi-Bold"/>
              </a:rPr>
              <a:t>EXERCISE 01 · PART 01</a:t>
            </a:r>
          </a:p>
        </p:txBody>
      </p:sp>
      <p:sp>
        <p:nvSpPr>
          <p:cNvPr name="TextBox 6" id="6"/>
          <p:cNvSpPr txBox="true"/>
          <p:nvPr/>
        </p:nvSpPr>
        <p:spPr>
          <a:xfrm rot="0">
            <a:off x="1143000" y="3375088"/>
            <a:ext cx="16002000" cy="1546765"/>
          </a:xfrm>
          <a:prstGeom prst="rect">
            <a:avLst/>
          </a:prstGeom>
        </p:spPr>
        <p:txBody>
          <a:bodyPr anchor="t" rtlCol="false" tIns="0" lIns="0" bIns="0" rIns="0">
            <a:spAutoFit/>
          </a:bodyPr>
          <a:lstStyle/>
          <a:p>
            <a:pPr algn="l">
              <a:lnSpc>
                <a:spcPts val="15180"/>
              </a:lnSpc>
            </a:pPr>
            <a:r>
              <a:rPr lang="en-US" b="true" sz="16500" spc="-495">
                <a:solidFill>
                  <a:srgbClr val="0D0F26"/>
                </a:solidFill>
                <a:latin typeface="Arimo Bold"/>
                <a:ea typeface="Arimo Bold"/>
                <a:cs typeface="Arimo Bold"/>
                <a:sym typeface="Arimo Bold"/>
              </a:rPr>
              <a:t>Profile it.</a:t>
            </a:r>
          </a:p>
        </p:txBody>
      </p:sp>
      <p:sp>
        <p:nvSpPr>
          <p:cNvPr name="TextBox 7" id="7"/>
          <p:cNvSpPr txBox="true"/>
          <p:nvPr/>
        </p:nvSpPr>
        <p:spPr>
          <a:xfrm rot="0">
            <a:off x="1143000" y="5610796"/>
            <a:ext cx="15629477" cy="1371600"/>
          </a:xfrm>
          <a:prstGeom prst="rect">
            <a:avLst/>
          </a:prstGeom>
        </p:spPr>
        <p:txBody>
          <a:bodyPr anchor="t" rtlCol="false" tIns="0" lIns="0" bIns="0" rIns="0">
            <a:spAutoFit/>
          </a:bodyPr>
          <a:lstStyle/>
          <a:p>
            <a:pPr algn="l">
              <a:lnSpc>
                <a:spcPts val="5399"/>
              </a:lnSpc>
            </a:pPr>
            <a:r>
              <a:rPr lang="en-US" sz="4499" spc="-44">
                <a:solidFill>
                  <a:srgbClr val="0D0F26"/>
                </a:solidFill>
                <a:latin typeface="Arimo"/>
                <a:ea typeface="Arimo"/>
                <a:cs typeface="Arimo"/>
                <a:sym typeface="Arimo"/>
              </a:rPr>
              <a:t>Extract the </a:t>
            </a:r>
            <a:r>
              <a:rPr lang="en-US" b="true" sz="4499" spc="-44">
                <a:solidFill>
                  <a:srgbClr val="0D0F26"/>
                </a:solidFill>
                <a:latin typeface="Arimo Bold"/>
                <a:ea typeface="Arimo Bold"/>
                <a:cs typeface="Arimo Bold"/>
                <a:sym typeface="Arimo Bold"/>
              </a:rPr>
              <a:t>PostDetailHeader</a:t>
            </a:r>
            <a:r>
              <a:rPr lang="en-US" sz="4499" spc="-44">
                <a:solidFill>
                  <a:srgbClr val="0D0F26"/>
                </a:solidFill>
                <a:latin typeface="Arimo"/>
                <a:ea typeface="Arimo"/>
                <a:cs typeface="Arimo"/>
                <a:sym typeface="Arimo"/>
              </a:rPr>
              <a:t> component to avoid re-rendering of the whole page</a:t>
            </a:r>
          </a:p>
        </p:txBody>
      </p:sp>
      <p:sp>
        <p:nvSpPr>
          <p:cNvPr name="AutoShape 8" id="8"/>
          <p:cNvSpPr/>
          <p:nvPr/>
        </p:nvSpPr>
        <p:spPr>
          <a:xfrm rot="0">
            <a:off x="1143000" y="8896350"/>
            <a:ext cx="16002000" cy="9525"/>
          </a:xfrm>
          <a:prstGeom prst="rect">
            <a:avLst/>
          </a:prstGeom>
          <a:solidFill>
            <a:srgbClr val="0D0F26"/>
          </a:solidFill>
        </p:spPr>
      </p:sp>
      <p:sp>
        <p:nvSpPr>
          <p:cNvPr name="TextBox 9" id="9"/>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SOFTWARE MANSION · REACT PERFORMANCE</a:t>
            </a:r>
          </a:p>
        </p:txBody>
      </p:sp>
      <p:sp>
        <p:nvSpPr>
          <p:cNvPr name="TextBox 10" id="10"/>
          <p:cNvSpPr txBox="true"/>
          <p:nvPr/>
        </p:nvSpPr>
        <p:spPr>
          <a:xfrm rot="0">
            <a:off x="16399954" y="9134475"/>
            <a:ext cx="745046"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11 / 26</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C8CEF5"/>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143000" y="1943100"/>
            <a:ext cx="3376092" cy="340995"/>
          </a:xfrm>
          <a:prstGeom prst="rect">
            <a:avLst/>
          </a:prstGeom>
        </p:spPr>
        <p:txBody>
          <a:bodyPr anchor="t" rtlCol="false" tIns="0" lIns="0" bIns="0" rIns="0">
            <a:spAutoFit/>
          </a:bodyPr>
          <a:lstStyle/>
          <a:p>
            <a:pPr algn="l">
              <a:lnSpc>
                <a:spcPts val="2729"/>
              </a:lnSpc>
            </a:pPr>
            <a:r>
              <a:rPr lang="en-US" b="true" sz="1950" spc="234">
                <a:gradFill>
                  <a:gsLst>
                    <a:gs pos="0">
                      <a:srgbClr val="0D0F26">
                        <a:alpha val="55000"/>
                      </a:srgbClr>
                    </a:gs>
                    <a:gs pos="100000">
                      <a:srgbClr val="0D0F26">
                        <a:alpha val="55000"/>
                      </a:srgbClr>
                    </a:gs>
                  </a:gsLst>
                  <a:lin ang="16200000"/>
                </a:gradFill>
                <a:latin typeface="Inter Semi-Bold"/>
                <a:ea typeface="Inter Semi-Bold"/>
                <a:cs typeface="Inter Semi-Bold"/>
                <a:sym typeface="Inter Semi-Bold"/>
              </a:rPr>
              <a:t>EXERCISE 01 · PART 02</a:t>
            </a:r>
          </a:p>
        </p:txBody>
      </p:sp>
      <p:sp>
        <p:nvSpPr>
          <p:cNvPr name="TextBox 6" id="6"/>
          <p:cNvSpPr txBox="true"/>
          <p:nvPr/>
        </p:nvSpPr>
        <p:spPr>
          <a:xfrm rot="0">
            <a:off x="1143000" y="3375088"/>
            <a:ext cx="16002000" cy="1546765"/>
          </a:xfrm>
          <a:prstGeom prst="rect">
            <a:avLst/>
          </a:prstGeom>
        </p:spPr>
        <p:txBody>
          <a:bodyPr anchor="t" rtlCol="false" tIns="0" lIns="0" bIns="0" rIns="0">
            <a:spAutoFit/>
          </a:bodyPr>
          <a:lstStyle/>
          <a:p>
            <a:pPr algn="l">
              <a:lnSpc>
                <a:spcPts val="15180"/>
              </a:lnSpc>
            </a:pPr>
            <a:r>
              <a:rPr lang="en-US" b="true" sz="16500" spc="-495">
                <a:solidFill>
                  <a:srgbClr val="0D0F26"/>
                </a:solidFill>
                <a:latin typeface="Arimo Bold"/>
                <a:ea typeface="Arimo Bold"/>
                <a:cs typeface="Arimo Bold"/>
                <a:sym typeface="Arimo Bold"/>
              </a:rPr>
              <a:t>Profile it.</a:t>
            </a:r>
          </a:p>
        </p:txBody>
      </p:sp>
      <p:sp>
        <p:nvSpPr>
          <p:cNvPr name="AutoShape 7" id="7"/>
          <p:cNvSpPr/>
          <p:nvPr/>
        </p:nvSpPr>
        <p:spPr>
          <a:xfrm rot="0">
            <a:off x="1143000" y="8896350"/>
            <a:ext cx="16002000" cy="9525"/>
          </a:xfrm>
          <a:prstGeom prst="rect">
            <a:avLst/>
          </a:prstGeom>
          <a:solidFill>
            <a:srgbClr val="0D0F26"/>
          </a:solidFill>
        </p:spPr>
      </p:sp>
      <p:sp>
        <p:nvSpPr>
          <p:cNvPr name="TextBox 8" id="8"/>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SOFTWARE MANSION · REACT PERFORMANCE</a:t>
            </a:r>
          </a:p>
        </p:txBody>
      </p:sp>
      <p:sp>
        <p:nvSpPr>
          <p:cNvPr name="TextBox 9" id="9"/>
          <p:cNvSpPr txBox="true"/>
          <p:nvPr/>
        </p:nvSpPr>
        <p:spPr>
          <a:xfrm rot="0">
            <a:off x="16399954" y="9134475"/>
            <a:ext cx="745046"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11 / 26</a:t>
            </a:r>
          </a:p>
        </p:txBody>
      </p:sp>
      <p:sp>
        <p:nvSpPr>
          <p:cNvPr name="TextBox 10" id="10"/>
          <p:cNvSpPr txBox="true"/>
          <p:nvPr/>
        </p:nvSpPr>
        <p:spPr>
          <a:xfrm rot="0">
            <a:off x="1143000" y="5610796"/>
            <a:ext cx="15629477" cy="695325"/>
          </a:xfrm>
          <a:prstGeom prst="rect">
            <a:avLst/>
          </a:prstGeom>
        </p:spPr>
        <p:txBody>
          <a:bodyPr anchor="t" rtlCol="false" tIns="0" lIns="0" bIns="0" rIns="0">
            <a:spAutoFit/>
          </a:bodyPr>
          <a:lstStyle/>
          <a:p>
            <a:pPr algn="l">
              <a:lnSpc>
                <a:spcPts val="5399"/>
              </a:lnSpc>
            </a:pPr>
            <a:r>
              <a:rPr lang="en-US" sz="4499" spc="-44">
                <a:solidFill>
                  <a:srgbClr val="0D0F26"/>
                </a:solidFill>
                <a:latin typeface="Arimo"/>
                <a:ea typeface="Arimo"/>
                <a:cs typeface="Arimo"/>
                <a:sym typeface="Arimo"/>
              </a:rPr>
              <a:t>Extract the </a:t>
            </a:r>
            <a:r>
              <a:rPr lang="en-US" b="true" sz="4499" spc="-44">
                <a:solidFill>
                  <a:srgbClr val="0D0F26"/>
                </a:solidFill>
                <a:latin typeface="Arimo Bold"/>
                <a:ea typeface="Arimo Bold"/>
                <a:cs typeface="Arimo Bold"/>
                <a:sym typeface="Arimo Bold"/>
              </a:rPr>
              <a:t>PostActionsBar </a:t>
            </a:r>
            <a:r>
              <a:rPr lang="en-US" sz="4499" spc="-44">
                <a:solidFill>
                  <a:srgbClr val="0D0F26"/>
                </a:solidFill>
                <a:latin typeface="Arimo"/>
                <a:ea typeface="Arimo"/>
                <a:cs typeface="Arimo"/>
                <a:sym typeface="Arimo"/>
              </a:rPr>
              <a:t>and move action buttons there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0D0F26"/>
          </a:solidFill>
        </p:spPr>
      </p:sp>
      <p:sp>
        <p:nvSpPr>
          <p:cNvPr name="AutoShape 3" id="3"/>
          <p:cNvSpPr/>
          <p:nvPr/>
        </p:nvSpPr>
        <p:spPr>
          <a:xfrm rot="0">
            <a:off x="1143000" y="1447800"/>
            <a:ext cx="16002000" cy="9525"/>
          </a:xfrm>
          <a:prstGeom prst="rect">
            <a:avLst/>
          </a:prstGeom>
          <a:solidFill>
            <a:srgbClr val="FFFFFF">
              <a:alpha val="24706"/>
            </a:srgbClr>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FFFFFF"/>
                </a:solidFill>
                <a:latin typeface="Arimo Bold"/>
                <a:ea typeface="Arimo Bold"/>
                <a:cs typeface="Arimo Bold"/>
                <a:sym typeface="Arimo Bold"/>
              </a:rPr>
              <a:t>Software Mansion</a:t>
            </a:r>
          </a:p>
        </p:txBody>
      </p:sp>
      <p:sp>
        <p:nvSpPr>
          <p:cNvPr name="TextBox 5" id="5"/>
          <p:cNvSpPr txBox="true"/>
          <p:nvPr/>
        </p:nvSpPr>
        <p:spPr>
          <a:xfrm rot="0">
            <a:off x="15913418" y="833438"/>
            <a:ext cx="1231582"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PART 2 / 3</a:t>
            </a:r>
          </a:p>
        </p:txBody>
      </p:sp>
      <p:sp>
        <p:nvSpPr>
          <p:cNvPr name="TextBox 6" id="6"/>
          <p:cNvSpPr txBox="true"/>
          <p:nvPr/>
        </p:nvSpPr>
        <p:spPr>
          <a:xfrm rot="0">
            <a:off x="1143000" y="2095500"/>
            <a:ext cx="16002000" cy="809625"/>
          </a:xfrm>
          <a:prstGeom prst="rect">
            <a:avLst/>
          </a:prstGeom>
        </p:spPr>
        <p:txBody>
          <a:bodyPr anchor="t" rtlCol="false" tIns="0" lIns="0" bIns="0" rIns="0">
            <a:spAutoFit/>
          </a:bodyPr>
          <a:lstStyle/>
          <a:p>
            <a:pPr algn="l">
              <a:lnSpc>
                <a:spcPts val="7200"/>
              </a:lnSpc>
            </a:pPr>
            <a:r>
              <a:rPr lang="en-US" b="true" sz="7200" spc="-144">
                <a:solidFill>
                  <a:srgbClr val="C8CEF5"/>
                </a:solidFill>
                <a:latin typeface="Arimo Bold"/>
                <a:ea typeface="Arimo Bold"/>
                <a:cs typeface="Arimo Bold"/>
                <a:sym typeface="Arimo Bold"/>
              </a:rPr>
              <a:t>02.</a:t>
            </a:r>
          </a:p>
        </p:txBody>
      </p:sp>
      <p:sp>
        <p:nvSpPr>
          <p:cNvPr name="TextBox 7" id="7"/>
          <p:cNvSpPr txBox="true"/>
          <p:nvPr/>
        </p:nvSpPr>
        <p:spPr>
          <a:xfrm rot="0">
            <a:off x="1143000" y="4952238"/>
            <a:ext cx="16257240" cy="2057156"/>
          </a:xfrm>
          <a:prstGeom prst="rect">
            <a:avLst/>
          </a:prstGeom>
        </p:spPr>
        <p:txBody>
          <a:bodyPr anchor="t" rtlCol="false" tIns="0" lIns="0" bIns="0" rIns="0">
            <a:spAutoFit/>
          </a:bodyPr>
          <a:lstStyle/>
          <a:p>
            <a:pPr algn="l">
              <a:lnSpc>
                <a:spcPts val="14432"/>
              </a:lnSpc>
            </a:pPr>
            <a:r>
              <a:rPr lang="en-US" b="true" sz="16400" spc="-656">
                <a:solidFill>
                  <a:srgbClr val="FFFFFF"/>
                </a:solidFill>
                <a:latin typeface="Arimo Bold"/>
                <a:ea typeface="Arimo Bold"/>
                <a:cs typeface="Arimo Bold"/>
                <a:sym typeface="Arimo Bold"/>
              </a:rPr>
              <a:t>The </a:t>
            </a:r>
            <a:r>
              <a:rPr lang="en-US" b="true" sz="16400" spc="-656">
                <a:solidFill>
                  <a:srgbClr val="C8CEF5"/>
                </a:solidFill>
                <a:latin typeface="Arimo Bold"/>
                <a:ea typeface="Arimo Bold"/>
                <a:cs typeface="Arimo Bold"/>
                <a:sym typeface="Arimo Bold"/>
              </a:rPr>
              <a:t>memoization.</a:t>
            </a:r>
          </a:p>
        </p:txBody>
      </p:sp>
      <p:sp>
        <p:nvSpPr>
          <p:cNvPr name="TextBox 8" id="8"/>
          <p:cNvSpPr txBox="true"/>
          <p:nvPr/>
        </p:nvSpPr>
        <p:spPr>
          <a:xfrm rot="0">
            <a:off x="1143000" y="8020050"/>
            <a:ext cx="1759172"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REACT.MEMO</a:t>
            </a:r>
          </a:p>
        </p:txBody>
      </p:sp>
      <p:sp>
        <p:nvSpPr>
          <p:cNvPr name="TextBox 9" id="9"/>
          <p:cNvSpPr txBox="true"/>
          <p:nvPr/>
        </p:nvSpPr>
        <p:spPr>
          <a:xfrm rot="0">
            <a:off x="3473672" y="8020050"/>
            <a:ext cx="1347026"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USEMEMO</a:t>
            </a:r>
          </a:p>
        </p:txBody>
      </p:sp>
      <p:sp>
        <p:nvSpPr>
          <p:cNvPr name="TextBox 10" id="10"/>
          <p:cNvSpPr txBox="true"/>
          <p:nvPr/>
        </p:nvSpPr>
        <p:spPr>
          <a:xfrm rot="0">
            <a:off x="5392198" y="8020050"/>
            <a:ext cx="1899761"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USECALLBACK</a:t>
            </a:r>
          </a:p>
        </p:txBody>
      </p:sp>
      <p:sp>
        <p:nvSpPr>
          <p:cNvPr name="TextBox 11" id="11"/>
          <p:cNvSpPr txBox="true"/>
          <p:nvPr/>
        </p:nvSpPr>
        <p:spPr>
          <a:xfrm rot="0">
            <a:off x="7863459" y="8020050"/>
            <a:ext cx="2286762"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REACT COMPILER</a:t>
            </a:r>
          </a:p>
        </p:txBody>
      </p:sp>
      <p:sp>
        <p:nvSpPr>
          <p:cNvPr name="AutoShape 12" id="12"/>
          <p:cNvSpPr/>
          <p:nvPr/>
        </p:nvSpPr>
        <p:spPr>
          <a:xfrm rot="0">
            <a:off x="1143000" y="8896350"/>
            <a:ext cx="16002000" cy="9525"/>
          </a:xfrm>
          <a:prstGeom prst="rect">
            <a:avLst/>
          </a:prstGeom>
          <a:solidFill>
            <a:srgbClr val="FFFFFF">
              <a:alpha val="24706"/>
            </a:srgbClr>
          </a:solidFill>
        </p:spPr>
      </p:sp>
      <p:sp>
        <p:nvSpPr>
          <p:cNvPr name="TextBox 13" id="13"/>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SOFTWARE MANSION · REACT PERFORMANCE</a:t>
            </a:r>
          </a:p>
        </p:txBody>
      </p:sp>
      <p:sp>
        <p:nvSpPr>
          <p:cNvPr name="TextBox 14" id="14"/>
          <p:cNvSpPr txBox="true"/>
          <p:nvPr/>
        </p:nvSpPr>
        <p:spPr>
          <a:xfrm rot="0">
            <a:off x="16353949" y="9134475"/>
            <a:ext cx="791051"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12 / 26</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351472" y="833438"/>
            <a:ext cx="7935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13 / 26</a:t>
            </a:r>
          </a:p>
        </p:txBody>
      </p:sp>
      <p:sp>
        <p:nvSpPr>
          <p:cNvPr name="TextBox 5" id="5"/>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THE DEFAULT</a:t>
            </a:r>
          </a:p>
        </p:txBody>
      </p:sp>
      <p:sp>
        <p:nvSpPr>
          <p:cNvPr name="AutoShape 6" id="6"/>
          <p:cNvSpPr/>
          <p:nvPr/>
        </p:nvSpPr>
        <p:spPr>
          <a:xfrm rot="0">
            <a:off x="1143000" y="2257425"/>
            <a:ext cx="12835414" cy="254317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628900"/>
            <a:ext cx="16002000" cy="1990725"/>
          </a:xfrm>
          <a:prstGeom prst="rect">
            <a:avLst/>
          </a:prstGeom>
        </p:spPr>
        <p:txBody>
          <a:bodyPr anchor="t" rtlCol="false" tIns="0" lIns="0" bIns="0" rIns="0">
            <a:spAutoFit/>
          </a:bodyPr>
          <a:lstStyle/>
          <a:p>
            <a:pPr algn="l">
              <a:lnSpc>
                <a:spcPts val="8550"/>
              </a:lnSpc>
            </a:pPr>
            <a:r>
              <a:rPr lang="en-US" b="true" sz="9000" spc="-179">
                <a:solidFill>
                  <a:srgbClr val="0D0F26"/>
                </a:solidFill>
                <a:latin typeface="Arimo Bold"/>
                <a:ea typeface="Arimo Bold"/>
                <a:cs typeface="Arimo Bold"/>
                <a:sym typeface="Arimo Bold"/>
              </a:rPr>
              <a:t>Parent renders. Children render.</a:t>
            </a:r>
          </a:p>
        </p:txBody>
      </p:sp>
      <p:sp>
        <p:nvSpPr>
          <p:cNvPr name="AutoShape 8" id="8"/>
          <p:cNvSpPr/>
          <p:nvPr/>
        </p:nvSpPr>
        <p:spPr>
          <a:xfrm rot="0">
            <a:off x="9136856" y="5876925"/>
            <a:ext cx="14288" cy="228600"/>
          </a:xfrm>
          <a:prstGeom prst="rect">
            <a:avLst/>
          </a:prstGeom>
          <a:solidFill>
            <a:srgbClr val="0D0F26"/>
          </a:solidFill>
        </p:spPr>
      </p:sp>
      <p:sp>
        <p:nvSpPr>
          <p:cNvPr name="AutoShape 9" id="9"/>
          <p:cNvSpPr/>
          <p:nvPr/>
        </p:nvSpPr>
        <p:spPr>
          <a:xfrm rot="0">
            <a:off x="9136856" y="7277100"/>
            <a:ext cx="14288" cy="228600"/>
          </a:xfrm>
          <a:prstGeom prst="rect">
            <a:avLst/>
          </a:prstGeom>
          <a:solidFill>
            <a:srgbClr val="0D0F26"/>
          </a:solidFill>
        </p:spPr>
      </p:sp>
      <p:sp>
        <p:nvSpPr>
          <p:cNvPr name="AutoShape 10" id="10"/>
          <p:cNvSpPr/>
          <p:nvPr/>
        </p:nvSpPr>
        <p:spPr>
          <a:xfrm rot="0">
            <a:off x="1143000" y="8896350"/>
            <a:ext cx="16002000" cy="9525"/>
          </a:xfrm>
          <a:prstGeom prst="rect">
            <a:avLst/>
          </a:prstGeom>
          <a:solidFill>
            <a:srgbClr val="0D0F26"/>
          </a:solidFill>
        </p:spPr>
      </p:sp>
      <p:sp>
        <p:nvSpPr>
          <p:cNvPr name="TextBox 11" id="11"/>
          <p:cNvSpPr txBox="true"/>
          <p:nvPr/>
        </p:nvSpPr>
        <p:spPr>
          <a:xfrm rot="0">
            <a:off x="1143000" y="9134475"/>
            <a:ext cx="23616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02 · MEMOIZE</a:t>
            </a:r>
          </a:p>
        </p:txBody>
      </p:sp>
      <p:sp>
        <p:nvSpPr>
          <p:cNvPr name="TextBox 12" id="12"/>
          <p:cNvSpPr txBox="true"/>
          <p:nvPr/>
        </p:nvSpPr>
        <p:spPr>
          <a:xfrm rot="0">
            <a:off x="10921937" y="9134475"/>
            <a:ext cx="622306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FREE FOR SMALL TREES · EXPENSIVE FOR BIG ONES</a:t>
            </a:r>
          </a:p>
        </p:txBody>
      </p:sp>
      <p:grpSp>
        <p:nvGrpSpPr>
          <p:cNvPr name="Group 13" id="13"/>
          <p:cNvGrpSpPr/>
          <p:nvPr/>
        </p:nvGrpSpPr>
        <p:grpSpPr>
          <a:xfrm rot="0">
            <a:off x="3619500" y="7734300"/>
            <a:ext cx="2590800" cy="714375"/>
            <a:chOff x="0" y="0"/>
            <a:chExt cx="3454400" cy="952500"/>
          </a:xfrm>
        </p:grpSpPr>
        <p:sp>
          <p:nvSpPr>
            <p:cNvPr name="Freeform 14" id="14"/>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15" id="15"/>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&lt;Item /&gt;</a:t>
              </a:r>
            </a:p>
          </p:txBody>
        </p:sp>
      </p:grpSp>
      <p:grpSp>
        <p:nvGrpSpPr>
          <p:cNvPr name="Group 16" id="16"/>
          <p:cNvGrpSpPr/>
          <p:nvPr/>
        </p:nvGrpSpPr>
        <p:grpSpPr>
          <a:xfrm rot="0">
            <a:off x="6438900" y="7734300"/>
            <a:ext cx="2590800" cy="714375"/>
            <a:chOff x="0" y="0"/>
            <a:chExt cx="3454400" cy="952500"/>
          </a:xfrm>
        </p:grpSpPr>
        <p:sp>
          <p:nvSpPr>
            <p:cNvPr name="Freeform 17" id="17"/>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18" id="18"/>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&lt;Item /&gt;</a:t>
              </a:r>
            </a:p>
          </p:txBody>
        </p:sp>
      </p:grpSp>
      <p:grpSp>
        <p:nvGrpSpPr>
          <p:cNvPr name="Group 19" id="19"/>
          <p:cNvGrpSpPr/>
          <p:nvPr/>
        </p:nvGrpSpPr>
        <p:grpSpPr>
          <a:xfrm rot="0">
            <a:off x="9258300" y="7734300"/>
            <a:ext cx="2590800" cy="714375"/>
            <a:chOff x="0" y="0"/>
            <a:chExt cx="3454400" cy="952500"/>
          </a:xfrm>
        </p:grpSpPr>
        <p:sp>
          <p:nvSpPr>
            <p:cNvPr name="Freeform 20" id="20"/>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21" id="21"/>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&lt;Item /&gt;</a:t>
              </a:r>
            </a:p>
          </p:txBody>
        </p:sp>
      </p:grpSp>
      <p:grpSp>
        <p:nvGrpSpPr>
          <p:cNvPr name="Group 22" id="22"/>
          <p:cNvGrpSpPr/>
          <p:nvPr/>
        </p:nvGrpSpPr>
        <p:grpSpPr>
          <a:xfrm rot="0">
            <a:off x="12077700" y="7734300"/>
            <a:ext cx="2590800" cy="714375"/>
            <a:chOff x="0" y="0"/>
            <a:chExt cx="3454400" cy="952500"/>
          </a:xfrm>
        </p:grpSpPr>
        <p:sp>
          <p:nvSpPr>
            <p:cNvPr name="Freeform 23" id="23"/>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24" id="24"/>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&lt;Item /&gt;</a:t>
              </a:r>
            </a:p>
          </p:txBody>
        </p:sp>
      </p:grpSp>
      <p:sp>
        <p:nvSpPr>
          <p:cNvPr name="AutoShape 25" id="25"/>
          <p:cNvSpPr/>
          <p:nvPr/>
        </p:nvSpPr>
        <p:spPr>
          <a:xfrm rot="0">
            <a:off x="7848600" y="4924425"/>
            <a:ext cx="2590800" cy="723900"/>
          </a:xfrm>
          <a:prstGeom prst="rect">
            <a:avLst/>
          </a:prstGeom>
          <a:solidFill>
            <a:srgbClr val="0D0F26"/>
          </a:solidFill>
        </p:spPr>
      </p:sp>
      <p:sp>
        <p:nvSpPr>
          <p:cNvPr name="AutoShape 26" id="26"/>
          <p:cNvSpPr/>
          <p:nvPr/>
        </p:nvSpPr>
        <p:spPr>
          <a:xfrm rot="0">
            <a:off x="7848600" y="5638800"/>
            <a:ext cx="2590800" cy="9525"/>
          </a:xfrm>
          <a:prstGeom prst="rect">
            <a:avLst/>
          </a:prstGeom>
          <a:solidFill>
            <a:srgbClr val="0D0F26"/>
          </a:solidFill>
        </p:spPr>
      </p:sp>
      <p:sp>
        <p:nvSpPr>
          <p:cNvPr name="TextBox 27" id="27"/>
          <p:cNvSpPr txBox="true"/>
          <p:nvPr/>
        </p:nvSpPr>
        <p:spPr>
          <a:xfrm rot="0">
            <a:off x="7848600" y="5113972"/>
            <a:ext cx="2590800" cy="306705"/>
          </a:xfrm>
          <a:prstGeom prst="rect">
            <a:avLst/>
          </a:prstGeom>
        </p:spPr>
        <p:txBody>
          <a:bodyPr anchor="t" rtlCol="false" tIns="0" lIns="0" bIns="0" rIns="0">
            <a:spAutoFit/>
          </a:bodyPr>
          <a:lstStyle/>
          <a:p>
            <a:pPr algn="ctr">
              <a:lnSpc>
                <a:spcPts val="2520"/>
              </a:lnSpc>
            </a:pPr>
            <a:r>
              <a:rPr lang="en-US" b="true" sz="1800" spc="72">
                <a:solidFill>
                  <a:srgbClr val="FFFFFF"/>
                </a:solidFill>
                <a:latin typeface="JetBrains Mono Medium"/>
                <a:ea typeface="JetBrains Mono Medium"/>
                <a:cs typeface="JetBrains Mono Medium"/>
                <a:sym typeface="JetBrains Mono Medium"/>
              </a:rPr>
              <a:t>&lt;APP /&gt;</a:t>
            </a:r>
          </a:p>
        </p:txBody>
      </p:sp>
      <p:grpSp>
        <p:nvGrpSpPr>
          <p:cNvPr name="Group 28" id="28"/>
          <p:cNvGrpSpPr/>
          <p:nvPr/>
        </p:nvGrpSpPr>
        <p:grpSpPr>
          <a:xfrm rot="0">
            <a:off x="5029200" y="6334125"/>
            <a:ext cx="2590800" cy="714375"/>
            <a:chOff x="0" y="0"/>
            <a:chExt cx="3454400" cy="952500"/>
          </a:xfrm>
        </p:grpSpPr>
        <p:sp>
          <p:nvSpPr>
            <p:cNvPr name="Freeform 29" id="29"/>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30" id="30"/>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&lt;Header /&gt;</a:t>
              </a:r>
            </a:p>
          </p:txBody>
        </p:sp>
      </p:grpSp>
      <p:grpSp>
        <p:nvGrpSpPr>
          <p:cNvPr name="Group 31" id="31"/>
          <p:cNvGrpSpPr/>
          <p:nvPr/>
        </p:nvGrpSpPr>
        <p:grpSpPr>
          <a:xfrm rot="0">
            <a:off x="7848600" y="6334125"/>
            <a:ext cx="2590800" cy="714375"/>
            <a:chOff x="0" y="0"/>
            <a:chExt cx="3454400" cy="952500"/>
          </a:xfrm>
        </p:grpSpPr>
        <p:sp>
          <p:nvSpPr>
            <p:cNvPr name="Freeform 32" id="32"/>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33" id="33"/>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&lt;List /&gt;</a:t>
              </a:r>
            </a:p>
          </p:txBody>
        </p:sp>
      </p:grpSp>
      <p:grpSp>
        <p:nvGrpSpPr>
          <p:cNvPr name="Group 34" id="34"/>
          <p:cNvGrpSpPr/>
          <p:nvPr/>
        </p:nvGrpSpPr>
        <p:grpSpPr>
          <a:xfrm rot="0">
            <a:off x="10668000" y="6334125"/>
            <a:ext cx="2590800" cy="714375"/>
            <a:chOff x="0" y="0"/>
            <a:chExt cx="3454400" cy="952500"/>
          </a:xfrm>
        </p:grpSpPr>
        <p:sp>
          <p:nvSpPr>
            <p:cNvPr name="Freeform 35" id="35"/>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36" id="36"/>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&lt;Footer /&gt;</a:t>
              </a:r>
            </a:p>
          </p:txBody>
        </p:sp>
      </p:grpSp>
      <p:sp>
        <p:nvSpPr>
          <p:cNvPr name="TextBox 37" id="37"/>
          <p:cNvSpPr txBox="true"/>
          <p:nvPr/>
        </p:nvSpPr>
        <p:spPr>
          <a:xfrm rot="0">
            <a:off x="890542" y="7919085"/>
            <a:ext cx="2335113" cy="306705"/>
          </a:xfrm>
          <a:prstGeom prst="rect">
            <a:avLst/>
          </a:prstGeom>
        </p:spPr>
        <p:txBody>
          <a:bodyPr anchor="t" rtlCol="false" tIns="0" lIns="0" bIns="0" rIns="0">
            <a:spAutoFit/>
          </a:bodyPr>
          <a:lstStyle/>
          <a:p>
            <a:pPr algn="ctr">
              <a:lnSpc>
                <a:spcPts val="2520"/>
              </a:lnSpc>
              <a:spcBef>
                <a:spcPct val="0"/>
              </a:spcBef>
            </a:pPr>
            <a:r>
              <a:rPr lang="en-US" b="true" sz="1800" spc="72">
                <a:solidFill>
                  <a:srgbClr val="000000"/>
                </a:solidFill>
                <a:latin typeface="Inter Medium"/>
                <a:ea typeface="Inter Medium"/>
                <a:cs typeface="Inter Medium"/>
                <a:sym typeface="Inter Medium"/>
              </a:rPr>
              <a:t>NO PROPS CHANGE</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344710" y="833438"/>
            <a:ext cx="800290"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14 / 26</a:t>
            </a:r>
          </a:p>
        </p:txBody>
      </p:sp>
      <p:sp>
        <p:nvSpPr>
          <p:cNvPr name="TextBox 5" id="5"/>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TOOL 01 · REACT.MEMO</a:t>
            </a:r>
          </a:p>
        </p:txBody>
      </p:sp>
      <p:sp>
        <p:nvSpPr>
          <p:cNvPr name="AutoShape 6" id="6"/>
          <p:cNvSpPr/>
          <p:nvPr/>
        </p:nvSpPr>
        <p:spPr>
          <a:xfrm rot="0">
            <a:off x="5771102" y="2257425"/>
            <a:ext cx="5329809" cy="14573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628900"/>
            <a:ext cx="16002000" cy="904875"/>
          </a:xfrm>
          <a:prstGeom prst="rect">
            <a:avLst/>
          </a:prstGeom>
        </p:spPr>
        <p:txBody>
          <a:bodyPr anchor="t" rtlCol="false" tIns="0" lIns="0" bIns="0" rIns="0">
            <a:spAutoFit/>
          </a:bodyPr>
          <a:lstStyle/>
          <a:p>
            <a:pPr algn="l">
              <a:lnSpc>
                <a:spcPts val="8550"/>
              </a:lnSpc>
            </a:pPr>
            <a:r>
              <a:rPr lang="en-US" b="true" sz="9000" spc="-179">
                <a:solidFill>
                  <a:srgbClr val="0D0F26"/>
                </a:solidFill>
                <a:latin typeface="Arimo Bold"/>
                <a:ea typeface="Arimo Bold"/>
                <a:cs typeface="Arimo Bold"/>
                <a:sym typeface="Arimo Bold"/>
              </a:rPr>
              <a:t>Skip the re-render.</a:t>
            </a:r>
          </a:p>
        </p:txBody>
      </p:sp>
      <p:sp>
        <p:nvSpPr>
          <p:cNvPr name="AutoShape 8" id="8"/>
          <p:cNvSpPr/>
          <p:nvPr/>
        </p:nvSpPr>
        <p:spPr>
          <a:xfrm rot="0">
            <a:off x="9136856" y="5886450"/>
            <a:ext cx="14288" cy="228600"/>
          </a:xfrm>
          <a:prstGeom prst="rect">
            <a:avLst/>
          </a:prstGeom>
          <a:solidFill>
            <a:srgbClr val="0D0F26"/>
          </a:solidFill>
        </p:spPr>
      </p:sp>
      <p:sp>
        <p:nvSpPr>
          <p:cNvPr name="AutoShape 9" id="9"/>
          <p:cNvSpPr/>
          <p:nvPr/>
        </p:nvSpPr>
        <p:spPr>
          <a:xfrm rot="0">
            <a:off x="9136856" y="7286625"/>
            <a:ext cx="14288" cy="228600"/>
          </a:xfrm>
          <a:prstGeom prst="rect">
            <a:avLst/>
          </a:prstGeom>
          <a:solidFill>
            <a:srgbClr val="0D0F26"/>
          </a:solidFill>
        </p:spPr>
      </p:sp>
      <p:sp>
        <p:nvSpPr>
          <p:cNvPr name="AutoShape 10" id="10"/>
          <p:cNvSpPr/>
          <p:nvPr/>
        </p:nvSpPr>
        <p:spPr>
          <a:xfrm rot="0">
            <a:off x="1143000" y="8896350"/>
            <a:ext cx="16002000" cy="9525"/>
          </a:xfrm>
          <a:prstGeom prst="rect">
            <a:avLst/>
          </a:prstGeom>
          <a:solidFill>
            <a:srgbClr val="0D0F26"/>
          </a:solidFill>
        </p:spPr>
      </p:sp>
      <p:sp>
        <p:nvSpPr>
          <p:cNvPr name="TextBox 11" id="11"/>
          <p:cNvSpPr txBox="true"/>
          <p:nvPr/>
        </p:nvSpPr>
        <p:spPr>
          <a:xfrm rot="0">
            <a:off x="1143000" y="9134475"/>
            <a:ext cx="23616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02 · MEMOIZE</a:t>
            </a:r>
          </a:p>
        </p:txBody>
      </p:sp>
      <p:sp>
        <p:nvSpPr>
          <p:cNvPr name="TextBox 12" id="12"/>
          <p:cNvSpPr txBox="true"/>
          <p:nvPr/>
        </p:nvSpPr>
        <p:spPr>
          <a:xfrm rot="0">
            <a:off x="12460034" y="9134475"/>
            <a:ext cx="4684966"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SAME PROPS IN → NO RE-RENDER OUT</a:t>
            </a:r>
          </a:p>
        </p:txBody>
      </p:sp>
      <p:grpSp>
        <p:nvGrpSpPr>
          <p:cNvPr name="Group 13" id="13"/>
          <p:cNvGrpSpPr/>
          <p:nvPr/>
        </p:nvGrpSpPr>
        <p:grpSpPr>
          <a:xfrm rot="0">
            <a:off x="3619500" y="7743825"/>
            <a:ext cx="2590800" cy="714375"/>
            <a:chOff x="0" y="0"/>
            <a:chExt cx="3454400" cy="952500"/>
          </a:xfrm>
        </p:grpSpPr>
        <p:sp>
          <p:nvSpPr>
            <p:cNvPr name="Freeform 14" id="14"/>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000000">
                <a:alpha val="0"/>
              </a:srgbClr>
            </a:solidFill>
            <a:ln w="19050" cap="sq">
              <a:solidFill>
                <a:srgbClr val="0D0F26"/>
              </a:solidFill>
              <a:prstDash val="dash"/>
              <a:miter/>
            </a:ln>
          </p:spPr>
        </p:sp>
        <p:sp>
          <p:nvSpPr>
            <p:cNvPr name="TextBox 15" id="15"/>
            <p:cNvSpPr txBox="true"/>
            <p:nvPr/>
          </p:nvSpPr>
          <p:spPr>
            <a:xfrm>
              <a:off x="0" y="-38100"/>
              <a:ext cx="3454400" cy="990600"/>
            </a:xfrm>
            <a:prstGeom prst="rect">
              <a:avLst/>
            </a:prstGeom>
          </p:spPr>
          <p:txBody>
            <a:bodyPr anchor="ctr" rtlCol="false" tIns="254000" lIns="254000" bIns="254000" rIns="2540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&lt;Item /&gt;</a:t>
              </a:r>
            </a:p>
          </p:txBody>
        </p:sp>
      </p:grpSp>
      <p:sp>
        <p:nvSpPr>
          <p:cNvPr name="AutoShape 16" id="16"/>
          <p:cNvSpPr/>
          <p:nvPr/>
        </p:nvSpPr>
        <p:spPr>
          <a:xfrm rot="0">
            <a:off x="4914900" y="7639050"/>
            <a:ext cx="411480" cy="190500"/>
          </a:xfrm>
          <a:prstGeom prst="rect">
            <a:avLst/>
          </a:prstGeom>
          <a:solidFill>
            <a:srgbClr val="FFFFFF"/>
          </a:solidFill>
        </p:spPr>
      </p:sp>
      <p:grpSp>
        <p:nvGrpSpPr>
          <p:cNvPr name="Group 17" id="17"/>
          <p:cNvGrpSpPr/>
          <p:nvPr/>
        </p:nvGrpSpPr>
        <p:grpSpPr>
          <a:xfrm rot="0">
            <a:off x="6438900" y="7743825"/>
            <a:ext cx="2590800" cy="714375"/>
            <a:chOff x="0" y="0"/>
            <a:chExt cx="3454400" cy="952500"/>
          </a:xfrm>
        </p:grpSpPr>
        <p:sp>
          <p:nvSpPr>
            <p:cNvPr name="Freeform 18" id="18"/>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000000">
                <a:alpha val="0"/>
              </a:srgbClr>
            </a:solidFill>
            <a:ln w="19050" cap="sq">
              <a:solidFill>
                <a:srgbClr val="0D0F26"/>
              </a:solidFill>
              <a:prstDash val="dash"/>
              <a:miter/>
            </a:ln>
          </p:spPr>
        </p:sp>
        <p:sp>
          <p:nvSpPr>
            <p:cNvPr name="TextBox 19" id="19"/>
            <p:cNvSpPr txBox="true"/>
            <p:nvPr/>
          </p:nvSpPr>
          <p:spPr>
            <a:xfrm>
              <a:off x="0" y="-38100"/>
              <a:ext cx="3454400" cy="990600"/>
            </a:xfrm>
            <a:prstGeom prst="rect">
              <a:avLst/>
            </a:prstGeom>
          </p:spPr>
          <p:txBody>
            <a:bodyPr anchor="ctr" rtlCol="false" tIns="254000" lIns="254000" bIns="254000" rIns="2540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&lt;Item /&gt;</a:t>
              </a:r>
            </a:p>
          </p:txBody>
        </p:sp>
      </p:grpSp>
      <p:sp>
        <p:nvSpPr>
          <p:cNvPr name="AutoShape 20" id="20"/>
          <p:cNvSpPr/>
          <p:nvPr/>
        </p:nvSpPr>
        <p:spPr>
          <a:xfrm rot="0">
            <a:off x="7734300" y="7639050"/>
            <a:ext cx="411480" cy="190500"/>
          </a:xfrm>
          <a:prstGeom prst="rect">
            <a:avLst/>
          </a:prstGeom>
          <a:solidFill>
            <a:srgbClr val="FFFFFF"/>
          </a:solidFill>
        </p:spPr>
      </p:sp>
      <p:grpSp>
        <p:nvGrpSpPr>
          <p:cNvPr name="Group 21" id="21"/>
          <p:cNvGrpSpPr/>
          <p:nvPr/>
        </p:nvGrpSpPr>
        <p:grpSpPr>
          <a:xfrm rot="0">
            <a:off x="9258300" y="7743825"/>
            <a:ext cx="2590800" cy="714375"/>
            <a:chOff x="0" y="0"/>
            <a:chExt cx="3454400" cy="952500"/>
          </a:xfrm>
        </p:grpSpPr>
        <p:sp>
          <p:nvSpPr>
            <p:cNvPr name="Freeform 22" id="22"/>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000000">
                <a:alpha val="0"/>
              </a:srgbClr>
            </a:solidFill>
            <a:ln w="19050" cap="sq">
              <a:solidFill>
                <a:srgbClr val="0D0F26"/>
              </a:solidFill>
              <a:prstDash val="dash"/>
              <a:miter/>
            </a:ln>
          </p:spPr>
        </p:sp>
        <p:sp>
          <p:nvSpPr>
            <p:cNvPr name="TextBox 23" id="23"/>
            <p:cNvSpPr txBox="true"/>
            <p:nvPr/>
          </p:nvSpPr>
          <p:spPr>
            <a:xfrm>
              <a:off x="0" y="-38100"/>
              <a:ext cx="3454400" cy="990600"/>
            </a:xfrm>
            <a:prstGeom prst="rect">
              <a:avLst/>
            </a:prstGeom>
          </p:spPr>
          <p:txBody>
            <a:bodyPr anchor="ctr" rtlCol="false" tIns="254000" lIns="254000" bIns="254000" rIns="2540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&lt;Item /&gt;</a:t>
              </a:r>
            </a:p>
          </p:txBody>
        </p:sp>
      </p:grpSp>
      <p:sp>
        <p:nvSpPr>
          <p:cNvPr name="AutoShape 24" id="24"/>
          <p:cNvSpPr/>
          <p:nvPr/>
        </p:nvSpPr>
        <p:spPr>
          <a:xfrm rot="0">
            <a:off x="10553700" y="7639050"/>
            <a:ext cx="411480" cy="190500"/>
          </a:xfrm>
          <a:prstGeom prst="rect">
            <a:avLst/>
          </a:prstGeom>
          <a:solidFill>
            <a:srgbClr val="FFFFFF"/>
          </a:solidFill>
        </p:spPr>
      </p:sp>
      <p:grpSp>
        <p:nvGrpSpPr>
          <p:cNvPr name="Group 25" id="25"/>
          <p:cNvGrpSpPr/>
          <p:nvPr/>
        </p:nvGrpSpPr>
        <p:grpSpPr>
          <a:xfrm rot="0">
            <a:off x="12077700" y="7743825"/>
            <a:ext cx="2590800" cy="714375"/>
            <a:chOff x="0" y="0"/>
            <a:chExt cx="3454400" cy="952500"/>
          </a:xfrm>
        </p:grpSpPr>
        <p:sp>
          <p:nvSpPr>
            <p:cNvPr name="Freeform 26" id="26"/>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000000">
                <a:alpha val="0"/>
              </a:srgbClr>
            </a:solidFill>
            <a:ln w="19050" cap="sq">
              <a:solidFill>
                <a:srgbClr val="0D0F26"/>
              </a:solidFill>
              <a:prstDash val="dash"/>
              <a:miter/>
            </a:ln>
          </p:spPr>
        </p:sp>
        <p:sp>
          <p:nvSpPr>
            <p:cNvPr name="TextBox 27" id="27"/>
            <p:cNvSpPr txBox="true"/>
            <p:nvPr/>
          </p:nvSpPr>
          <p:spPr>
            <a:xfrm>
              <a:off x="0" y="-38100"/>
              <a:ext cx="3454400" cy="990600"/>
            </a:xfrm>
            <a:prstGeom prst="rect">
              <a:avLst/>
            </a:prstGeom>
          </p:spPr>
          <p:txBody>
            <a:bodyPr anchor="ctr" rtlCol="false" tIns="254000" lIns="254000" bIns="254000" rIns="2540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&lt;Item /&gt;</a:t>
              </a:r>
            </a:p>
          </p:txBody>
        </p:sp>
      </p:grpSp>
      <p:sp>
        <p:nvSpPr>
          <p:cNvPr name="AutoShape 28" id="28"/>
          <p:cNvSpPr/>
          <p:nvPr/>
        </p:nvSpPr>
        <p:spPr>
          <a:xfrm rot="0">
            <a:off x="13373100" y="7639050"/>
            <a:ext cx="411480" cy="190500"/>
          </a:xfrm>
          <a:prstGeom prst="rect">
            <a:avLst/>
          </a:prstGeom>
          <a:solidFill>
            <a:srgbClr val="FFFFFF"/>
          </a:solidFill>
        </p:spPr>
      </p:sp>
      <p:sp>
        <p:nvSpPr>
          <p:cNvPr name="AutoShape 29" id="29"/>
          <p:cNvSpPr/>
          <p:nvPr/>
        </p:nvSpPr>
        <p:spPr>
          <a:xfrm rot="0">
            <a:off x="7848600" y="4933950"/>
            <a:ext cx="2590800" cy="723900"/>
          </a:xfrm>
          <a:prstGeom prst="rect">
            <a:avLst/>
          </a:prstGeom>
          <a:solidFill>
            <a:srgbClr val="0D0F26"/>
          </a:solidFill>
        </p:spPr>
      </p:sp>
      <p:sp>
        <p:nvSpPr>
          <p:cNvPr name="AutoShape 30" id="30"/>
          <p:cNvSpPr/>
          <p:nvPr/>
        </p:nvSpPr>
        <p:spPr>
          <a:xfrm rot="0">
            <a:off x="7848600" y="5648325"/>
            <a:ext cx="2590800" cy="9525"/>
          </a:xfrm>
          <a:prstGeom prst="rect">
            <a:avLst/>
          </a:prstGeom>
          <a:solidFill>
            <a:srgbClr val="0D0F26"/>
          </a:solidFill>
        </p:spPr>
      </p:sp>
      <p:sp>
        <p:nvSpPr>
          <p:cNvPr name="TextBox 31" id="31"/>
          <p:cNvSpPr txBox="true"/>
          <p:nvPr/>
        </p:nvSpPr>
        <p:spPr>
          <a:xfrm rot="0">
            <a:off x="7848600" y="5113020"/>
            <a:ext cx="2590800" cy="306705"/>
          </a:xfrm>
          <a:prstGeom prst="rect">
            <a:avLst/>
          </a:prstGeom>
        </p:spPr>
        <p:txBody>
          <a:bodyPr anchor="t" rtlCol="false" tIns="0" lIns="0" bIns="0" rIns="0">
            <a:spAutoFit/>
          </a:bodyPr>
          <a:lstStyle/>
          <a:p>
            <a:pPr algn="ctr">
              <a:lnSpc>
                <a:spcPts val="2520"/>
              </a:lnSpc>
            </a:pPr>
            <a:r>
              <a:rPr lang="en-US" b="true" sz="1800" spc="72">
                <a:solidFill>
                  <a:srgbClr val="FFFFFF"/>
                </a:solidFill>
                <a:latin typeface="JetBrains Mono Medium"/>
                <a:ea typeface="JetBrains Mono Medium"/>
                <a:cs typeface="JetBrains Mono Medium"/>
                <a:sym typeface="JetBrains Mono Medium"/>
              </a:rPr>
              <a:t>&lt;APP /&gt;</a:t>
            </a:r>
          </a:p>
        </p:txBody>
      </p:sp>
      <p:grpSp>
        <p:nvGrpSpPr>
          <p:cNvPr name="Group 32" id="32"/>
          <p:cNvGrpSpPr/>
          <p:nvPr/>
        </p:nvGrpSpPr>
        <p:grpSpPr>
          <a:xfrm rot="0">
            <a:off x="5029200" y="6343650"/>
            <a:ext cx="2590800" cy="714375"/>
            <a:chOff x="0" y="0"/>
            <a:chExt cx="3454400" cy="952500"/>
          </a:xfrm>
        </p:grpSpPr>
        <p:sp>
          <p:nvSpPr>
            <p:cNvPr name="Freeform 33" id="33"/>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34" id="34"/>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&lt;Header /&gt;</a:t>
              </a:r>
            </a:p>
          </p:txBody>
        </p:sp>
      </p:grpSp>
      <p:grpSp>
        <p:nvGrpSpPr>
          <p:cNvPr name="Group 35" id="35"/>
          <p:cNvGrpSpPr/>
          <p:nvPr/>
        </p:nvGrpSpPr>
        <p:grpSpPr>
          <a:xfrm rot="0">
            <a:off x="7848600" y="6343650"/>
            <a:ext cx="2590800" cy="714375"/>
            <a:chOff x="0" y="0"/>
            <a:chExt cx="3454400" cy="952500"/>
          </a:xfrm>
        </p:grpSpPr>
        <p:sp>
          <p:nvSpPr>
            <p:cNvPr name="Freeform 36" id="36"/>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37" id="37"/>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&lt;List /&gt;</a:t>
              </a:r>
            </a:p>
          </p:txBody>
        </p:sp>
      </p:grpSp>
      <p:grpSp>
        <p:nvGrpSpPr>
          <p:cNvPr name="Group 38" id="38"/>
          <p:cNvGrpSpPr/>
          <p:nvPr/>
        </p:nvGrpSpPr>
        <p:grpSpPr>
          <a:xfrm rot="0">
            <a:off x="10668000" y="6343650"/>
            <a:ext cx="2590800" cy="714375"/>
            <a:chOff x="0" y="0"/>
            <a:chExt cx="3454400" cy="952500"/>
          </a:xfrm>
        </p:grpSpPr>
        <p:sp>
          <p:nvSpPr>
            <p:cNvPr name="Freeform 39" id="39"/>
            <p:cNvSpPr/>
            <p:nvPr/>
          </p:nvSpPr>
          <p:spPr>
            <a:xfrm flipH="false" flipV="false" rot="0">
              <a:off x="0" y="0"/>
              <a:ext cx="3454400" cy="952500"/>
            </a:xfrm>
            <a:custGeom>
              <a:avLst/>
              <a:gdLst/>
              <a:ahLst/>
              <a:cxnLst/>
              <a:rect r="r" b="b" t="t" l="l"/>
              <a:pathLst>
                <a:path h="952500" w="3454400">
                  <a:moveTo>
                    <a:pt x="0" y="0"/>
                  </a:moveTo>
                  <a:lnTo>
                    <a:pt x="3454400" y="0"/>
                  </a:lnTo>
                  <a:lnTo>
                    <a:pt x="3454400" y="952500"/>
                  </a:lnTo>
                  <a:lnTo>
                    <a:pt x="0" y="952500"/>
                  </a:lnTo>
                  <a:lnTo>
                    <a:pt x="0" y="0"/>
                  </a:lnTo>
                  <a:close/>
                </a:path>
              </a:pathLst>
            </a:custGeom>
            <a:solidFill>
              <a:srgbClr val="C8CEF5"/>
            </a:solidFill>
          </p:spPr>
        </p:sp>
        <p:sp>
          <p:nvSpPr>
            <p:cNvPr name="TextBox 40" id="40"/>
            <p:cNvSpPr txBox="true"/>
            <p:nvPr/>
          </p:nvSpPr>
          <p:spPr>
            <a:xfrm>
              <a:off x="0" y="-38100"/>
              <a:ext cx="3454400" cy="990600"/>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&lt;Footer /&gt;</a:t>
              </a:r>
            </a:p>
          </p:txBody>
        </p:sp>
      </p:grpSp>
      <p:sp>
        <p:nvSpPr>
          <p:cNvPr name="TextBox 41" id="41"/>
          <p:cNvSpPr txBox="true"/>
          <p:nvPr/>
        </p:nvSpPr>
        <p:spPr>
          <a:xfrm rot="0">
            <a:off x="4914900" y="7648150"/>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
        <p:nvSpPr>
          <p:cNvPr name="TextBox 42" id="42"/>
          <p:cNvSpPr txBox="true"/>
          <p:nvPr/>
        </p:nvSpPr>
        <p:spPr>
          <a:xfrm rot="0">
            <a:off x="7732395" y="7657675"/>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
        <p:nvSpPr>
          <p:cNvPr name="TextBox 43" id="43"/>
          <p:cNvSpPr txBox="true"/>
          <p:nvPr/>
        </p:nvSpPr>
        <p:spPr>
          <a:xfrm rot="0">
            <a:off x="10553700" y="7648150"/>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
        <p:nvSpPr>
          <p:cNvPr name="TextBox 44" id="44"/>
          <p:cNvSpPr txBox="true"/>
          <p:nvPr/>
        </p:nvSpPr>
        <p:spPr>
          <a:xfrm rot="0">
            <a:off x="13373100" y="7648150"/>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
        <p:nvSpPr>
          <p:cNvPr name="TextBox 45" id="45"/>
          <p:cNvSpPr txBox="true"/>
          <p:nvPr/>
        </p:nvSpPr>
        <p:spPr>
          <a:xfrm rot="0">
            <a:off x="890542" y="7919085"/>
            <a:ext cx="2335113" cy="306705"/>
          </a:xfrm>
          <a:prstGeom prst="rect">
            <a:avLst/>
          </a:prstGeom>
        </p:spPr>
        <p:txBody>
          <a:bodyPr anchor="t" rtlCol="false" tIns="0" lIns="0" bIns="0" rIns="0">
            <a:spAutoFit/>
          </a:bodyPr>
          <a:lstStyle/>
          <a:p>
            <a:pPr algn="ctr">
              <a:lnSpc>
                <a:spcPts val="2520"/>
              </a:lnSpc>
              <a:spcBef>
                <a:spcPct val="0"/>
              </a:spcBef>
            </a:pPr>
            <a:r>
              <a:rPr lang="en-US" b="true" sz="1800" spc="72">
                <a:solidFill>
                  <a:srgbClr val="000000"/>
                </a:solidFill>
                <a:latin typeface="Inter Medium"/>
                <a:ea typeface="Inter Medium"/>
                <a:cs typeface="Inter Medium"/>
                <a:sym typeface="Inter Medium"/>
              </a:rPr>
              <a:t>NO PROPS CHANGE</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356997" y="833438"/>
            <a:ext cx="788003"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15 / 26</a:t>
            </a:r>
          </a:p>
        </p:txBody>
      </p:sp>
      <p:sp>
        <p:nvSpPr>
          <p:cNvPr name="TextBox 5" id="5"/>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TOOL 02 · USEMEMO</a:t>
            </a:r>
          </a:p>
        </p:txBody>
      </p:sp>
      <p:sp>
        <p:nvSpPr>
          <p:cNvPr name="AutoShape 6" id="6"/>
          <p:cNvSpPr/>
          <p:nvPr/>
        </p:nvSpPr>
        <p:spPr>
          <a:xfrm rot="0">
            <a:off x="6809042" y="2257425"/>
            <a:ext cx="3209354" cy="14573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628900"/>
            <a:ext cx="16002000" cy="904875"/>
          </a:xfrm>
          <a:prstGeom prst="rect">
            <a:avLst/>
          </a:prstGeom>
        </p:spPr>
        <p:txBody>
          <a:bodyPr anchor="t" rtlCol="false" tIns="0" lIns="0" bIns="0" rIns="0">
            <a:spAutoFit/>
          </a:bodyPr>
          <a:lstStyle/>
          <a:p>
            <a:pPr algn="l">
              <a:lnSpc>
                <a:spcPts val="8550"/>
              </a:lnSpc>
            </a:pPr>
            <a:r>
              <a:rPr lang="en-US" b="true" sz="9000" spc="-179">
                <a:solidFill>
                  <a:srgbClr val="0D0F26"/>
                </a:solidFill>
                <a:latin typeface="Arimo Bold"/>
                <a:ea typeface="Arimo Bold"/>
                <a:cs typeface="Arimo Bold"/>
                <a:sym typeface="Arimo Bold"/>
              </a:rPr>
              <a:t>Cache the value.</a:t>
            </a:r>
          </a:p>
        </p:txBody>
      </p:sp>
      <p:sp>
        <p:nvSpPr>
          <p:cNvPr name="AutoShape 8" id="8"/>
          <p:cNvSpPr/>
          <p:nvPr/>
        </p:nvSpPr>
        <p:spPr>
          <a:xfrm rot="0">
            <a:off x="1143000" y="3838575"/>
            <a:ext cx="16002000" cy="9525"/>
          </a:xfrm>
          <a:prstGeom prst="rect">
            <a:avLst/>
          </a:prstGeom>
          <a:solidFill>
            <a:srgbClr val="0D0F26"/>
          </a:solidFill>
        </p:spPr>
      </p:sp>
      <p:sp>
        <p:nvSpPr>
          <p:cNvPr name="AutoShape 9" id="9"/>
          <p:cNvSpPr/>
          <p:nvPr/>
        </p:nvSpPr>
        <p:spPr>
          <a:xfrm rot="0">
            <a:off x="9134475" y="3848100"/>
            <a:ext cx="9525" cy="4514850"/>
          </a:xfrm>
          <a:prstGeom prst="rect">
            <a:avLst/>
          </a:prstGeom>
          <a:solidFill>
            <a:srgbClr val="0D0F26"/>
          </a:solidFill>
        </p:spPr>
      </p:sp>
      <p:sp>
        <p:nvSpPr>
          <p:cNvPr name="TextBox 10" id="10"/>
          <p:cNvSpPr txBox="true"/>
          <p:nvPr/>
        </p:nvSpPr>
        <p:spPr>
          <a:xfrm rot="0">
            <a:off x="1143000" y="4191000"/>
            <a:ext cx="7458075" cy="356235"/>
          </a:xfrm>
          <a:prstGeom prst="rect">
            <a:avLst/>
          </a:prstGeom>
        </p:spPr>
        <p:txBody>
          <a:bodyPr anchor="t" rtlCol="false" tIns="0" lIns="0" bIns="0" rIns="0">
            <a:spAutoFit/>
          </a:bodyPr>
          <a:lstStyle/>
          <a:p>
            <a:pPr algn="l">
              <a:lnSpc>
                <a:spcPts val="2940"/>
              </a:lnSpc>
            </a:pPr>
            <a:r>
              <a:rPr lang="en-US" b="true" sz="2100">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WITHOUT </a:t>
            </a:r>
            <a:r>
              <a:rPr lang="en-US" b="true" sz="2100">
                <a:solidFill>
                  <a:srgbClr val="0D0F26"/>
                </a:solidFill>
                <a:latin typeface="Inter Bold"/>
                <a:ea typeface="Inter Bold"/>
                <a:cs typeface="Inter Bold"/>
                <a:sym typeface="Inter Bold"/>
              </a:rPr>
              <a:t>useMemo</a:t>
            </a:r>
          </a:p>
        </p:txBody>
      </p:sp>
      <p:sp>
        <p:nvSpPr>
          <p:cNvPr name="AutoShape 11" id="11"/>
          <p:cNvSpPr/>
          <p:nvPr/>
        </p:nvSpPr>
        <p:spPr>
          <a:xfrm rot="0">
            <a:off x="10504456" y="4229100"/>
            <a:ext cx="1173480" cy="3524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12" id="12"/>
          <p:cNvSpPr txBox="true"/>
          <p:nvPr/>
        </p:nvSpPr>
        <p:spPr>
          <a:xfrm rot="0">
            <a:off x="9677400" y="4191000"/>
            <a:ext cx="7467600" cy="356235"/>
          </a:xfrm>
          <a:prstGeom prst="rect">
            <a:avLst/>
          </a:prstGeom>
        </p:spPr>
        <p:txBody>
          <a:bodyPr anchor="t" rtlCol="false" tIns="0" lIns="0" bIns="0" rIns="0">
            <a:spAutoFit/>
          </a:bodyPr>
          <a:lstStyle/>
          <a:p>
            <a:pPr algn="l">
              <a:lnSpc>
                <a:spcPts val="2940"/>
              </a:lnSpc>
            </a:pPr>
            <a:r>
              <a:rPr lang="en-US" b="true" sz="2100">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 </a:t>
            </a:r>
            <a:r>
              <a:rPr lang="en-US" b="true" sz="2100">
                <a:solidFill>
                  <a:srgbClr val="0D0F26"/>
                </a:solidFill>
                <a:latin typeface="Inter Bold"/>
                <a:ea typeface="Inter Bold"/>
                <a:cs typeface="Inter Bold"/>
                <a:sym typeface="Inter Bold"/>
              </a:rPr>
              <a:t>useMemo</a:t>
            </a:r>
          </a:p>
        </p:txBody>
      </p:sp>
      <p:sp>
        <p:nvSpPr>
          <p:cNvPr name="AutoShape 13" id="13"/>
          <p:cNvSpPr/>
          <p:nvPr/>
        </p:nvSpPr>
        <p:spPr>
          <a:xfrm rot="0">
            <a:off x="1143000" y="8896350"/>
            <a:ext cx="16002000" cy="9525"/>
          </a:xfrm>
          <a:prstGeom prst="rect">
            <a:avLst/>
          </a:prstGeom>
          <a:solidFill>
            <a:srgbClr val="0D0F26"/>
          </a:solidFill>
        </p:spPr>
      </p:sp>
      <p:sp>
        <p:nvSpPr>
          <p:cNvPr name="TextBox 14" id="14"/>
          <p:cNvSpPr txBox="true"/>
          <p:nvPr/>
        </p:nvSpPr>
        <p:spPr>
          <a:xfrm rot="0">
            <a:off x="1143000" y="9134475"/>
            <a:ext cx="23616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02 · MEMOIZE</a:t>
            </a:r>
          </a:p>
        </p:txBody>
      </p:sp>
      <p:sp>
        <p:nvSpPr>
          <p:cNvPr name="TextBox 15" id="15"/>
          <p:cNvSpPr txBox="true"/>
          <p:nvPr/>
        </p:nvSpPr>
        <p:spPr>
          <a:xfrm rot="0">
            <a:off x="11119104" y="9134475"/>
            <a:ext cx="6025896"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STABILIZES A REFERENCE FOR MEMO'D CHILDREN</a:t>
            </a:r>
          </a:p>
        </p:txBody>
      </p:sp>
      <p:sp>
        <p:nvSpPr>
          <p:cNvPr name="AutoShape 16" id="16"/>
          <p:cNvSpPr/>
          <p:nvPr/>
        </p:nvSpPr>
        <p:spPr>
          <a:xfrm rot="0">
            <a:off x="1085850" y="5305425"/>
            <a:ext cx="7458075" cy="2798445"/>
          </a:xfrm>
          <a:prstGeom prst="rect">
            <a:avLst/>
          </a:prstGeom>
          <a:solidFill>
            <a:srgbClr val="FFFFFF"/>
          </a:solidFill>
          <a:ln w="19050" cap="sq">
            <a:solidFill>
              <a:srgbClr val="0D0F26"/>
            </a:solidFill>
            <a:prstDash val="solid"/>
            <a:miter/>
          </a:ln>
        </p:spPr>
      </p:sp>
      <p:sp>
        <p:nvSpPr>
          <p:cNvPr name="TextBox 17" id="17"/>
          <p:cNvSpPr txBox="true"/>
          <p:nvPr/>
        </p:nvSpPr>
        <p:spPr>
          <a:xfrm rot="0">
            <a:off x="1676400" y="6467475"/>
            <a:ext cx="212693" cy="18859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a:t>
            </a:r>
          </a:p>
        </p:txBody>
      </p:sp>
      <p:sp>
        <p:nvSpPr>
          <p:cNvPr name="AutoShape 18" id="18"/>
          <p:cNvSpPr/>
          <p:nvPr/>
        </p:nvSpPr>
        <p:spPr>
          <a:xfrm rot="0">
            <a:off x="1411700" y="6808470"/>
            <a:ext cx="2152650" cy="561975"/>
          </a:xfrm>
          <a:prstGeom prst="rect">
            <a:avLst/>
          </a:prstGeom>
          <a:solidFill>
            <a:srgbClr val="0D0F26"/>
          </a:solidFill>
        </p:spPr>
      </p:sp>
      <p:sp>
        <p:nvSpPr>
          <p:cNvPr name="TextBox 19" id="19"/>
          <p:cNvSpPr txBox="true"/>
          <p:nvPr/>
        </p:nvSpPr>
        <p:spPr>
          <a:xfrm rot="0">
            <a:off x="1587246" y="6903720"/>
            <a:ext cx="733425" cy="333375"/>
          </a:xfrm>
          <a:prstGeom prst="rect">
            <a:avLst/>
          </a:prstGeom>
        </p:spPr>
        <p:txBody>
          <a:bodyPr anchor="t" rtlCol="false" tIns="0" lIns="0" bIns="0" rIns="0">
            <a:spAutoFit/>
          </a:bodyPr>
          <a:lstStyle/>
          <a:p>
            <a:pPr algn="l">
              <a:lnSpc>
                <a:spcPts val="2520"/>
              </a:lnSpc>
            </a:pPr>
            <a:r>
              <a:rPr lang="en-US" sz="1800" spc="72">
                <a:gradFill>
                  <a:gsLst>
                    <a:gs pos="0">
                      <a:srgbClr val="FFFFFF">
                        <a:alpha val="55000"/>
                      </a:srgbClr>
                    </a:gs>
                    <a:gs pos="100000">
                      <a:srgbClr val="FFFFFF">
                        <a:alpha val="55000"/>
                      </a:srgbClr>
                    </a:gs>
                  </a:gsLst>
                  <a:lin ang="16200000"/>
                </a:gradFill>
                <a:latin typeface="JetBrains Mono"/>
                <a:ea typeface="JetBrains Mono"/>
                <a:cs typeface="JetBrains Mono"/>
                <a:sym typeface="JetBrains Mono"/>
              </a:rPr>
              <a:t>VALUE</a:t>
            </a:r>
          </a:p>
        </p:txBody>
      </p:sp>
      <p:sp>
        <p:nvSpPr>
          <p:cNvPr name="TextBox 20" id="20"/>
          <p:cNvSpPr txBox="true"/>
          <p:nvPr/>
        </p:nvSpPr>
        <p:spPr>
          <a:xfrm rot="0">
            <a:off x="2492597" y="6884670"/>
            <a:ext cx="895350" cy="674370"/>
          </a:xfrm>
          <a:prstGeom prst="rect">
            <a:avLst/>
          </a:prstGeom>
        </p:spPr>
        <p:txBody>
          <a:bodyPr anchor="t" rtlCol="false" tIns="0" lIns="0" bIns="0" rIns="0">
            <a:spAutoFit/>
          </a:bodyPr>
          <a:lstStyle/>
          <a:p>
            <a:pPr algn="l">
              <a:lnSpc>
                <a:spcPts val="2729"/>
              </a:lnSpc>
            </a:pPr>
            <a:r>
              <a:rPr lang="en-US" sz="1950">
                <a:solidFill>
                  <a:srgbClr val="FFFFFF"/>
                </a:solidFill>
                <a:latin typeface="JetBrains Mono"/>
                <a:ea typeface="JetBrains Mono"/>
                <a:cs typeface="JetBrains Mono"/>
                <a:sym typeface="JetBrains Mono"/>
              </a:rPr>
              <a:t>0x7a4f</a:t>
            </a:r>
          </a:p>
          <a:p>
            <a:pPr algn="l">
              <a:lnSpc>
                <a:spcPts val="2729"/>
              </a:lnSpc>
            </a:pPr>
          </a:p>
        </p:txBody>
      </p:sp>
      <p:sp>
        <p:nvSpPr>
          <p:cNvPr name="TextBox 21" id="21"/>
          <p:cNvSpPr txBox="true"/>
          <p:nvPr/>
        </p:nvSpPr>
        <p:spPr>
          <a:xfrm rot="0">
            <a:off x="1409700" y="7541895"/>
            <a:ext cx="5963221" cy="314325"/>
          </a:xfrm>
          <a:prstGeom prst="rect">
            <a:avLst/>
          </a:prstGeom>
        </p:spPr>
        <p:txBody>
          <a:bodyPr anchor="t" rtlCol="false" tIns="0" lIns="0" bIns="0" rIns="0">
            <a:spAutoFit/>
          </a:bodyPr>
          <a:lstStyle/>
          <a:p>
            <a:pPr algn="l">
              <a:lnSpc>
                <a:spcPts val="2520"/>
              </a:lnSpc>
            </a:pPr>
            <a:r>
              <a:rPr lang="en-US" sz="1800" i="true" spc="18">
                <a:gradFill>
                  <a:gsLst>
                    <a:gs pos="0">
                      <a:srgbClr val="0D0F26">
                        <a:alpha val="55000"/>
                      </a:srgbClr>
                    </a:gs>
                    <a:gs pos="100000">
                      <a:srgbClr val="0D0F26">
                        <a:alpha val="55000"/>
                      </a:srgbClr>
                    </a:gs>
                  </a:gsLst>
                  <a:lin ang="16200000"/>
                </a:gradFill>
                <a:latin typeface="Inter Italics"/>
                <a:ea typeface="Inter Italics"/>
                <a:cs typeface="Inter Italics"/>
                <a:sym typeface="Inter Italics"/>
              </a:rPr>
              <a:t>recomputed every render — new reference each time.</a:t>
            </a:r>
          </a:p>
        </p:txBody>
      </p:sp>
      <p:grpSp>
        <p:nvGrpSpPr>
          <p:cNvPr name="Group 22" id="22"/>
          <p:cNvGrpSpPr/>
          <p:nvPr/>
        </p:nvGrpSpPr>
        <p:grpSpPr>
          <a:xfrm rot="0">
            <a:off x="1333500" y="5172075"/>
            <a:ext cx="1501235" cy="295275"/>
            <a:chOff x="0" y="0"/>
            <a:chExt cx="2001647" cy="393700"/>
          </a:xfrm>
        </p:grpSpPr>
        <p:sp>
          <p:nvSpPr>
            <p:cNvPr name="Freeform 23" id="23"/>
            <p:cNvSpPr/>
            <p:nvPr/>
          </p:nvSpPr>
          <p:spPr>
            <a:xfrm flipH="false" flipV="false" rot="0">
              <a:off x="0" y="0"/>
              <a:ext cx="2001647" cy="393700"/>
            </a:xfrm>
            <a:custGeom>
              <a:avLst/>
              <a:gdLst/>
              <a:ahLst/>
              <a:cxnLst/>
              <a:rect r="r" b="b" t="t" l="l"/>
              <a:pathLst>
                <a:path h="393700" w="2001647">
                  <a:moveTo>
                    <a:pt x="0" y="0"/>
                  </a:moveTo>
                  <a:lnTo>
                    <a:pt x="2001647" y="0"/>
                  </a:lnTo>
                  <a:lnTo>
                    <a:pt x="2001647" y="393700"/>
                  </a:lnTo>
                  <a:lnTo>
                    <a:pt x="0" y="393700"/>
                  </a:lnTo>
                  <a:lnTo>
                    <a:pt x="0" y="0"/>
                  </a:lnTo>
                  <a:close/>
                </a:path>
              </a:pathLst>
            </a:custGeom>
            <a:solidFill>
              <a:srgbClr val="FFFFFF"/>
            </a:solidFill>
          </p:spPr>
        </p:sp>
        <p:sp>
          <p:nvSpPr>
            <p:cNvPr name="TextBox 24" id="24"/>
            <p:cNvSpPr txBox="true"/>
            <p:nvPr/>
          </p:nvSpPr>
          <p:spPr>
            <a:xfrm>
              <a:off x="0" y="-38100"/>
              <a:ext cx="2001647" cy="431800"/>
            </a:xfrm>
            <a:prstGeom prst="rect">
              <a:avLst/>
            </a:prstGeom>
          </p:spPr>
          <p:txBody>
            <a:bodyPr anchor="ctr" rtlCol="false" tIns="0" lIns="0" bIns="0" rIns="0"/>
            <a:lstStyle/>
            <a:p>
              <a:pPr algn="l">
                <a:lnSpc>
                  <a:spcPts val="2520"/>
                </a:lnSpc>
              </a:pPr>
              <a:r>
                <a:rPr lang="en-US" b="true" sz="1800">
                  <a:solidFill>
                    <a:srgbClr val="0D0F26"/>
                  </a:solidFill>
                  <a:latin typeface="JetBrains Mono Bold"/>
                  <a:ea typeface="JetBrains Mono Bold"/>
                  <a:cs typeface="JetBrains Mono Bold"/>
                  <a:sym typeface="JetBrains Mono Bold"/>
                </a:rPr>
                <a:t>render #1</a:t>
              </a:r>
            </a:p>
          </p:txBody>
        </p:sp>
      </p:grpSp>
      <p:grpSp>
        <p:nvGrpSpPr>
          <p:cNvPr name="Group 25" id="25"/>
          <p:cNvGrpSpPr/>
          <p:nvPr/>
        </p:nvGrpSpPr>
        <p:grpSpPr>
          <a:xfrm rot="0">
            <a:off x="1409795" y="5629275"/>
            <a:ext cx="3638550" cy="600075"/>
            <a:chOff x="0" y="0"/>
            <a:chExt cx="4851400" cy="800100"/>
          </a:xfrm>
        </p:grpSpPr>
        <p:sp>
          <p:nvSpPr>
            <p:cNvPr name="Freeform 26" id="26"/>
            <p:cNvSpPr/>
            <p:nvPr/>
          </p:nvSpPr>
          <p:spPr>
            <a:xfrm flipH="false" flipV="false" rot="0">
              <a:off x="0" y="0"/>
              <a:ext cx="4851400" cy="800100"/>
            </a:xfrm>
            <a:custGeom>
              <a:avLst/>
              <a:gdLst/>
              <a:ahLst/>
              <a:cxnLst/>
              <a:rect r="r" b="b" t="t" l="l"/>
              <a:pathLst>
                <a:path h="800100" w="4851400">
                  <a:moveTo>
                    <a:pt x="0" y="0"/>
                  </a:moveTo>
                  <a:lnTo>
                    <a:pt x="4851400" y="0"/>
                  </a:lnTo>
                  <a:lnTo>
                    <a:pt x="4851400" y="800100"/>
                  </a:lnTo>
                  <a:lnTo>
                    <a:pt x="0" y="800100"/>
                  </a:lnTo>
                  <a:lnTo>
                    <a:pt x="0" y="0"/>
                  </a:lnTo>
                  <a:close/>
                </a:path>
              </a:pathLst>
            </a:custGeom>
            <a:solidFill>
              <a:srgbClr val="C8CEF5"/>
            </a:solidFill>
          </p:spPr>
        </p:sp>
        <p:sp>
          <p:nvSpPr>
            <p:cNvPr name="TextBox 27" id="27"/>
            <p:cNvSpPr txBox="true"/>
            <p:nvPr/>
          </p:nvSpPr>
          <p:spPr>
            <a:xfrm>
              <a:off x="0" y="-38100"/>
              <a:ext cx="4851400" cy="838200"/>
            </a:xfrm>
            <a:prstGeom prst="rect">
              <a:avLst/>
            </a:prstGeom>
          </p:spPr>
          <p:txBody>
            <a:bodyPr anchor="ctr" rtlCol="false" tIns="178816" lIns="178816" bIns="178816" rIns="178816"/>
            <a:lstStyle/>
            <a:p>
              <a:pPr algn="l">
                <a:lnSpc>
                  <a:spcPts val="2729"/>
                </a:lnSpc>
              </a:pPr>
              <a:r>
                <a:rPr lang="en-US" sz="1950">
                  <a:solidFill>
                    <a:srgbClr val="0D0F26"/>
                  </a:solidFill>
                  <a:latin typeface="JetBrains Mono"/>
                  <a:ea typeface="JetBrains Mono"/>
                  <a:cs typeface="JetBrains Mono"/>
                  <a:sym typeface="JetBrains Mono"/>
                </a:rPr>
                <a:t>expensiveCalc(items)</a:t>
              </a:r>
            </a:p>
          </p:txBody>
        </p:sp>
      </p:grpSp>
      <p:sp>
        <p:nvSpPr>
          <p:cNvPr name="AutoShape 28" id="28"/>
          <p:cNvSpPr/>
          <p:nvPr/>
        </p:nvSpPr>
        <p:spPr>
          <a:xfrm rot="0">
            <a:off x="9677400" y="5305425"/>
            <a:ext cx="7467600" cy="2798445"/>
          </a:xfrm>
          <a:prstGeom prst="rect">
            <a:avLst/>
          </a:prstGeom>
          <a:solidFill>
            <a:srgbClr val="FFFFFF"/>
          </a:solidFill>
          <a:ln w="19050" cap="sq">
            <a:solidFill>
              <a:srgbClr val="0D0F26"/>
            </a:solidFill>
            <a:prstDash val="solid"/>
            <a:miter/>
          </a:ln>
        </p:spPr>
      </p:sp>
      <p:sp>
        <p:nvSpPr>
          <p:cNvPr name="TextBox 29" id="29"/>
          <p:cNvSpPr txBox="true"/>
          <p:nvPr/>
        </p:nvSpPr>
        <p:spPr>
          <a:xfrm rot="0">
            <a:off x="10267950" y="6467475"/>
            <a:ext cx="212693" cy="18859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a:t>
            </a:r>
          </a:p>
        </p:txBody>
      </p:sp>
      <p:sp>
        <p:nvSpPr>
          <p:cNvPr name="AutoShape 30" id="30"/>
          <p:cNvSpPr/>
          <p:nvPr/>
        </p:nvSpPr>
        <p:spPr>
          <a:xfrm rot="0">
            <a:off x="10001250" y="6808470"/>
            <a:ext cx="2530412" cy="561975"/>
          </a:xfrm>
          <a:prstGeom prst="rect">
            <a:avLst/>
          </a:prstGeom>
          <a:solidFill>
            <a:srgbClr val="0D0F26"/>
          </a:solidFill>
        </p:spPr>
      </p:sp>
      <p:sp>
        <p:nvSpPr>
          <p:cNvPr name="TextBox 31" id="31"/>
          <p:cNvSpPr txBox="true"/>
          <p:nvPr/>
        </p:nvSpPr>
        <p:spPr>
          <a:xfrm rot="0">
            <a:off x="10191750" y="6903720"/>
            <a:ext cx="731615" cy="333375"/>
          </a:xfrm>
          <a:prstGeom prst="rect">
            <a:avLst/>
          </a:prstGeom>
        </p:spPr>
        <p:txBody>
          <a:bodyPr anchor="t" rtlCol="false" tIns="0" lIns="0" bIns="0" rIns="0">
            <a:spAutoFit/>
          </a:bodyPr>
          <a:lstStyle/>
          <a:p>
            <a:pPr algn="l">
              <a:lnSpc>
                <a:spcPts val="2520"/>
              </a:lnSpc>
            </a:pPr>
            <a:r>
              <a:rPr lang="en-US" sz="1800" spc="72">
                <a:gradFill>
                  <a:gsLst>
                    <a:gs pos="0">
                      <a:srgbClr val="FFFFFF">
                        <a:alpha val="55000"/>
                      </a:srgbClr>
                    </a:gs>
                    <a:gs pos="100000">
                      <a:srgbClr val="FFFFFF">
                        <a:alpha val="55000"/>
                      </a:srgbClr>
                    </a:gs>
                  </a:gsLst>
                  <a:lin ang="16200000"/>
                </a:gradFill>
                <a:latin typeface="JetBrains Mono"/>
                <a:ea typeface="JetBrains Mono"/>
                <a:cs typeface="JetBrains Mono"/>
                <a:sym typeface="JetBrains Mono"/>
              </a:rPr>
              <a:t>VALUE</a:t>
            </a:r>
          </a:p>
        </p:txBody>
      </p:sp>
      <p:sp>
        <p:nvSpPr>
          <p:cNvPr name="TextBox 32" id="32"/>
          <p:cNvSpPr txBox="true"/>
          <p:nvPr/>
        </p:nvSpPr>
        <p:spPr>
          <a:xfrm rot="0">
            <a:off x="11075765" y="6884670"/>
            <a:ext cx="1265301" cy="371475"/>
          </a:xfrm>
          <a:prstGeom prst="rect">
            <a:avLst/>
          </a:prstGeom>
        </p:spPr>
        <p:txBody>
          <a:bodyPr anchor="t" rtlCol="false" tIns="0" lIns="0" bIns="0" rIns="0">
            <a:spAutoFit/>
          </a:bodyPr>
          <a:lstStyle/>
          <a:p>
            <a:pPr algn="l">
              <a:lnSpc>
                <a:spcPts val="2729"/>
              </a:lnSpc>
            </a:pPr>
            <a:r>
              <a:rPr lang="en-US" sz="1950">
                <a:solidFill>
                  <a:srgbClr val="FFFFFF"/>
                </a:solidFill>
                <a:latin typeface="JetBrains Mono"/>
                <a:ea typeface="JetBrains Mono"/>
                <a:cs typeface="JetBrains Mono"/>
                <a:sym typeface="JetBrains Mono"/>
              </a:rPr>
              <a:t>0x7a4f</a:t>
            </a:r>
          </a:p>
        </p:txBody>
      </p:sp>
      <p:sp>
        <p:nvSpPr>
          <p:cNvPr name="TextBox 33" id="33"/>
          <p:cNvSpPr txBox="true"/>
          <p:nvPr/>
        </p:nvSpPr>
        <p:spPr>
          <a:xfrm rot="0">
            <a:off x="10001250" y="7541895"/>
            <a:ext cx="5601557" cy="314325"/>
          </a:xfrm>
          <a:prstGeom prst="rect">
            <a:avLst/>
          </a:prstGeom>
        </p:spPr>
        <p:txBody>
          <a:bodyPr anchor="t" rtlCol="false" tIns="0" lIns="0" bIns="0" rIns="0">
            <a:spAutoFit/>
          </a:bodyPr>
          <a:lstStyle/>
          <a:p>
            <a:pPr algn="l">
              <a:lnSpc>
                <a:spcPts val="2520"/>
              </a:lnSpc>
            </a:pPr>
            <a:r>
              <a:rPr lang="en-US" sz="1800" i="true" spc="18">
                <a:gradFill>
                  <a:gsLst>
                    <a:gs pos="0">
                      <a:srgbClr val="0D0F26">
                        <a:alpha val="55000"/>
                      </a:srgbClr>
                    </a:gs>
                    <a:gs pos="100000">
                      <a:srgbClr val="0D0F26">
                        <a:alpha val="55000"/>
                      </a:srgbClr>
                    </a:gs>
                  </a:gsLst>
                  <a:lin ang="16200000"/>
                </a:gradFill>
                <a:latin typeface="Inter Italics"/>
                <a:ea typeface="Inter Italics"/>
                <a:cs typeface="Inter Italics"/>
                <a:sym typeface="Inter Italics"/>
              </a:rPr>
              <a:t>deps unchanged → cached value, same reference.</a:t>
            </a:r>
          </a:p>
        </p:txBody>
      </p:sp>
      <p:grpSp>
        <p:nvGrpSpPr>
          <p:cNvPr name="Group 34" id="34"/>
          <p:cNvGrpSpPr/>
          <p:nvPr/>
        </p:nvGrpSpPr>
        <p:grpSpPr>
          <a:xfrm rot="0">
            <a:off x="9925050" y="5172075"/>
            <a:ext cx="1501235" cy="295275"/>
            <a:chOff x="0" y="0"/>
            <a:chExt cx="2001647" cy="393700"/>
          </a:xfrm>
        </p:grpSpPr>
        <p:sp>
          <p:nvSpPr>
            <p:cNvPr name="Freeform 35" id="35"/>
            <p:cNvSpPr/>
            <p:nvPr/>
          </p:nvSpPr>
          <p:spPr>
            <a:xfrm flipH="false" flipV="false" rot="0">
              <a:off x="0" y="0"/>
              <a:ext cx="2001647" cy="393700"/>
            </a:xfrm>
            <a:custGeom>
              <a:avLst/>
              <a:gdLst/>
              <a:ahLst/>
              <a:cxnLst/>
              <a:rect r="r" b="b" t="t" l="l"/>
              <a:pathLst>
                <a:path h="393700" w="2001647">
                  <a:moveTo>
                    <a:pt x="0" y="0"/>
                  </a:moveTo>
                  <a:lnTo>
                    <a:pt x="2001647" y="0"/>
                  </a:lnTo>
                  <a:lnTo>
                    <a:pt x="2001647" y="393700"/>
                  </a:lnTo>
                  <a:lnTo>
                    <a:pt x="0" y="393700"/>
                  </a:lnTo>
                  <a:lnTo>
                    <a:pt x="0" y="0"/>
                  </a:lnTo>
                  <a:close/>
                </a:path>
              </a:pathLst>
            </a:custGeom>
            <a:solidFill>
              <a:srgbClr val="FFFFFF"/>
            </a:solidFill>
          </p:spPr>
        </p:sp>
        <p:sp>
          <p:nvSpPr>
            <p:cNvPr name="TextBox 36" id="36"/>
            <p:cNvSpPr txBox="true"/>
            <p:nvPr/>
          </p:nvSpPr>
          <p:spPr>
            <a:xfrm>
              <a:off x="0" y="-38100"/>
              <a:ext cx="2001647" cy="431800"/>
            </a:xfrm>
            <a:prstGeom prst="rect">
              <a:avLst/>
            </a:prstGeom>
          </p:spPr>
          <p:txBody>
            <a:bodyPr anchor="ctr" rtlCol="false" tIns="0" lIns="0" bIns="0" rIns="0"/>
            <a:lstStyle/>
            <a:p>
              <a:pPr algn="l">
                <a:lnSpc>
                  <a:spcPts val="2520"/>
                </a:lnSpc>
              </a:pPr>
              <a:r>
                <a:rPr lang="en-US" b="true" sz="1800">
                  <a:solidFill>
                    <a:srgbClr val="0D0F26"/>
                  </a:solidFill>
                  <a:latin typeface="JetBrains Mono Bold"/>
                  <a:ea typeface="JetBrains Mono Bold"/>
                  <a:cs typeface="JetBrains Mono Bold"/>
                  <a:sym typeface="JetBrains Mono Bold"/>
                </a:rPr>
                <a:t>render #1</a:t>
              </a:r>
            </a:p>
          </p:txBody>
        </p:sp>
      </p:grpSp>
      <p:grpSp>
        <p:nvGrpSpPr>
          <p:cNvPr name="Group 37" id="37"/>
          <p:cNvGrpSpPr/>
          <p:nvPr/>
        </p:nvGrpSpPr>
        <p:grpSpPr>
          <a:xfrm rot="0">
            <a:off x="10001345" y="5629275"/>
            <a:ext cx="6586482" cy="618554"/>
            <a:chOff x="0" y="0"/>
            <a:chExt cx="8781977" cy="824738"/>
          </a:xfrm>
        </p:grpSpPr>
        <p:sp>
          <p:nvSpPr>
            <p:cNvPr name="Freeform 38" id="38"/>
            <p:cNvSpPr/>
            <p:nvPr/>
          </p:nvSpPr>
          <p:spPr>
            <a:xfrm flipH="false" flipV="false" rot="0">
              <a:off x="0" y="0"/>
              <a:ext cx="8781976" cy="824738"/>
            </a:xfrm>
            <a:custGeom>
              <a:avLst/>
              <a:gdLst/>
              <a:ahLst/>
              <a:cxnLst/>
              <a:rect r="r" b="b" t="t" l="l"/>
              <a:pathLst>
                <a:path h="824738" w="8781976">
                  <a:moveTo>
                    <a:pt x="0" y="0"/>
                  </a:moveTo>
                  <a:lnTo>
                    <a:pt x="8781976" y="0"/>
                  </a:lnTo>
                  <a:lnTo>
                    <a:pt x="8781976" y="824738"/>
                  </a:lnTo>
                  <a:lnTo>
                    <a:pt x="0" y="824738"/>
                  </a:lnTo>
                  <a:lnTo>
                    <a:pt x="0" y="0"/>
                  </a:lnTo>
                  <a:close/>
                </a:path>
              </a:pathLst>
            </a:custGeom>
            <a:solidFill>
              <a:srgbClr val="C8CEF5"/>
            </a:solidFill>
          </p:spPr>
        </p:sp>
        <p:sp>
          <p:nvSpPr>
            <p:cNvPr name="TextBox 39" id="39"/>
            <p:cNvSpPr txBox="true"/>
            <p:nvPr/>
          </p:nvSpPr>
          <p:spPr>
            <a:xfrm>
              <a:off x="0" y="-38100"/>
              <a:ext cx="8781977" cy="862838"/>
            </a:xfrm>
            <a:prstGeom prst="rect">
              <a:avLst/>
            </a:prstGeom>
          </p:spPr>
          <p:txBody>
            <a:bodyPr anchor="ctr" rtlCol="false" tIns="178816" lIns="178816" bIns="178816" rIns="178816"/>
            <a:lstStyle/>
            <a:p>
              <a:pPr algn="l">
                <a:lnSpc>
                  <a:spcPts val="2729"/>
                </a:lnSpc>
              </a:pPr>
              <a:r>
                <a:rPr lang="en-US" sz="1950">
                  <a:solidFill>
                    <a:srgbClr val="0D0F26"/>
                  </a:solidFill>
                  <a:latin typeface="JetBrains Mono"/>
                  <a:ea typeface="JetBrains Mono"/>
                  <a:cs typeface="JetBrains Mono"/>
                  <a:sym typeface="JetBrains Mono"/>
                </a:rPr>
                <a:t>useMemo(</a:t>
              </a:r>
              <a:r>
                <a:rPr lang="en-US" sz="1950">
                  <a:solidFill>
                    <a:srgbClr val="0D0F26"/>
                  </a:solidFill>
                  <a:latin typeface="JetBrains Mono"/>
                  <a:ea typeface="JetBrains Mono"/>
                  <a:cs typeface="JetBrains Mono"/>
                  <a:sym typeface="JetBrains Mono"/>
                </a:rPr>
                <a:t>expensiveCalc(items), [deps])</a:t>
              </a: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356997" y="833438"/>
            <a:ext cx="788003"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15 / 26</a:t>
            </a:r>
          </a:p>
        </p:txBody>
      </p:sp>
      <p:sp>
        <p:nvSpPr>
          <p:cNvPr name="TextBox 5" id="5"/>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TOOL 02 · USEMEMO</a:t>
            </a:r>
          </a:p>
        </p:txBody>
      </p:sp>
      <p:sp>
        <p:nvSpPr>
          <p:cNvPr name="AutoShape 6" id="6"/>
          <p:cNvSpPr/>
          <p:nvPr/>
        </p:nvSpPr>
        <p:spPr>
          <a:xfrm rot="0">
            <a:off x="6809042" y="2257425"/>
            <a:ext cx="3209354" cy="14573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628900"/>
            <a:ext cx="16002000" cy="904875"/>
          </a:xfrm>
          <a:prstGeom prst="rect">
            <a:avLst/>
          </a:prstGeom>
        </p:spPr>
        <p:txBody>
          <a:bodyPr anchor="t" rtlCol="false" tIns="0" lIns="0" bIns="0" rIns="0">
            <a:spAutoFit/>
          </a:bodyPr>
          <a:lstStyle/>
          <a:p>
            <a:pPr algn="l">
              <a:lnSpc>
                <a:spcPts val="8550"/>
              </a:lnSpc>
            </a:pPr>
            <a:r>
              <a:rPr lang="en-US" b="true" sz="9000" spc="-179">
                <a:solidFill>
                  <a:srgbClr val="0D0F26"/>
                </a:solidFill>
                <a:latin typeface="Arimo Bold"/>
                <a:ea typeface="Arimo Bold"/>
                <a:cs typeface="Arimo Bold"/>
                <a:sym typeface="Arimo Bold"/>
              </a:rPr>
              <a:t>Cache the value.</a:t>
            </a:r>
          </a:p>
        </p:txBody>
      </p:sp>
      <p:sp>
        <p:nvSpPr>
          <p:cNvPr name="AutoShape 8" id="8"/>
          <p:cNvSpPr/>
          <p:nvPr/>
        </p:nvSpPr>
        <p:spPr>
          <a:xfrm rot="0">
            <a:off x="1143000" y="3838575"/>
            <a:ext cx="16002000" cy="9525"/>
          </a:xfrm>
          <a:prstGeom prst="rect">
            <a:avLst/>
          </a:prstGeom>
          <a:solidFill>
            <a:srgbClr val="0D0F26"/>
          </a:solidFill>
        </p:spPr>
      </p:sp>
      <p:sp>
        <p:nvSpPr>
          <p:cNvPr name="AutoShape 9" id="9"/>
          <p:cNvSpPr/>
          <p:nvPr/>
        </p:nvSpPr>
        <p:spPr>
          <a:xfrm rot="0">
            <a:off x="9134475" y="3848100"/>
            <a:ext cx="9525" cy="4514850"/>
          </a:xfrm>
          <a:prstGeom prst="rect">
            <a:avLst/>
          </a:prstGeom>
          <a:solidFill>
            <a:srgbClr val="0D0F26"/>
          </a:solidFill>
        </p:spPr>
      </p:sp>
      <p:sp>
        <p:nvSpPr>
          <p:cNvPr name="TextBox 10" id="10"/>
          <p:cNvSpPr txBox="true"/>
          <p:nvPr/>
        </p:nvSpPr>
        <p:spPr>
          <a:xfrm rot="0">
            <a:off x="1143000" y="4191000"/>
            <a:ext cx="7458075" cy="356235"/>
          </a:xfrm>
          <a:prstGeom prst="rect">
            <a:avLst/>
          </a:prstGeom>
        </p:spPr>
        <p:txBody>
          <a:bodyPr anchor="t" rtlCol="false" tIns="0" lIns="0" bIns="0" rIns="0">
            <a:spAutoFit/>
          </a:bodyPr>
          <a:lstStyle/>
          <a:p>
            <a:pPr algn="l">
              <a:lnSpc>
                <a:spcPts val="2940"/>
              </a:lnSpc>
            </a:pPr>
            <a:r>
              <a:rPr lang="en-US" b="true" sz="2100">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WITHOUT </a:t>
            </a:r>
            <a:r>
              <a:rPr lang="en-US" b="true" sz="2100">
                <a:solidFill>
                  <a:srgbClr val="0D0F26"/>
                </a:solidFill>
                <a:latin typeface="Inter Bold"/>
                <a:ea typeface="Inter Bold"/>
                <a:cs typeface="Inter Bold"/>
                <a:sym typeface="Inter Bold"/>
              </a:rPr>
              <a:t>useMemo</a:t>
            </a:r>
          </a:p>
        </p:txBody>
      </p:sp>
      <p:sp>
        <p:nvSpPr>
          <p:cNvPr name="AutoShape 11" id="11"/>
          <p:cNvSpPr/>
          <p:nvPr/>
        </p:nvSpPr>
        <p:spPr>
          <a:xfrm rot="0">
            <a:off x="10504456" y="4229100"/>
            <a:ext cx="1173480" cy="3524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12" id="12"/>
          <p:cNvSpPr txBox="true"/>
          <p:nvPr/>
        </p:nvSpPr>
        <p:spPr>
          <a:xfrm rot="0">
            <a:off x="9677400" y="4191000"/>
            <a:ext cx="7467600" cy="356235"/>
          </a:xfrm>
          <a:prstGeom prst="rect">
            <a:avLst/>
          </a:prstGeom>
        </p:spPr>
        <p:txBody>
          <a:bodyPr anchor="t" rtlCol="false" tIns="0" lIns="0" bIns="0" rIns="0">
            <a:spAutoFit/>
          </a:bodyPr>
          <a:lstStyle/>
          <a:p>
            <a:pPr algn="l">
              <a:lnSpc>
                <a:spcPts val="2940"/>
              </a:lnSpc>
            </a:pPr>
            <a:r>
              <a:rPr lang="en-US" b="true" sz="2100">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 </a:t>
            </a:r>
            <a:r>
              <a:rPr lang="en-US" b="true" sz="2100">
                <a:solidFill>
                  <a:srgbClr val="0D0F26"/>
                </a:solidFill>
                <a:latin typeface="Inter Bold"/>
                <a:ea typeface="Inter Bold"/>
                <a:cs typeface="Inter Bold"/>
                <a:sym typeface="Inter Bold"/>
              </a:rPr>
              <a:t>useMemo</a:t>
            </a:r>
          </a:p>
        </p:txBody>
      </p:sp>
      <p:sp>
        <p:nvSpPr>
          <p:cNvPr name="AutoShape 13" id="13"/>
          <p:cNvSpPr/>
          <p:nvPr/>
        </p:nvSpPr>
        <p:spPr>
          <a:xfrm rot="0">
            <a:off x="1143000" y="8896350"/>
            <a:ext cx="16002000" cy="9525"/>
          </a:xfrm>
          <a:prstGeom prst="rect">
            <a:avLst/>
          </a:prstGeom>
          <a:solidFill>
            <a:srgbClr val="0D0F26"/>
          </a:solidFill>
        </p:spPr>
      </p:sp>
      <p:sp>
        <p:nvSpPr>
          <p:cNvPr name="TextBox 14" id="14"/>
          <p:cNvSpPr txBox="true"/>
          <p:nvPr/>
        </p:nvSpPr>
        <p:spPr>
          <a:xfrm rot="0">
            <a:off x="1143000" y="9134475"/>
            <a:ext cx="23616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02 · MEMOIZE</a:t>
            </a:r>
          </a:p>
        </p:txBody>
      </p:sp>
      <p:sp>
        <p:nvSpPr>
          <p:cNvPr name="TextBox 15" id="15"/>
          <p:cNvSpPr txBox="true"/>
          <p:nvPr/>
        </p:nvSpPr>
        <p:spPr>
          <a:xfrm rot="0">
            <a:off x="11119104" y="9134475"/>
            <a:ext cx="6025896"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STABILIZES A REFERENCE FOR MEMO'D CHILDREN</a:t>
            </a:r>
          </a:p>
        </p:txBody>
      </p:sp>
      <p:sp>
        <p:nvSpPr>
          <p:cNvPr name="AutoShape 16" id="16"/>
          <p:cNvSpPr/>
          <p:nvPr/>
        </p:nvSpPr>
        <p:spPr>
          <a:xfrm rot="0">
            <a:off x="1085850" y="5305425"/>
            <a:ext cx="7458075" cy="2798445"/>
          </a:xfrm>
          <a:prstGeom prst="rect">
            <a:avLst/>
          </a:prstGeom>
          <a:solidFill>
            <a:srgbClr val="FFFFFF"/>
          </a:solidFill>
          <a:ln w="19050" cap="sq">
            <a:solidFill>
              <a:srgbClr val="0D0F26"/>
            </a:solidFill>
            <a:prstDash val="solid"/>
            <a:miter/>
          </a:ln>
        </p:spPr>
      </p:sp>
      <p:sp>
        <p:nvSpPr>
          <p:cNvPr name="TextBox 17" id="17"/>
          <p:cNvSpPr txBox="true"/>
          <p:nvPr/>
        </p:nvSpPr>
        <p:spPr>
          <a:xfrm rot="0">
            <a:off x="1676400" y="6467475"/>
            <a:ext cx="212693" cy="18859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a:t>
            </a:r>
          </a:p>
        </p:txBody>
      </p:sp>
      <p:sp>
        <p:nvSpPr>
          <p:cNvPr name="AutoShape 18" id="18"/>
          <p:cNvSpPr/>
          <p:nvPr/>
        </p:nvSpPr>
        <p:spPr>
          <a:xfrm rot="0">
            <a:off x="1411700" y="6808470"/>
            <a:ext cx="2152650" cy="561975"/>
          </a:xfrm>
          <a:prstGeom prst="rect">
            <a:avLst/>
          </a:prstGeom>
          <a:solidFill>
            <a:srgbClr val="0D0F26"/>
          </a:solidFill>
        </p:spPr>
      </p:sp>
      <p:sp>
        <p:nvSpPr>
          <p:cNvPr name="TextBox 19" id="19"/>
          <p:cNvSpPr txBox="true"/>
          <p:nvPr/>
        </p:nvSpPr>
        <p:spPr>
          <a:xfrm rot="0">
            <a:off x="1587246" y="6903720"/>
            <a:ext cx="733425" cy="333375"/>
          </a:xfrm>
          <a:prstGeom prst="rect">
            <a:avLst/>
          </a:prstGeom>
        </p:spPr>
        <p:txBody>
          <a:bodyPr anchor="t" rtlCol="false" tIns="0" lIns="0" bIns="0" rIns="0">
            <a:spAutoFit/>
          </a:bodyPr>
          <a:lstStyle/>
          <a:p>
            <a:pPr algn="l">
              <a:lnSpc>
                <a:spcPts val="2520"/>
              </a:lnSpc>
            </a:pPr>
            <a:r>
              <a:rPr lang="en-US" sz="1800" spc="72">
                <a:gradFill>
                  <a:gsLst>
                    <a:gs pos="0">
                      <a:srgbClr val="FFFFFF">
                        <a:alpha val="55000"/>
                      </a:srgbClr>
                    </a:gs>
                    <a:gs pos="100000">
                      <a:srgbClr val="FFFFFF">
                        <a:alpha val="55000"/>
                      </a:srgbClr>
                    </a:gs>
                  </a:gsLst>
                  <a:lin ang="16200000"/>
                </a:gradFill>
                <a:latin typeface="JetBrains Mono"/>
                <a:ea typeface="JetBrains Mono"/>
                <a:cs typeface="JetBrains Mono"/>
                <a:sym typeface="JetBrains Mono"/>
              </a:rPr>
              <a:t>VALUE</a:t>
            </a:r>
          </a:p>
        </p:txBody>
      </p:sp>
      <p:sp>
        <p:nvSpPr>
          <p:cNvPr name="TextBox 20" id="20"/>
          <p:cNvSpPr txBox="true"/>
          <p:nvPr/>
        </p:nvSpPr>
        <p:spPr>
          <a:xfrm rot="0">
            <a:off x="2492597" y="6884670"/>
            <a:ext cx="895350" cy="371475"/>
          </a:xfrm>
          <a:prstGeom prst="rect">
            <a:avLst/>
          </a:prstGeom>
        </p:spPr>
        <p:txBody>
          <a:bodyPr anchor="t" rtlCol="false" tIns="0" lIns="0" bIns="0" rIns="0">
            <a:spAutoFit/>
          </a:bodyPr>
          <a:lstStyle/>
          <a:p>
            <a:pPr algn="l">
              <a:lnSpc>
                <a:spcPts val="2729"/>
              </a:lnSpc>
            </a:pPr>
            <a:r>
              <a:rPr lang="en-US" sz="1950">
                <a:solidFill>
                  <a:srgbClr val="FFFFFF"/>
                </a:solidFill>
                <a:latin typeface="JetBrains Mono"/>
                <a:ea typeface="JetBrains Mono"/>
                <a:cs typeface="JetBrains Mono"/>
                <a:sym typeface="JetBrains Mono"/>
              </a:rPr>
              <a:t>0x67ba</a:t>
            </a:r>
          </a:p>
        </p:txBody>
      </p:sp>
      <p:sp>
        <p:nvSpPr>
          <p:cNvPr name="TextBox 21" id="21"/>
          <p:cNvSpPr txBox="true"/>
          <p:nvPr/>
        </p:nvSpPr>
        <p:spPr>
          <a:xfrm rot="0">
            <a:off x="1409700" y="7541895"/>
            <a:ext cx="5963221" cy="314325"/>
          </a:xfrm>
          <a:prstGeom prst="rect">
            <a:avLst/>
          </a:prstGeom>
        </p:spPr>
        <p:txBody>
          <a:bodyPr anchor="t" rtlCol="false" tIns="0" lIns="0" bIns="0" rIns="0">
            <a:spAutoFit/>
          </a:bodyPr>
          <a:lstStyle/>
          <a:p>
            <a:pPr algn="l">
              <a:lnSpc>
                <a:spcPts val="2520"/>
              </a:lnSpc>
            </a:pPr>
            <a:r>
              <a:rPr lang="en-US" sz="1800" i="true" spc="18">
                <a:gradFill>
                  <a:gsLst>
                    <a:gs pos="0">
                      <a:srgbClr val="0D0F26">
                        <a:alpha val="55000"/>
                      </a:srgbClr>
                    </a:gs>
                    <a:gs pos="100000">
                      <a:srgbClr val="0D0F26">
                        <a:alpha val="55000"/>
                      </a:srgbClr>
                    </a:gs>
                  </a:gsLst>
                  <a:lin ang="16200000"/>
                </a:gradFill>
                <a:latin typeface="Inter Italics"/>
                <a:ea typeface="Inter Italics"/>
                <a:cs typeface="Inter Italics"/>
                <a:sym typeface="Inter Italics"/>
              </a:rPr>
              <a:t>recomputed every render — new reference each time.</a:t>
            </a:r>
          </a:p>
        </p:txBody>
      </p:sp>
      <p:grpSp>
        <p:nvGrpSpPr>
          <p:cNvPr name="Group 22" id="22"/>
          <p:cNvGrpSpPr/>
          <p:nvPr/>
        </p:nvGrpSpPr>
        <p:grpSpPr>
          <a:xfrm rot="0">
            <a:off x="1333500" y="5155692"/>
            <a:ext cx="1501235" cy="321183"/>
            <a:chOff x="0" y="0"/>
            <a:chExt cx="2001647" cy="428244"/>
          </a:xfrm>
        </p:grpSpPr>
        <p:sp>
          <p:nvSpPr>
            <p:cNvPr name="Freeform 23" id="23"/>
            <p:cNvSpPr/>
            <p:nvPr/>
          </p:nvSpPr>
          <p:spPr>
            <a:xfrm flipH="false" flipV="false" rot="0">
              <a:off x="0" y="0"/>
              <a:ext cx="2001647" cy="428244"/>
            </a:xfrm>
            <a:custGeom>
              <a:avLst/>
              <a:gdLst/>
              <a:ahLst/>
              <a:cxnLst/>
              <a:rect r="r" b="b" t="t" l="l"/>
              <a:pathLst>
                <a:path h="428244" w="2001647">
                  <a:moveTo>
                    <a:pt x="0" y="0"/>
                  </a:moveTo>
                  <a:lnTo>
                    <a:pt x="2001647" y="0"/>
                  </a:lnTo>
                  <a:lnTo>
                    <a:pt x="2001647" y="428244"/>
                  </a:lnTo>
                  <a:lnTo>
                    <a:pt x="0" y="428244"/>
                  </a:lnTo>
                  <a:lnTo>
                    <a:pt x="0" y="0"/>
                  </a:lnTo>
                  <a:close/>
                </a:path>
              </a:pathLst>
            </a:custGeom>
            <a:solidFill>
              <a:srgbClr val="FFFFFF"/>
            </a:solidFill>
          </p:spPr>
        </p:sp>
        <p:sp>
          <p:nvSpPr>
            <p:cNvPr name="TextBox 24" id="24"/>
            <p:cNvSpPr txBox="true"/>
            <p:nvPr/>
          </p:nvSpPr>
          <p:spPr>
            <a:xfrm>
              <a:off x="0" y="-38100"/>
              <a:ext cx="2001647" cy="466344"/>
            </a:xfrm>
            <a:prstGeom prst="rect">
              <a:avLst/>
            </a:prstGeom>
          </p:spPr>
          <p:txBody>
            <a:bodyPr anchor="ctr" rtlCol="false" tIns="0" lIns="0" bIns="0" rIns="0"/>
            <a:lstStyle/>
            <a:p>
              <a:pPr algn="l">
                <a:lnSpc>
                  <a:spcPts val="2520"/>
                </a:lnSpc>
              </a:pPr>
              <a:r>
                <a:rPr lang="en-US" b="true" sz="1800">
                  <a:solidFill>
                    <a:srgbClr val="0D0F26"/>
                  </a:solidFill>
                  <a:latin typeface="JetBrains Mono Bold"/>
                  <a:ea typeface="JetBrains Mono Bold"/>
                  <a:cs typeface="JetBrains Mono Bold"/>
                  <a:sym typeface="JetBrains Mono Bold"/>
                </a:rPr>
                <a:t>render #2</a:t>
              </a:r>
            </a:p>
          </p:txBody>
        </p:sp>
      </p:grpSp>
      <p:grpSp>
        <p:nvGrpSpPr>
          <p:cNvPr name="Group 25" id="25"/>
          <p:cNvGrpSpPr/>
          <p:nvPr/>
        </p:nvGrpSpPr>
        <p:grpSpPr>
          <a:xfrm rot="0">
            <a:off x="1409795" y="5629275"/>
            <a:ext cx="3638550" cy="600075"/>
            <a:chOff x="0" y="0"/>
            <a:chExt cx="4851400" cy="800100"/>
          </a:xfrm>
        </p:grpSpPr>
        <p:sp>
          <p:nvSpPr>
            <p:cNvPr name="Freeform 26" id="26"/>
            <p:cNvSpPr/>
            <p:nvPr/>
          </p:nvSpPr>
          <p:spPr>
            <a:xfrm flipH="false" flipV="false" rot="0">
              <a:off x="0" y="0"/>
              <a:ext cx="4851400" cy="800100"/>
            </a:xfrm>
            <a:custGeom>
              <a:avLst/>
              <a:gdLst/>
              <a:ahLst/>
              <a:cxnLst/>
              <a:rect r="r" b="b" t="t" l="l"/>
              <a:pathLst>
                <a:path h="800100" w="4851400">
                  <a:moveTo>
                    <a:pt x="0" y="0"/>
                  </a:moveTo>
                  <a:lnTo>
                    <a:pt x="4851400" y="0"/>
                  </a:lnTo>
                  <a:lnTo>
                    <a:pt x="4851400" y="800100"/>
                  </a:lnTo>
                  <a:lnTo>
                    <a:pt x="0" y="800100"/>
                  </a:lnTo>
                  <a:lnTo>
                    <a:pt x="0" y="0"/>
                  </a:lnTo>
                  <a:close/>
                </a:path>
              </a:pathLst>
            </a:custGeom>
            <a:solidFill>
              <a:srgbClr val="C8CEF5"/>
            </a:solidFill>
          </p:spPr>
        </p:sp>
        <p:sp>
          <p:nvSpPr>
            <p:cNvPr name="TextBox 27" id="27"/>
            <p:cNvSpPr txBox="true"/>
            <p:nvPr/>
          </p:nvSpPr>
          <p:spPr>
            <a:xfrm>
              <a:off x="0" y="-38100"/>
              <a:ext cx="4851400" cy="838200"/>
            </a:xfrm>
            <a:prstGeom prst="rect">
              <a:avLst/>
            </a:prstGeom>
          </p:spPr>
          <p:txBody>
            <a:bodyPr anchor="ctr" rtlCol="false" tIns="178816" lIns="178816" bIns="178816" rIns="178816"/>
            <a:lstStyle/>
            <a:p>
              <a:pPr algn="l">
                <a:lnSpc>
                  <a:spcPts val="2729"/>
                </a:lnSpc>
              </a:pPr>
              <a:r>
                <a:rPr lang="en-US" sz="1950">
                  <a:solidFill>
                    <a:srgbClr val="0D0F26"/>
                  </a:solidFill>
                  <a:latin typeface="JetBrains Mono"/>
                  <a:ea typeface="JetBrains Mono"/>
                  <a:cs typeface="JetBrains Mono"/>
                  <a:sym typeface="JetBrains Mono"/>
                </a:rPr>
                <a:t>expensiveCalc(items)</a:t>
              </a:r>
            </a:p>
          </p:txBody>
        </p:sp>
      </p:grpSp>
      <p:sp>
        <p:nvSpPr>
          <p:cNvPr name="AutoShape 28" id="28"/>
          <p:cNvSpPr/>
          <p:nvPr/>
        </p:nvSpPr>
        <p:spPr>
          <a:xfrm rot="0">
            <a:off x="9677400" y="5305425"/>
            <a:ext cx="7467600" cy="2798445"/>
          </a:xfrm>
          <a:prstGeom prst="rect">
            <a:avLst/>
          </a:prstGeom>
          <a:solidFill>
            <a:srgbClr val="FFFFFF"/>
          </a:solidFill>
          <a:ln w="19050" cap="sq">
            <a:solidFill>
              <a:srgbClr val="0D0F26"/>
            </a:solidFill>
            <a:prstDash val="solid"/>
            <a:miter/>
          </a:ln>
        </p:spPr>
      </p:sp>
      <p:sp>
        <p:nvSpPr>
          <p:cNvPr name="TextBox 29" id="29"/>
          <p:cNvSpPr txBox="true"/>
          <p:nvPr/>
        </p:nvSpPr>
        <p:spPr>
          <a:xfrm rot="0">
            <a:off x="10267950" y="6467475"/>
            <a:ext cx="212693" cy="18859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a:t>
            </a:r>
          </a:p>
        </p:txBody>
      </p:sp>
      <p:sp>
        <p:nvSpPr>
          <p:cNvPr name="TextBox 30" id="30"/>
          <p:cNvSpPr txBox="true"/>
          <p:nvPr/>
        </p:nvSpPr>
        <p:spPr>
          <a:xfrm rot="0">
            <a:off x="10191750" y="6903720"/>
            <a:ext cx="731615" cy="333375"/>
          </a:xfrm>
          <a:prstGeom prst="rect">
            <a:avLst/>
          </a:prstGeom>
        </p:spPr>
        <p:txBody>
          <a:bodyPr anchor="t" rtlCol="false" tIns="0" lIns="0" bIns="0" rIns="0">
            <a:spAutoFit/>
          </a:bodyPr>
          <a:lstStyle/>
          <a:p>
            <a:pPr algn="l">
              <a:lnSpc>
                <a:spcPts val="2520"/>
              </a:lnSpc>
            </a:pPr>
            <a:r>
              <a:rPr lang="en-US" sz="1800" spc="72">
                <a:solidFill>
                  <a:srgbClr val="6C6C66"/>
                </a:solidFill>
                <a:latin typeface="JetBrains Mono"/>
                <a:ea typeface="JetBrains Mono"/>
                <a:cs typeface="JetBrains Mono"/>
                <a:sym typeface="JetBrains Mono"/>
              </a:rPr>
              <a:t>VALUE</a:t>
            </a:r>
          </a:p>
        </p:txBody>
      </p:sp>
      <p:sp>
        <p:nvSpPr>
          <p:cNvPr name="TextBox 31" id="31"/>
          <p:cNvSpPr txBox="true"/>
          <p:nvPr/>
        </p:nvSpPr>
        <p:spPr>
          <a:xfrm rot="0">
            <a:off x="11075765" y="6884670"/>
            <a:ext cx="1265301" cy="331470"/>
          </a:xfrm>
          <a:prstGeom prst="rect">
            <a:avLst/>
          </a:prstGeom>
        </p:spPr>
        <p:txBody>
          <a:bodyPr anchor="t" rtlCol="false" tIns="0" lIns="0" bIns="0" rIns="0">
            <a:spAutoFit/>
          </a:bodyPr>
          <a:lstStyle/>
          <a:p>
            <a:pPr algn="l">
              <a:lnSpc>
                <a:spcPts val="2729"/>
              </a:lnSpc>
            </a:pPr>
            <a:r>
              <a:rPr lang="en-US" sz="1950">
                <a:solidFill>
                  <a:srgbClr val="6C6C66"/>
                </a:solidFill>
                <a:latin typeface="JetBrains Mono"/>
                <a:ea typeface="JetBrains Mono"/>
                <a:cs typeface="JetBrains Mono"/>
                <a:sym typeface="JetBrains Mono"/>
              </a:rPr>
              <a:t>0x7a4f</a:t>
            </a:r>
          </a:p>
        </p:txBody>
      </p:sp>
      <p:sp>
        <p:nvSpPr>
          <p:cNvPr name="TextBox 32" id="32"/>
          <p:cNvSpPr txBox="true"/>
          <p:nvPr/>
        </p:nvSpPr>
        <p:spPr>
          <a:xfrm rot="0">
            <a:off x="10001250" y="7541895"/>
            <a:ext cx="5601557" cy="314325"/>
          </a:xfrm>
          <a:prstGeom prst="rect">
            <a:avLst/>
          </a:prstGeom>
        </p:spPr>
        <p:txBody>
          <a:bodyPr anchor="t" rtlCol="false" tIns="0" lIns="0" bIns="0" rIns="0">
            <a:spAutoFit/>
          </a:bodyPr>
          <a:lstStyle/>
          <a:p>
            <a:pPr algn="l">
              <a:lnSpc>
                <a:spcPts val="2520"/>
              </a:lnSpc>
            </a:pPr>
            <a:r>
              <a:rPr lang="en-US" sz="1800" i="true" spc="18">
                <a:gradFill>
                  <a:gsLst>
                    <a:gs pos="0">
                      <a:srgbClr val="0D0F26">
                        <a:alpha val="55000"/>
                      </a:srgbClr>
                    </a:gs>
                    <a:gs pos="100000">
                      <a:srgbClr val="0D0F26">
                        <a:alpha val="55000"/>
                      </a:srgbClr>
                    </a:gs>
                  </a:gsLst>
                  <a:lin ang="16200000"/>
                </a:gradFill>
                <a:latin typeface="Inter Italics"/>
                <a:ea typeface="Inter Italics"/>
                <a:cs typeface="Inter Italics"/>
                <a:sym typeface="Inter Italics"/>
              </a:rPr>
              <a:t>deps unchanged → cached value, same reference.</a:t>
            </a:r>
          </a:p>
        </p:txBody>
      </p:sp>
      <p:grpSp>
        <p:nvGrpSpPr>
          <p:cNvPr name="Group 33" id="33"/>
          <p:cNvGrpSpPr/>
          <p:nvPr/>
        </p:nvGrpSpPr>
        <p:grpSpPr>
          <a:xfrm rot="0">
            <a:off x="9925050" y="5155692"/>
            <a:ext cx="1501235" cy="321183"/>
            <a:chOff x="0" y="0"/>
            <a:chExt cx="2001647" cy="428244"/>
          </a:xfrm>
        </p:grpSpPr>
        <p:sp>
          <p:nvSpPr>
            <p:cNvPr name="Freeform 34" id="34"/>
            <p:cNvSpPr/>
            <p:nvPr/>
          </p:nvSpPr>
          <p:spPr>
            <a:xfrm flipH="false" flipV="false" rot="0">
              <a:off x="0" y="0"/>
              <a:ext cx="2001647" cy="428244"/>
            </a:xfrm>
            <a:custGeom>
              <a:avLst/>
              <a:gdLst/>
              <a:ahLst/>
              <a:cxnLst/>
              <a:rect r="r" b="b" t="t" l="l"/>
              <a:pathLst>
                <a:path h="428244" w="2001647">
                  <a:moveTo>
                    <a:pt x="0" y="0"/>
                  </a:moveTo>
                  <a:lnTo>
                    <a:pt x="2001647" y="0"/>
                  </a:lnTo>
                  <a:lnTo>
                    <a:pt x="2001647" y="428244"/>
                  </a:lnTo>
                  <a:lnTo>
                    <a:pt x="0" y="428244"/>
                  </a:lnTo>
                  <a:lnTo>
                    <a:pt x="0" y="0"/>
                  </a:lnTo>
                  <a:close/>
                </a:path>
              </a:pathLst>
            </a:custGeom>
            <a:solidFill>
              <a:srgbClr val="FFFFFF"/>
            </a:solidFill>
          </p:spPr>
        </p:sp>
        <p:sp>
          <p:nvSpPr>
            <p:cNvPr name="TextBox 35" id="35"/>
            <p:cNvSpPr txBox="true"/>
            <p:nvPr/>
          </p:nvSpPr>
          <p:spPr>
            <a:xfrm>
              <a:off x="0" y="-38100"/>
              <a:ext cx="2001647" cy="466344"/>
            </a:xfrm>
            <a:prstGeom prst="rect">
              <a:avLst/>
            </a:prstGeom>
          </p:spPr>
          <p:txBody>
            <a:bodyPr anchor="ctr" rtlCol="false" tIns="0" lIns="0" bIns="0" rIns="0"/>
            <a:lstStyle/>
            <a:p>
              <a:pPr algn="l">
                <a:lnSpc>
                  <a:spcPts val="2520"/>
                </a:lnSpc>
              </a:pPr>
              <a:r>
                <a:rPr lang="en-US" b="true" sz="1800">
                  <a:solidFill>
                    <a:srgbClr val="0D0F26"/>
                  </a:solidFill>
                  <a:latin typeface="JetBrains Mono Bold"/>
                  <a:ea typeface="JetBrains Mono Bold"/>
                  <a:cs typeface="JetBrains Mono Bold"/>
                  <a:sym typeface="JetBrains Mono Bold"/>
                </a:rPr>
                <a:t>render #2</a:t>
              </a:r>
            </a:p>
          </p:txBody>
        </p:sp>
      </p:grpSp>
      <p:grpSp>
        <p:nvGrpSpPr>
          <p:cNvPr name="Group 36" id="36"/>
          <p:cNvGrpSpPr/>
          <p:nvPr/>
        </p:nvGrpSpPr>
        <p:grpSpPr>
          <a:xfrm rot="0">
            <a:off x="10001345" y="5629275"/>
            <a:ext cx="6586482" cy="618554"/>
            <a:chOff x="0" y="0"/>
            <a:chExt cx="8781977" cy="824738"/>
          </a:xfrm>
        </p:grpSpPr>
        <p:sp>
          <p:nvSpPr>
            <p:cNvPr name="Freeform 37" id="37"/>
            <p:cNvSpPr/>
            <p:nvPr/>
          </p:nvSpPr>
          <p:spPr>
            <a:xfrm flipH="false" flipV="false" rot="0">
              <a:off x="0" y="0"/>
              <a:ext cx="8781976" cy="824738"/>
            </a:xfrm>
            <a:custGeom>
              <a:avLst/>
              <a:gdLst/>
              <a:ahLst/>
              <a:cxnLst/>
              <a:rect r="r" b="b" t="t" l="l"/>
              <a:pathLst>
                <a:path h="824738" w="8781976">
                  <a:moveTo>
                    <a:pt x="0" y="0"/>
                  </a:moveTo>
                  <a:lnTo>
                    <a:pt x="8781976" y="0"/>
                  </a:lnTo>
                  <a:lnTo>
                    <a:pt x="8781976" y="824738"/>
                  </a:lnTo>
                  <a:lnTo>
                    <a:pt x="0" y="824738"/>
                  </a:lnTo>
                  <a:lnTo>
                    <a:pt x="0" y="0"/>
                  </a:lnTo>
                  <a:close/>
                </a:path>
              </a:pathLst>
            </a:custGeom>
            <a:solidFill>
              <a:srgbClr val="C8CEF5"/>
            </a:solidFill>
          </p:spPr>
        </p:sp>
        <p:sp>
          <p:nvSpPr>
            <p:cNvPr name="TextBox 38" id="38"/>
            <p:cNvSpPr txBox="true"/>
            <p:nvPr/>
          </p:nvSpPr>
          <p:spPr>
            <a:xfrm>
              <a:off x="0" y="-38100"/>
              <a:ext cx="8781977" cy="862838"/>
            </a:xfrm>
            <a:prstGeom prst="rect">
              <a:avLst/>
            </a:prstGeom>
          </p:spPr>
          <p:txBody>
            <a:bodyPr anchor="ctr" rtlCol="false" tIns="178816" lIns="178816" bIns="178816" rIns="178816"/>
            <a:lstStyle/>
            <a:p>
              <a:pPr algn="l">
                <a:lnSpc>
                  <a:spcPts val="2729"/>
                </a:lnSpc>
              </a:pPr>
              <a:r>
                <a:rPr lang="en-US" sz="1950">
                  <a:solidFill>
                    <a:srgbClr val="0D0F26"/>
                  </a:solidFill>
                  <a:latin typeface="JetBrains Mono"/>
                  <a:ea typeface="JetBrains Mono"/>
                  <a:cs typeface="JetBrains Mono"/>
                  <a:sym typeface="JetBrains Mono"/>
                </a:rPr>
                <a:t>useMemo(</a:t>
              </a:r>
              <a:r>
                <a:rPr lang="en-US" sz="1950">
                  <a:solidFill>
                    <a:srgbClr val="0D0F26"/>
                  </a:solidFill>
                  <a:latin typeface="JetBrains Mono"/>
                  <a:ea typeface="JetBrains Mono"/>
                  <a:cs typeface="JetBrains Mono"/>
                  <a:sym typeface="JetBrains Mono"/>
                </a:rPr>
                <a:t>expensiveCalc(items), [deps])</a:t>
              </a:r>
            </a:p>
          </p:txBody>
        </p:sp>
      </p:grpSp>
      <p:grpSp>
        <p:nvGrpSpPr>
          <p:cNvPr name="Group 39" id="39"/>
          <p:cNvGrpSpPr/>
          <p:nvPr/>
        </p:nvGrpSpPr>
        <p:grpSpPr>
          <a:xfrm rot="0">
            <a:off x="10001250" y="6789420"/>
            <a:ext cx="2339816" cy="581025"/>
            <a:chOff x="0" y="0"/>
            <a:chExt cx="3119755" cy="774700"/>
          </a:xfrm>
        </p:grpSpPr>
        <p:sp>
          <p:nvSpPr>
            <p:cNvPr name="Freeform 40" id="40"/>
            <p:cNvSpPr/>
            <p:nvPr/>
          </p:nvSpPr>
          <p:spPr>
            <a:xfrm flipH="false" flipV="false" rot="0">
              <a:off x="0" y="0"/>
              <a:ext cx="3119755" cy="774700"/>
            </a:xfrm>
            <a:custGeom>
              <a:avLst/>
              <a:gdLst/>
              <a:ahLst/>
              <a:cxnLst/>
              <a:rect r="r" b="b" t="t" l="l"/>
              <a:pathLst>
                <a:path h="774700" w="3119755">
                  <a:moveTo>
                    <a:pt x="0" y="0"/>
                  </a:moveTo>
                  <a:lnTo>
                    <a:pt x="3119755" y="0"/>
                  </a:lnTo>
                  <a:lnTo>
                    <a:pt x="3119755" y="774700"/>
                  </a:lnTo>
                  <a:lnTo>
                    <a:pt x="0" y="774700"/>
                  </a:lnTo>
                  <a:lnTo>
                    <a:pt x="0" y="0"/>
                  </a:lnTo>
                  <a:close/>
                </a:path>
              </a:pathLst>
            </a:custGeom>
            <a:solidFill>
              <a:srgbClr val="000000">
                <a:alpha val="0"/>
              </a:srgbClr>
            </a:solidFill>
            <a:ln w="19050" cap="sq">
              <a:solidFill>
                <a:srgbClr val="0D0F26"/>
              </a:solidFill>
              <a:prstDash val="dash"/>
              <a:miter/>
            </a:ln>
          </p:spPr>
        </p:sp>
        <p:sp>
          <p:nvSpPr>
            <p:cNvPr name="TextBox 41" id="41"/>
            <p:cNvSpPr txBox="true"/>
            <p:nvPr/>
          </p:nvSpPr>
          <p:spPr>
            <a:xfrm>
              <a:off x="0" y="-38100"/>
              <a:ext cx="3119755" cy="812800"/>
            </a:xfrm>
            <a:prstGeom prst="rect">
              <a:avLst/>
            </a:prstGeom>
          </p:spPr>
          <p:txBody>
            <a:bodyPr anchor="ctr" rtlCol="false" tIns="228600" lIns="228600" bIns="228600" rIns="228600"/>
            <a:lstStyle/>
            <a:p>
              <a:pPr algn="l">
                <a:lnSpc>
                  <a:spcPts val="2520"/>
                </a:lnSpc>
              </a:pPr>
            </a:p>
          </p:txBody>
        </p:sp>
      </p:grpSp>
      <p:sp>
        <p:nvSpPr>
          <p:cNvPr name="AutoShape 42" id="42"/>
          <p:cNvSpPr/>
          <p:nvPr/>
        </p:nvSpPr>
        <p:spPr>
          <a:xfrm rot="0">
            <a:off x="11296936" y="6694170"/>
            <a:ext cx="411480" cy="190500"/>
          </a:xfrm>
          <a:prstGeom prst="rect">
            <a:avLst/>
          </a:prstGeom>
          <a:solidFill>
            <a:srgbClr val="FFFFFF"/>
          </a:solidFill>
        </p:spPr>
      </p:sp>
      <p:sp>
        <p:nvSpPr>
          <p:cNvPr name="TextBox 43" id="43"/>
          <p:cNvSpPr txBox="true"/>
          <p:nvPr/>
        </p:nvSpPr>
        <p:spPr>
          <a:xfrm rot="0">
            <a:off x="11296936" y="6703270"/>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350901" y="833438"/>
            <a:ext cx="79419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16 / 26</a:t>
            </a:r>
          </a:p>
        </p:txBody>
      </p:sp>
      <p:sp>
        <p:nvSpPr>
          <p:cNvPr name="TextBox 5" id="5"/>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TOOL 03 · USECALLBACK</a:t>
            </a:r>
          </a:p>
        </p:txBody>
      </p:sp>
      <p:sp>
        <p:nvSpPr>
          <p:cNvPr name="AutoShape 6" id="6"/>
          <p:cNvSpPr/>
          <p:nvPr/>
        </p:nvSpPr>
        <p:spPr>
          <a:xfrm rot="0">
            <a:off x="6809042" y="2257425"/>
            <a:ext cx="4997386" cy="14573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628900"/>
            <a:ext cx="16002000" cy="904875"/>
          </a:xfrm>
          <a:prstGeom prst="rect">
            <a:avLst/>
          </a:prstGeom>
        </p:spPr>
        <p:txBody>
          <a:bodyPr anchor="t" rtlCol="false" tIns="0" lIns="0" bIns="0" rIns="0">
            <a:spAutoFit/>
          </a:bodyPr>
          <a:lstStyle/>
          <a:p>
            <a:pPr algn="l">
              <a:lnSpc>
                <a:spcPts val="8550"/>
              </a:lnSpc>
            </a:pPr>
            <a:r>
              <a:rPr lang="en-US" b="true" sz="9000" spc="-179">
                <a:solidFill>
                  <a:srgbClr val="0D0F26"/>
                </a:solidFill>
                <a:latin typeface="Arimo Bold"/>
                <a:ea typeface="Arimo Bold"/>
                <a:cs typeface="Arimo Bold"/>
                <a:sym typeface="Arimo Bold"/>
              </a:rPr>
              <a:t>Cache the function.</a:t>
            </a:r>
          </a:p>
        </p:txBody>
      </p:sp>
      <p:sp>
        <p:nvSpPr>
          <p:cNvPr name="AutoShape 8" id="8"/>
          <p:cNvSpPr/>
          <p:nvPr/>
        </p:nvSpPr>
        <p:spPr>
          <a:xfrm rot="0">
            <a:off x="1143000" y="3838575"/>
            <a:ext cx="16002000" cy="9525"/>
          </a:xfrm>
          <a:prstGeom prst="rect">
            <a:avLst/>
          </a:prstGeom>
          <a:solidFill>
            <a:srgbClr val="0D0F26"/>
          </a:solidFill>
        </p:spPr>
      </p:sp>
      <p:sp>
        <p:nvSpPr>
          <p:cNvPr name="AutoShape 9" id="9"/>
          <p:cNvSpPr/>
          <p:nvPr/>
        </p:nvSpPr>
        <p:spPr>
          <a:xfrm rot="0">
            <a:off x="9134475" y="3848100"/>
            <a:ext cx="9525" cy="4514850"/>
          </a:xfrm>
          <a:prstGeom prst="rect">
            <a:avLst/>
          </a:prstGeom>
          <a:solidFill>
            <a:srgbClr val="0D0F26"/>
          </a:solidFill>
        </p:spPr>
      </p:sp>
      <p:sp>
        <p:nvSpPr>
          <p:cNvPr name="TextBox 10" id="10"/>
          <p:cNvSpPr txBox="true"/>
          <p:nvPr/>
        </p:nvSpPr>
        <p:spPr>
          <a:xfrm rot="0">
            <a:off x="1143000" y="4191000"/>
            <a:ext cx="7458075" cy="356235"/>
          </a:xfrm>
          <a:prstGeom prst="rect">
            <a:avLst/>
          </a:prstGeom>
        </p:spPr>
        <p:txBody>
          <a:bodyPr anchor="t" rtlCol="false" tIns="0" lIns="0" bIns="0" rIns="0">
            <a:spAutoFit/>
          </a:bodyPr>
          <a:lstStyle/>
          <a:p>
            <a:pPr algn="l">
              <a:lnSpc>
                <a:spcPts val="2940"/>
              </a:lnSpc>
            </a:pPr>
            <a:r>
              <a:rPr lang="en-US" b="true" sz="2100">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WITHOUT </a:t>
            </a:r>
            <a:r>
              <a:rPr lang="en-US" b="true" sz="2100">
                <a:solidFill>
                  <a:srgbClr val="0D0F26"/>
                </a:solidFill>
                <a:latin typeface="Inter Bold"/>
                <a:ea typeface="Inter Bold"/>
                <a:cs typeface="Inter Bold"/>
                <a:sym typeface="Inter Bold"/>
              </a:rPr>
              <a:t>useCallback</a:t>
            </a:r>
          </a:p>
        </p:txBody>
      </p:sp>
      <p:sp>
        <p:nvSpPr>
          <p:cNvPr name="AutoShape 11" id="11"/>
          <p:cNvSpPr/>
          <p:nvPr/>
        </p:nvSpPr>
        <p:spPr>
          <a:xfrm rot="0">
            <a:off x="10504456" y="4229100"/>
            <a:ext cx="1813655" cy="3524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12" id="12"/>
          <p:cNvSpPr txBox="true"/>
          <p:nvPr/>
        </p:nvSpPr>
        <p:spPr>
          <a:xfrm rot="0">
            <a:off x="9677400" y="4191000"/>
            <a:ext cx="7467600" cy="356235"/>
          </a:xfrm>
          <a:prstGeom prst="rect">
            <a:avLst/>
          </a:prstGeom>
        </p:spPr>
        <p:txBody>
          <a:bodyPr anchor="t" rtlCol="false" tIns="0" lIns="0" bIns="0" rIns="0">
            <a:spAutoFit/>
          </a:bodyPr>
          <a:lstStyle/>
          <a:p>
            <a:pPr algn="l">
              <a:lnSpc>
                <a:spcPts val="2940"/>
              </a:lnSpc>
            </a:pPr>
            <a:r>
              <a:rPr lang="en-US" b="true" sz="2100">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 </a:t>
            </a:r>
            <a:r>
              <a:rPr lang="en-US" b="true" sz="2100">
                <a:solidFill>
                  <a:srgbClr val="0D0F26"/>
                </a:solidFill>
                <a:latin typeface="Inter Bold"/>
                <a:ea typeface="Inter Bold"/>
                <a:cs typeface="Inter Bold"/>
                <a:sym typeface="Inter Bold"/>
              </a:rPr>
              <a:t>useCallback</a:t>
            </a:r>
          </a:p>
        </p:txBody>
      </p:sp>
      <p:sp>
        <p:nvSpPr>
          <p:cNvPr name="AutoShape 13" id="13"/>
          <p:cNvSpPr/>
          <p:nvPr/>
        </p:nvSpPr>
        <p:spPr>
          <a:xfrm rot="0">
            <a:off x="1143000" y="8896350"/>
            <a:ext cx="16002000" cy="9525"/>
          </a:xfrm>
          <a:prstGeom prst="rect">
            <a:avLst/>
          </a:prstGeom>
          <a:solidFill>
            <a:srgbClr val="0D0F26"/>
          </a:solidFill>
        </p:spPr>
      </p:sp>
      <p:sp>
        <p:nvSpPr>
          <p:cNvPr name="TextBox 14" id="14"/>
          <p:cNvSpPr txBox="true"/>
          <p:nvPr/>
        </p:nvSpPr>
        <p:spPr>
          <a:xfrm rot="0">
            <a:off x="1143000" y="9134475"/>
            <a:ext cx="23616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02 · MEMOIZE</a:t>
            </a:r>
          </a:p>
        </p:txBody>
      </p:sp>
      <p:sp>
        <p:nvSpPr>
          <p:cNvPr name="TextBox 15" id="15"/>
          <p:cNvSpPr txBox="true"/>
          <p:nvPr/>
        </p:nvSpPr>
        <p:spPr>
          <a:xfrm rot="0">
            <a:off x="11751278" y="9134475"/>
            <a:ext cx="5393722"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POINTLESS WITHOUT A MEMO'D CONSUMER</a:t>
            </a:r>
          </a:p>
        </p:txBody>
      </p:sp>
      <p:sp>
        <p:nvSpPr>
          <p:cNvPr name="AutoShape 16" id="16"/>
          <p:cNvSpPr/>
          <p:nvPr/>
        </p:nvSpPr>
        <p:spPr>
          <a:xfrm rot="0">
            <a:off x="1143000" y="4848225"/>
            <a:ext cx="7458075" cy="4091845"/>
          </a:xfrm>
          <a:prstGeom prst="rect">
            <a:avLst/>
          </a:prstGeom>
          <a:solidFill>
            <a:srgbClr val="FFFFFF"/>
          </a:solidFill>
          <a:ln w="19050" cap="sq">
            <a:solidFill>
              <a:srgbClr val="0D0F26"/>
            </a:solidFill>
            <a:prstDash val="solid"/>
            <a:miter/>
          </a:ln>
        </p:spPr>
      </p:sp>
      <p:sp>
        <p:nvSpPr>
          <p:cNvPr name="TextBox 17" id="17"/>
          <p:cNvSpPr txBox="true"/>
          <p:nvPr/>
        </p:nvSpPr>
        <p:spPr>
          <a:xfrm rot="0">
            <a:off x="2624910" y="6147435"/>
            <a:ext cx="266774" cy="31813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 </a:t>
            </a:r>
          </a:p>
        </p:txBody>
      </p:sp>
      <p:sp>
        <p:nvSpPr>
          <p:cNvPr name="AutoShape 18" id="18"/>
          <p:cNvSpPr/>
          <p:nvPr/>
        </p:nvSpPr>
        <p:spPr>
          <a:xfrm rot="0">
            <a:off x="1464945" y="6557010"/>
            <a:ext cx="2584799" cy="561975"/>
          </a:xfrm>
          <a:prstGeom prst="rect">
            <a:avLst/>
          </a:prstGeom>
          <a:solidFill>
            <a:srgbClr val="0D0F26"/>
          </a:solidFill>
        </p:spPr>
      </p:sp>
      <p:sp>
        <p:nvSpPr>
          <p:cNvPr name="TextBox 19" id="19"/>
          <p:cNvSpPr txBox="true"/>
          <p:nvPr/>
        </p:nvSpPr>
        <p:spPr>
          <a:xfrm rot="0">
            <a:off x="1636395" y="6652260"/>
            <a:ext cx="876300" cy="333375"/>
          </a:xfrm>
          <a:prstGeom prst="rect">
            <a:avLst/>
          </a:prstGeom>
        </p:spPr>
        <p:txBody>
          <a:bodyPr anchor="t" rtlCol="false" tIns="0" lIns="0" bIns="0" rIns="0">
            <a:spAutoFit/>
          </a:bodyPr>
          <a:lstStyle/>
          <a:p>
            <a:pPr algn="l">
              <a:lnSpc>
                <a:spcPts val="2520"/>
              </a:lnSpc>
            </a:pPr>
            <a:r>
              <a:rPr lang="en-US" sz="1800" spc="72">
                <a:gradFill>
                  <a:gsLst>
                    <a:gs pos="0">
                      <a:srgbClr val="FFFFFF">
                        <a:alpha val="55000"/>
                      </a:srgbClr>
                    </a:gs>
                    <a:gs pos="100000">
                      <a:srgbClr val="FFFFFF">
                        <a:alpha val="55000"/>
                      </a:srgbClr>
                    </a:gs>
                  </a:gsLst>
                  <a:lin ang="16200000"/>
                </a:gradFill>
                <a:latin typeface="JetBrains Mono"/>
                <a:ea typeface="JetBrains Mono"/>
                <a:cs typeface="JetBrains Mono"/>
                <a:sym typeface="JetBrains Mono"/>
              </a:rPr>
              <a:t>ONSAVE</a:t>
            </a:r>
          </a:p>
        </p:txBody>
      </p:sp>
      <p:sp>
        <p:nvSpPr>
          <p:cNvPr name="TextBox 20" id="20"/>
          <p:cNvSpPr txBox="true"/>
          <p:nvPr/>
        </p:nvSpPr>
        <p:spPr>
          <a:xfrm rot="0">
            <a:off x="2700528" y="6633210"/>
            <a:ext cx="1212342" cy="331470"/>
          </a:xfrm>
          <a:prstGeom prst="rect">
            <a:avLst/>
          </a:prstGeom>
        </p:spPr>
        <p:txBody>
          <a:bodyPr anchor="t" rtlCol="false" tIns="0" lIns="0" bIns="0" rIns="0">
            <a:spAutoFit/>
          </a:bodyPr>
          <a:lstStyle/>
          <a:p>
            <a:pPr algn="l">
              <a:lnSpc>
                <a:spcPts val="2729"/>
              </a:lnSpc>
            </a:pPr>
            <a:r>
              <a:rPr lang="en-US" sz="1950">
                <a:solidFill>
                  <a:srgbClr val="FFFFFF"/>
                </a:solidFill>
                <a:latin typeface="JetBrains Mono"/>
                <a:ea typeface="JetBrains Mono"/>
                <a:cs typeface="JetBrains Mono"/>
                <a:sym typeface="JetBrains Mono"/>
              </a:rPr>
              <a:t>fn@b71e</a:t>
            </a:r>
          </a:p>
        </p:txBody>
      </p:sp>
      <p:sp>
        <p:nvSpPr>
          <p:cNvPr name="TextBox 21" id="21"/>
          <p:cNvSpPr txBox="true"/>
          <p:nvPr/>
        </p:nvSpPr>
        <p:spPr>
          <a:xfrm rot="0">
            <a:off x="2582561" y="7151370"/>
            <a:ext cx="212693" cy="18859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a:t>
            </a:r>
          </a:p>
        </p:txBody>
      </p:sp>
      <p:sp>
        <p:nvSpPr>
          <p:cNvPr name="TextBox 22" id="22"/>
          <p:cNvSpPr txBox="true"/>
          <p:nvPr/>
        </p:nvSpPr>
        <p:spPr>
          <a:xfrm rot="0">
            <a:off x="1466850" y="8378095"/>
            <a:ext cx="6016562" cy="314325"/>
          </a:xfrm>
          <a:prstGeom prst="rect">
            <a:avLst/>
          </a:prstGeom>
        </p:spPr>
        <p:txBody>
          <a:bodyPr anchor="t" rtlCol="false" tIns="0" lIns="0" bIns="0" rIns="0">
            <a:spAutoFit/>
          </a:bodyPr>
          <a:lstStyle/>
          <a:p>
            <a:pPr algn="l">
              <a:lnSpc>
                <a:spcPts val="2520"/>
              </a:lnSpc>
            </a:pPr>
            <a:r>
              <a:rPr lang="en-US" sz="1800" i="true" spc="18">
                <a:gradFill>
                  <a:gsLst>
                    <a:gs pos="0">
                      <a:srgbClr val="0D0F26">
                        <a:alpha val="55000"/>
                      </a:srgbClr>
                    </a:gs>
                    <a:gs pos="100000">
                      <a:srgbClr val="0D0F26">
                        <a:alpha val="55000"/>
                      </a:srgbClr>
                    </a:gs>
                  </a:gsLst>
                  <a:lin ang="16200000"/>
                </a:gradFill>
                <a:latin typeface="Inter Italics"/>
                <a:ea typeface="Inter Italics"/>
                <a:cs typeface="Inter Italics"/>
                <a:sym typeface="Inter Italics"/>
              </a:rPr>
              <a:t>new function each render → memo'd Child re-renders.</a:t>
            </a:r>
          </a:p>
        </p:txBody>
      </p:sp>
      <p:grpSp>
        <p:nvGrpSpPr>
          <p:cNvPr name="Group 23" id="23"/>
          <p:cNvGrpSpPr/>
          <p:nvPr/>
        </p:nvGrpSpPr>
        <p:grpSpPr>
          <a:xfrm rot="0">
            <a:off x="1390650" y="4714875"/>
            <a:ext cx="1501235" cy="295275"/>
            <a:chOff x="0" y="0"/>
            <a:chExt cx="2001647" cy="393700"/>
          </a:xfrm>
        </p:grpSpPr>
        <p:sp>
          <p:nvSpPr>
            <p:cNvPr name="Freeform 24" id="24"/>
            <p:cNvSpPr/>
            <p:nvPr/>
          </p:nvSpPr>
          <p:spPr>
            <a:xfrm flipH="false" flipV="false" rot="0">
              <a:off x="0" y="0"/>
              <a:ext cx="2001647" cy="393700"/>
            </a:xfrm>
            <a:custGeom>
              <a:avLst/>
              <a:gdLst/>
              <a:ahLst/>
              <a:cxnLst/>
              <a:rect r="r" b="b" t="t" l="l"/>
              <a:pathLst>
                <a:path h="393700" w="2001647">
                  <a:moveTo>
                    <a:pt x="0" y="0"/>
                  </a:moveTo>
                  <a:lnTo>
                    <a:pt x="2001647" y="0"/>
                  </a:lnTo>
                  <a:lnTo>
                    <a:pt x="2001647" y="393700"/>
                  </a:lnTo>
                  <a:lnTo>
                    <a:pt x="0" y="393700"/>
                  </a:lnTo>
                  <a:lnTo>
                    <a:pt x="0" y="0"/>
                  </a:lnTo>
                  <a:close/>
                </a:path>
              </a:pathLst>
            </a:custGeom>
            <a:solidFill>
              <a:srgbClr val="FFFFFF"/>
            </a:solidFill>
          </p:spPr>
        </p:sp>
        <p:sp>
          <p:nvSpPr>
            <p:cNvPr name="TextBox 25" id="25"/>
            <p:cNvSpPr txBox="true"/>
            <p:nvPr/>
          </p:nvSpPr>
          <p:spPr>
            <a:xfrm>
              <a:off x="0" y="-38100"/>
              <a:ext cx="2001647" cy="431800"/>
            </a:xfrm>
            <a:prstGeom prst="rect">
              <a:avLst/>
            </a:prstGeom>
          </p:spPr>
          <p:txBody>
            <a:bodyPr anchor="ctr" rtlCol="false" tIns="0" lIns="0" bIns="0" rIns="0"/>
            <a:lstStyle/>
            <a:p>
              <a:pPr algn="l">
                <a:lnSpc>
                  <a:spcPts val="2520"/>
                </a:lnSpc>
              </a:pPr>
              <a:r>
                <a:rPr lang="en-US" b="true" sz="1800">
                  <a:solidFill>
                    <a:srgbClr val="0D0F26"/>
                  </a:solidFill>
                  <a:latin typeface="JetBrains Mono Bold"/>
                  <a:ea typeface="JetBrains Mono Bold"/>
                  <a:cs typeface="JetBrains Mono Bold"/>
                  <a:sym typeface="JetBrains Mono Bold"/>
                </a:rPr>
                <a:t>render #1</a:t>
              </a:r>
            </a:p>
          </p:txBody>
        </p:sp>
      </p:grpSp>
      <p:grpSp>
        <p:nvGrpSpPr>
          <p:cNvPr name="Group 26" id="26"/>
          <p:cNvGrpSpPr/>
          <p:nvPr/>
        </p:nvGrpSpPr>
        <p:grpSpPr>
          <a:xfrm rot="0">
            <a:off x="1464945" y="5162836"/>
            <a:ext cx="5773124" cy="942689"/>
            <a:chOff x="0" y="0"/>
            <a:chExt cx="7697498" cy="1256919"/>
          </a:xfrm>
        </p:grpSpPr>
        <p:sp>
          <p:nvSpPr>
            <p:cNvPr name="Freeform 27" id="27"/>
            <p:cNvSpPr/>
            <p:nvPr/>
          </p:nvSpPr>
          <p:spPr>
            <a:xfrm flipH="false" flipV="false" rot="0">
              <a:off x="0" y="0"/>
              <a:ext cx="7697498" cy="1256919"/>
            </a:xfrm>
            <a:custGeom>
              <a:avLst/>
              <a:gdLst/>
              <a:ahLst/>
              <a:cxnLst/>
              <a:rect r="r" b="b" t="t" l="l"/>
              <a:pathLst>
                <a:path h="1256919" w="7697498">
                  <a:moveTo>
                    <a:pt x="0" y="0"/>
                  </a:moveTo>
                  <a:lnTo>
                    <a:pt x="7697498" y="0"/>
                  </a:lnTo>
                  <a:lnTo>
                    <a:pt x="7697498" y="1256919"/>
                  </a:lnTo>
                  <a:lnTo>
                    <a:pt x="0" y="1256919"/>
                  </a:lnTo>
                  <a:lnTo>
                    <a:pt x="0" y="0"/>
                  </a:lnTo>
                  <a:close/>
                </a:path>
              </a:pathLst>
            </a:custGeom>
            <a:solidFill>
              <a:srgbClr val="C8CEF5"/>
            </a:solidFill>
          </p:spPr>
        </p:sp>
        <p:sp>
          <p:nvSpPr>
            <p:cNvPr name="TextBox 28" id="28"/>
            <p:cNvSpPr txBox="true"/>
            <p:nvPr/>
          </p:nvSpPr>
          <p:spPr>
            <a:xfrm>
              <a:off x="0" y="-38100"/>
              <a:ext cx="7697498" cy="1295019"/>
            </a:xfrm>
            <a:prstGeom prst="rect">
              <a:avLst/>
            </a:prstGeom>
          </p:spPr>
          <p:txBody>
            <a:bodyPr anchor="ctr" rtlCol="false" tIns="178816" lIns="178816" bIns="178816" rIns="178816"/>
            <a:lstStyle/>
            <a:p>
              <a:pPr algn="l">
                <a:lnSpc>
                  <a:spcPts val="2239"/>
                </a:lnSpc>
              </a:pPr>
              <a:r>
                <a:rPr lang="en-US" sz="1599">
                  <a:solidFill>
                    <a:srgbClr val="0D0F26"/>
                  </a:solidFill>
                  <a:latin typeface="JetBrains Mono"/>
                  <a:ea typeface="JetBrains Mono"/>
                  <a:cs typeface="JetBrains Mono"/>
                  <a:sym typeface="JetBrains Mono"/>
                </a:rPr>
                <a:t>const onPress = () =&gt; save(user)</a:t>
              </a:r>
            </a:p>
            <a:p>
              <a:pPr algn="l">
                <a:lnSpc>
                  <a:spcPts val="2239"/>
                </a:lnSpc>
              </a:pPr>
              <a:r>
                <a:rPr lang="en-US" sz="1599">
                  <a:solidFill>
                    <a:srgbClr val="0D0F26"/>
                  </a:solidFill>
                  <a:latin typeface="JetBrains Mono"/>
                  <a:ea typeface="JetBrains Mono"/>
                  <a:cs typeface="JetBrains Mono"/>
                  <a:sym typeface="JetBrains Mono"/>
                </a:rPr>
                <a:t>&lt;Component onPress={onPress</a:t>
              </a:r>
              <a:r>
                <a:rPr lang="en-US" sz="1599">
                  <a:solidFill>
                    <a:srgbClr val="0D0F26"/>
                  </a:solidFill>
                  <a:latin typeface="JetBrains Mono"/>
                  <a:ea typeface="JetBrains Mono"/>
                  <a:cs typeface="JetBrains Mono"/>
                  <a:sym typeface="JetBrains Mono"/>
                </a:rPr>
                <a:t>} /&gt;</a:t>
              </a:r>
            </a:p>
          </p:txBody>
        </p:sp>
      </p:grpSp>
      <p:sp>
        <p:nvSpPr>
          <p:cNvPr name="AutoShape 29" id="29"/>
          <p:cNvSpPr/>
          <p:nvPr/>
        </p:nvSpPr>
        <p:spPr>
          <a:xfrm rot="0">
            <a:off x="9677400" y="4848225"/>
            <a:ext cx="7467600" cy="4091845"/>
          </a:xfrm>
          <a:prstGeom prst="rect">
            <a:avLst/>
          </a:prstGeom>
          <a:solidFill>
            <a:srgbClr val="FFFFFF"/>
          </a:solidFill>
          <a:ln w="19050" cap="sq">
            <a:solidFill>
              <a:srgbClr val="0D0F26"/>
            </a:solidFill>
            <a:prstDash val="solid"/>
            <a:miter/>
          </a:ln>
        </p:spPr>
      </p:sp>
      <p:sp>
        <p:nvSpPr>
          <p:cNvPr name="TextBox 30" id="30"/>
          <p:cNvSpPr txBox="true"/>
          <p:nvPr/>
        </p:nvSpPr>
        <p:spPr>
          <a:xfrm rot="0">
            <a:off x="11088682" y="6147435"/>
            <a:ext cx="266774" cy="31813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 </a:t>
            </a:r>
          </a:p>
        </p:txBody>
      </p:sp>
      <p:sp>
        <p:nvSpPr>
          <p:cNvPr name="AutoShape 31" id="31"/>
          <p:cNvSpPr/>
          <p:nvPr/>
        </p:nvSpPr>
        <p:spPr>
          <a:xfrm rot="0">
            <a:off x="10001250" y="6557010"/>
            <a:ext cx="2580989" cy="561975"/>
          </a:xfrm>
          <a:prstGeom prst="rect">
            <a:avLst/>
          </a:prstGeom>
          <a:solidFill>
            <a:srgbClr val="0D0F26"/>
          </a:solidFill>
        </p:spPr>
      </p:sp>
      <p:sp>
        <p:nvSpPr>
          <p:cNvPr name="TextBox 32" id="32"/>
          <p:cNvSpPr txBox="true"/>
          <p:nvPr/>
        </p:nvSpPr>
        <p:spPr>
          <a:xfrm rot="0">
            <a:off x="10191750" y="6652260"/>
            <a:ext cx="877919" cy="333375"/>
          </a:xfrm>
          <a:prstGeom prst="rect">
            <a:avLst/>
          </a:prstGeom>
        </p:spPr>
        <p:txBody>
          <a:bodyPr anchor="t" rtlCol="false" tIns="0" lIns="0" bIns="0" rIns="0">
            <a:spAutoFit/>
          </a:bodyPr>
          <a:lstStyle/>
          <a:p>
            <a:pPr algn="l">
              <a:lnSpc>
                <a:spcPts val="2520"/>
              </a:lnSpc>
            </a:pPr>
            <a:r>
              <a:rPr lang="en-US" sz="1800" spc="72">
                <a:gradFill>
                  <a:gsLst>
                    <a:gs pos="0">
                      <a:srgbClr val="FFFFFF">
                        <a:alpha val="55000"/>
                      </a:srgbClr>
                    </a:gs>
                    <a:gs pos="100000">
                      <a:srgbClr val="FFFFFF">
                        <a:alpha val="55000"/>
                      </a:srgbClr>
                    </a:gs>
                  </a:gsLst>
                  <a:lin ang="16200000"/>
                </a:gradFill>
                <a:latin typeface="JetBrains Mono"/>
                <a:ea typeface="JetBrains Mono"/>
                <a:cs typeface="JetBrains Mono"/>
                <a:sym typeface="JetBrains Mono"/>
              </a:rPr>
              <a:t>ONSAVE</a:t>
            </a:r>
          </a:p>
        </p:txBody>
      </p:sp>
      <p:sp>
        <p:nvSpPr>
          <p:cNvPr name="TextBox 33" id="33"/>
          <p:cNvSpPr txBox="true"/>
          <p:nvPr/>
        </p:nvSpPr>
        <p:spPr>
          <a:xfrm rot="0">
            <a:off x="11222069" y="6633210"/>
            <a:ext cx="1413891" cy="371475"/>
          </a:xfrm>
          <a:prstGeom prst="rect">
            <a:avLst/>
          </a:prstGeom>
        </p:spPr>
        <p:txBody>
          <a:bodyPr anchor="t" rtlCol="false" tIns="0" lIns="0" bIns="0" rIns="0">
            <a:spAutoFit/>
          </a:bodyPr>
          <a:lstStyle/>
          <a:p>
            <a:pPr algn="l">
              <a:lnSpc>
                <a:spcPts val="2729"/>
              </a:lnSpc>
            </a:pPr>
            <a:r>
              <a:rPr lang="en-US" sz="1950">
                <a:solidFill>
                  <a:srgbClr val="FFFFFF"/>
                </a:solidFill>
                <a:latin typeface="JetBrains Mono"/>
                <a:ea typeface="JetBrains Mono"/>
                <a:cs typeface="JetBrains Mono"/>
                <a:sym typeface="JetBrains Mono"/>
              </a:rPr>
              <a:t>fn@b71e</a:t>
            </a:r>
          </a:p>
        </p:txBody>
      </p:sp>
      <p:sp>
        <p:nvSpPr>
          <p:cNvPr name="TextBox 34" id="34"/>
          <p:cNvSpPr txBox="true"/>
          <p:nvPr/>
        </p:nvSpPr>
        <p:spPr>
          <a:xfrm rot="0">
            <a:off x="11184446" y="7151370"/>
            <a:ext cx="212693" cy="18859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a:t>
            </a:r>
          </a:p>
        </p:txBody>
      </p:sp>
      <p:sp>
        <p:nvSpPr>
          <p:cNvPr name="TextBox 35" id="35"/>
          <p:cNvSpPr txBox="true"/>
          <p:nvPr/>
        </p:nvSpPr>
        <p:spPr>
          <a:xfrm rot="0">
            <a:off x="10001250" y="8378095"/>
            <a:ext cx="4733925" cy="314325"/>
          </a:xfrm>
          <a:prstGeom prst="rect">
            <a:avLst/>
          </a:prstGeom>
        </p:spPr>
        <p:txBody>
          <a:bodyPr anchor="t" rtlCol="false" tIns="0" lIns="0" bIns="0" rIns="0">
            <a:spAutoFit/>
          </a:bodyPr>
          <a:lstStyle/>
          <a:p>
            <a:pPr algn="l">
              <a:lnSpc>
                <a:spcPts val="2520"/>
              </a:lnSpc>
            </a:pPr>
            <a:r>
              <a:rPr lang="en-US" sz="1800" i="true" spc="18">
                <a:gradFill>
                  <a:gsLst>
                    <a:gs pos="0">
                      <a:srgbClr val="0D0F26">
                        <a:alpha val="55000"/>
                      </a:srgbClr>
                    </a:gs>
                    <a:gs pos="100000">
                      <a:srgbClr val="0D0F26">
                        <a:alpha val="55000"/>
                      </a:srgbClr>
                    </a:gs>
                  </a:gsLst>
                  <a:lin ang="16200000"/>
                </a:gradFill>
                <a:latin typeface="Inter Italics"/>
                <a:ea typeface="Inter Italics"/>
                <a:cs typeface="Inter Italics"/>
                <a:sym typeface="Inter Italics"/>
              </a:rPr>
              <a:t>stable ref → memo'd Child skips re-render.</a:t>
            </a:r>
          </a:p>
        </p:txBody>
      </p:sp>
      <p:grpSp>
        <p:nvGrpSpPr>
          <p:cNvPr name="Group 36" id="36"/>
          <p:cNvGrpSpPr/>
          <p:nvPr/>
        </p:nvGrpSpPr>
        <p:grpSpPr>
          <a:xfrm rot="0">
            <a:off x="9925050" y="4714875"/>
            <a:ext cx="1501235" cy="295275"/>
            <a:chOff x="0" y="0"/>
            <a:chExt cx="2001647" cy="393700"/>
          </a:xfrm>
        </p:grpSpPr>
        <p:sp>
          <p:nvSpPr>
            <p:cNvPr name="Freeform 37" id="37"/>
            <p:cNvSpPr/>
            <p:nvPr/>
          </p:nvSpPr>
          <p:spPr>
            <a:xfrm flipH="false" flipV="false" rot="0">
              <a:off x="0" y="0"/>
              <a:ext cx="2001647" cy="393700"/>
            </a:xfrm>
            <a:custGeom>
              <a:avLst/>
              <a:gdLst/>
              <a:ahLst/>
              <a:cxnLst/>
              <a:rect r="r" b="b" t="t" l="l"/>
              <a:pathLst>
                <a:path h="393700" w="2001647">
                  <a:moveTo>
                    <a:pt x="0" y="0"/>
                  </a:moveTo>
                  <a:lnTo>
                    <a:pt x="2001647" y="0"/>
                  </a:lnTo>
                  <a:lnTo>
                    <a:pt x="2001647" y="393700"/>
                  </a:lnTo>
                  <a:lnTo>
                    <a:pt x="0" y="393700"/>
                  </a:lnTo>
                  <a:lnTo>
                    <a:pt x="0" y="0"/>
                  </a:lnTo>
                  <a:close/>
                </a:path>
              </a:pathLst>
            </a:custGeom>
            <a:solidFill>
              <a:srgbClr val="FFFFFF"/>
            </a:solidFill>
          </p:spPr>
        </p:sp>
        <p:sp>
          <p:nvSpPr>
            <p:cNvPr name="TextBox 38" id="38"/>
            <p:cNvSpPr txBox="true"/>
            <p:nvPr/>
          </p:nvSpPr>
          <p:spPr>
            <a:xfrm>
              <a:off x="0" y="-38100"/>
              <a:ext cx="2001647" cy="431800"/>
            </a:xfrm>
            <a:prstGeom prst="rect">
              <a:avLst/>
            </a:prstGeom>
          </p:spPr>
          <p:txBody>
            <a:bodyPr anchor="ctr" rtlCol="false" tIns="0" lIns="0" bIns="0" rIns="0"/>
            <a:lstStyle/>
            <a:p>
              <a:pPr algn="l">
                <a:lnSpc>
                  <a:spcPts val="2520"/>
                </a:lnSpc>
              </a:pPr>
              <a:r>
                <a:rPr lang="en-US" b="true" sz="1800">
                  <a:solidFill>
                    <a:srgbClr val="0D0F26"/>
                  </a:solidFill>
                  <a:latin typeface="JetBrains Mono Bold"/>
                  <a:ea typeface="JetBrains Mono Bold"/>
                  <a:cs typeface="JetBrains Mono Bold"/>
                  <a:sym typeface="JetBrains Mono Bold"/>
                </a:rPr>
                <a:t>render #1</a:t>
              </a:r>
            </a:p>
          </p:txBody>
        </p:sp>
      </p:grpSp>
      <p:grpSp>
        <p:nvGrpSpPr>
          <p:cNvPr name="Group 39" id="39"/>
          <p:cNvGrpSpPr/>
          <p:nvPr/>
        </p:nvGrpSpPr>
        <p:grpSpPr>
          <a:xfrm rot="0">
            <a:off x="9999345" y="5172075"/>
            <a:ext cx="6904307" cy="889635"/>
            <a:chOff x="0" y="0"/>
            <a:chExt cx="9205743" cy="1186180"/>
          </a:xfrm>
        </p:grpSpPr>
        <p:sp>
          <p:nvSpPr>
            <p:cNvPr name="Freeform 40" id="40"/>
            <p:cNvSpPr/>
            <p:nvPr/>
          </p:nvSpPr>
          <p:spPr>
            <a:xfrm flipH="false" flipV="false" rot="0">
              <a:off x="0" y="0"/>
              <a:ext cx="9205743" cy="1186180"/>
            </a:xfrm>
            <a:custGeom>
              <a:avLst/>
              <a:gdLst/>
              <a:ahLst/>
              <a:cxnLst/>
              <a:rect r="r" b="b" t="t" l="l"/>
              <a:pathLst>
                <a:path h="1186180" w="9205743">
                  <a:moveTo>
                    <a:pt x="0" y="0"/>
                  </a:moveTo>
                  <a:lnTo>
                    <a:pt x="9205743" y="0"/>
                  </a:lnTo>
                  <a:lnTo>
                    <a:pt x="9205743" y="1186180"/>
                  </a:lnTo>
                  <a:lnTo>
                    <a:pt x="0" y="1186180"/>
                  </a:lnTo>
                  <a:lnTo>
                    <a:pt x="0" y="0"/>
                  </a:lnTo>
                  <a:close/>
                </a:path>
              </a:pathLst>
            </a:custGeom>
            <a:solidFill>
              <a:srgbClr val="C8CEF5"/>
            </a:solidFill>
          </p:spPr>
        </p:sp>
        <p:sp>
          <p:nvSpPr>
            <p:cNvPr name="TextBox 41" id="41"/>
            <p:cNvSpPr txBox="true"/>
            <p:nvPr/>
          </p:nvSpPr>
          <p:spPr>
            <a:xfrm>
              <a:off x="0" y="-38100"/>
              <a:ext cx="9205743" cy="1224280"/>
            </a:xfrm>
            <a:prstGeom prst="rect">
              <a:avLst/>
            </a:prstGeom>
          </p:spPr>
          <p:txBody>
            <a:bodyPr anchor="ctr" rtlCol="false" tIns="178816" lIns="178816" bIns="178816" rIns="178816"/>
            <a:lstStyle/>
            <a:p>
              <a:pPr algn="l">
                <a:lnSpc>
                  <a:spcPts val="2239"/>
                </a:lnSpc>
              </a:pPr>
              <a:r>
                <a:rPr lang="en-US" sz="1599">
                  <a:solidFill>
                    <a:srgbClr val="0D0F26"/>
                  </a:solidFill>
                  <a:latin typeface="JetBrains Mono"/>
                  <a:ea typeface="JetBrains Mono"/>
                  <a:cs typeface="JetBrains Mono"/>
                  <a:sym typeface="JetBrains Mono"/>
                </a:rPr>
                <a:t>const onPress = useCallback(</a:t>
              </a:r>
              <a:r>
                <a:rPr lang="en-US" sz="1599">
                  <a:solidFill>
                    <a:srgbClr val="0D0F26"/>
                  </a:solidFill>
                  <a:latin typeface="JetBrains Mono"/>
                  <a:ea typeface="JetBrains Mono"/>
                  <a:cs typeface="JetBrains Mono"/>
                  <a:sym typeface="JetBrains Mono"/>
                </a:rPr>
                <a:t>() =&gt; save(user), [deps])</a:t>
              </a:r>
            </a:p>
            <a:p>
              <a:pPr algn="l">
                <a:lnSpc>
                  <a:spcPts val="2239"/>
                </a:lnSpc>
              </a:pPr>
              <a:r>
                <a:rPr lang="en-US" sz="1599">
                  <a:solidFill>
                    <a:srgbClr val="0D0F26"/>
                  </a:solidFill>
                  <a:latin typeface="JetBrains Mono"/>
                  <a:ea typeface="JetBrains Mono"/>
                  <a:cs typeface="JetBrains Mono"/>
                  <a:sym typeface="JetBrains Mono"/>
                </a:rPr>
                <a:t>&lt;Component onPress={onPress} /&gt;</a:t>
              </a:r>
            </a:p>
          </p:txBody>
        </p:sp>
      </p:grpSp>
      <p:grpSp>
        <p:nvGrpSpPr>
          <p:cNvPr name="Group 42" id="42"/>
          <p:cNvGrpSpPr/>
          <p:nvPr/>
        </p:nvGrpSpPr>
        <p:grpSpPr>
          <a:xfrm rot="0">
            <a:off x="1466850" y="7530370"/>
            <a:ext cx="2582894" cy="740283"/>
            <a:chOff x="0" y="0"/>
            <a:chExt cx="3443859" cy="987044"/>
          </a:xfrm>
        </p:grpSpPr>
        <p:sp>
          <p:nvSpPr>
            <p:cNvPr name="Freeform 43" id="43"/>
            <p:cNvSpPr/>
            <p:nvPr/>
          </p:nvSpPr>
          <p:spPr>
            <a:xfrm flipH="false" flipV="false" rot="0">
              <a:off x="0" y="0"/>
              <a:ext cx="3443859" cy="987044"/>
            </a:xfrm>
            <a:custGeom>
              <a:avLst/>
              <a:gdLst/>
              <a:ahLst/>
              <a:cxnLst/>
              <a:rect r="r" b="b" t="t" l="l"/>
              <a:pathLst>
                <a:path h="987044" w="3443859">
                  <a:moveTo>
                    <a:pt x="0" y="0"/>
                  </a:moveTo>
                  <a:lnTo>
                    <a:pt x="3443859" y="0"/>
                  </a:lnTo>
                  <a:lnTo>
                    <a:pt x="3443859" y="987044"/>
                  </a:lnTo>
                  <a:lnTo>
                    <a:pt x="0" y="987044"/>
                  </a:lnTo>
                  <a:lnTo>
                    <a:pt x="0" y="0"/>
                  </a:lnTo>
                  <a:close/>
                </a:path>
              </a:pathLst>
            </a:custGeom>
            <a:solidFill>
              <a:srgbClr val="C8CEF5"/>
            </a:solidFill>
          </p:spPr>
        </p:sp>
        <p:sp>
          <p:nvSpPr>
            <p:cNvPr name="TextBox 44" id="44"/>
            <p:cNvSpPr txBox="true"/>
            <p:nvPr/>
          </p:nvSpPr>
          <p:spPr>
            <a:xfrm>
              <a:off x="0" y="-38100"/>
              <a:ext cx="3443859" cy="1025144"/>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&lt;Child /&gt;</a:t>
              </a:r>
            </a:p>
          </p:txBody>
        </p:sp>
      </p:grpSp>
      <p:grpSp>
        <p:nvGrpSpPr>
          <p:cNvPr name="Group 45" id="45"/>
          <p:cNvGrpSpPr/>
          <p:nvPr/>
        </p:nvGrpSpPr>
        <p:grpSpPr>
          <a:xfrm rot="0">
            <a:off x="9999345" y="7511415"/>
            <a:ext cx="2582894" cy="740283"/>
            <a:chOff x="0" y="0"/>
            <a:chExt cx="3443859" cy="987044"/>
          </a:xfrm>
        </p:grpSpPr>
        <p:sp>
          <p:nvSpPr>
            <p:cNvPr name="Freeform 46" id="46"/>
            <p:cNvSpPr/>
            <p:nvPr/>
          </p:nvSpPr>
          <p:spPr>
            <a:xfrm flipH="false" flipV="false" rot="0">
              <a:off x="0" y="0"/>
              <a:ext cx="3443859" cy="987044"/>
            </a:xfrm>
            <a:custGeom>
              <a:avLst/>
              <a:gdLst/>
              <a:ahLst/>
              <a:cxnLst/>
              <a:rect r="r" b="b" t="t" l="l"/>
              <a:pathLst>
                <a:path h="987044" w="3443859">
                  <a:moveTo>
                    <a:pt x="0" y="0"/>
                  </a:moveTo>
                  <a:lnTo>
                    <a:pt x="3443859" y="0"/>
                  </a:lnTo>
                  <a:lnTo>
                    <a:pt x="3443859" y="987044"/>
                  </a:lnTo>
                  <a:lnTo>
                    <a:pt x="0" y="987044"/>
                  </a:lnTo>
                  <a:lnTo>
                    <a:pt x="0" y="0"/>
                  </a:lnTo>
                  <a:close/>
                </a:path>
              </a:pathLst>
            </a:custGeom>
            <a:solidFill>
              <a:srgbClr val="C8CEF5"/>
            </a:solidFill>
          </p:spPr>
        </p:sp>
        <p:sp>
          <p:nvSpPr>
            <p:cNvPr name="TextBox 47" id="47"/>
            <p:cNvSpPr txBox="true"/>
            <p:nvPr/>
          </p:nvSpPr>
          <p:spPr>
            <a:xfrm>
              <a:off x="0" y="-38100"/>
              <a:ext cx="3443859" cy="1025144"/>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&lt;Child /&gt;</a:t>
              </a:r>
            </a:p>
          </p:txBody>
        </p:sp>
      </p:grpSp>
      <p:sp>
        <p:nvSpPr>
          <p:cNvPr name="AutoShape 48" id="48"/>
          <p:cNvSpPr/>
          <p:nvPr/>
        </p:nvSpPr>
        <p:spPr>
          <a:xfrm rot="0">
            <a:off x="3219641" y="7435120"/>
            <a:ext cx="411480" cy="190500"/>
          </a:xfrm>
          <a:prstGeom prst="rect">
            <a:avLst/>
          </a:prstGeom>
          <a:solidFill>
            <a:srgbClr val="FFFFFF"/>
          </a:solidFill>
        </p:spPr>
      </p:sp>
      <p:sp>
        <p:nvSpPr>
          <p:cNvPr name="TextBox 49" id="49"/>
          <p:cNvSpPr txBox="true"/>
          <p:nvPr/>
        </p:nvSpPr>
        <p:spPr>
          <a:xfrm rot="0">
            <a:off x="3219641" y="7444220"/>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
        <p:nvSpPr>
          <p:cNvPr name="AutoShape 50" id="50"/>
          <p:cNvSpPr/>
          <p:nvPr/>
        </p:nvSpPr>
        <p:spPr>
          <a:xfrm rot="0">
            <a:off x="11517535" y="7435120"/>
            <a:ext cx="411480" cy="190500"/>
          </a:xfrm>
          <a:prstGeom prst="rect">
            <a:avLst/>
          </a:prstGeom>
          <a:solidFill>
            <a:srgbClr val="FFFFFF"/>
          </a:solidFill>
        </p:spPr>
      </p:sp>
      <p:sp>
        <p:nvSpPr>
          <p:cNvPr name="TextBox 51" id="51"/>
          <p:cNvSpPr txBox="true"/>
          <p:nvPr/>
        </p:nvSpPr>
        <p:spPr>
          <a:xfrm rot="0">
            <a:off x="11517535" y="7444220"/>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350901" y="833438"/>
            <a:ext cx="79419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16 / 26</a:t>
            </a:r>
          </a:p>
        </p:txBody>
      </p:sp>
      <p:sp>
        <p:nvSpPr>
          <p:cNvPr name="TextBox 5" id="5"/>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TOOL 03 · USECALLBACK</a:t>
            </a:r>
          </a:p>
        </p:txBody>
      </p:sp>
      <p:sp>
        <p:nvSpPr>
          <p:cNvPr name="AutoShape 6" id="6"/>
          <p:cNvSpPr/>
          <p:nvPr/>
        </p:nvSpPr>
        <p:spPr>
          <a:xfrm rot="0">
            <a:off x="6809042" y="2257425"/>
            <a:ext cx="4997386" cy="14573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628900"/>
            <a:ext cx="16002000" cy="904875"/>
          </a:xfrm>
          <a:prstGeom prst="rect">
            <a:avLst/>
          </a:prstGeom>
        </p:spPr>
        <p:txBody>
          <a:bodyPr anchor="t" rtlCol="false" tIns="0" lIns="0" bIns="0" rIns="0">
            <a:spAutoFit/>
          </a:bodyPr>
          <a:lstStyle/>
          <a:p>
            <a:pPr algn="l">
              <a:lnSpc>
                <a:spcPts val="8550"/>
              </a:lnSpc>
            </a:pPr>
            <a:r>
              <a:rPr lang="en-US" b="true" sz="9000" spc="-179">
                <a:solidFill>
                  <a:srgbClr val="0D0F26"/>
                </a:solidFill>
                <a:latin typeface="Arimo Bold"/>
                <a:ea typeface="Arimo Bold"/>
                <a:cs typeface="Arimo Bold"/>
                <a:sym typeface="Arimo Bold"/>
              </a:rPr>
              <a:t>Cache the function.</a:t>
            </a:r>
          </a:p>
        </p:txBody>
      </p:sp>
      <p:sp>
        <p:nvSpPr>
          <p:cNvPr name="AutoShape 8" id="8"/>
          <p:cNvSpPr/>
          <p:nvPr/>
        </p:nvSpPr>
        <p:spPr>
          <a:xfrm rot="0">
            <a:off x="1143000" y="3838575"/>
            <a:ext cx="16002000" cy="9525"/>
          </a:xfrm>
          <a:prstGeom prst="rect">
            <a:avLst/>
          </a:prstGeom>
          <a:solidFill>
            <a:srgbClr val="0D0F26"/>
          </a:solidFill>
        </p:spPr>
      </p:sp>
      <p:sp>
        <p:nvSpPr>
          <p:cNvPr name="AutoShape 9" id="9"/>
          <p:cNvSpPr/>
          <p:nvPr/>
        </p:nvSpPr>
        <p:spPr>
          <a:xfrm rot="0">
            <a:off x="9134475" y="3848100"/>
            <a:ext cx="9525" cy="4514850"/>
          </a:xfrm>
          <a:prstGeom prst="rect">
            <a:avLst/>
          </a:prstGeom>
          <a:solidFill>
            <a:srgbClr val="0D0F26"/>
          </a:solidFill>
        </p:spPr>
      </p:sp>
      <p:sp>
        <p:nvSpPr>
          <p:cNvPr name="TextBox 10" id="10"/>
          <p:cNvSpPr txBox="true"/>
          <p:nvPr/>
        </p:nvSpPr>
        <p:spPr>
          <a:xfrm rot="0">
            <a:off x="1143000" y="4191000"/>
            <a:ext cx="7458075" cy="356235"/>
          </a:xfrm>
          <a:prstGeom prst="rect">
            <a:avLst/>
          </a:prstGeom>
        </p:spPr>
        <p:txBody>
          <a:bodyPr anchor="t" rtlCol="false" tIns="0" lIns="0" bIns="0" rIns="0">
            <a:spAutoFit/>
          </a:bodyPr>
          <a:lstStyle/>
          <a:p>
            <a:pPr algn="l">
              <a:lnSpc>
                <a:spcPts val="2940"/>
              </a:lnSpc>
            </a:pPr>
            <a:r>
              <a:rPr lang="en-US" b="true" sz="2100">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WITHOUT </a:t>
            </a:r>
            <a:r>
              <a:rPr lang="en-US" b="true" sz="2100">
                <a:solidFill>
                  <a:srgbClr val="0D0F26"/>
                </a:solidFill>
                <a:latin typeface="Inter Bold"/>
                <a:ea typeface="Inter Bold"/>
                <a:cs typeface="Inter Bold"/>
                <a:sym typeface="Inter Bold"/>
              </a:rPr>
              <a:t>useCallback</a:t>
            </a:r>
          </a:p>
        </p:txBody>
      </p:sp>
      <p:sp>
        <p:nvSpPr>
          <p:cNvPr name="AutoShape 11" id="11"/>
          <p:cNvSpPr/>
          <p:nvPr/>
        </p:nvSpPr>
        <p:spPr>
          <a:xfrm rot="0">
            <a:off x="10504456" y="4229100"/>
            <a:ext cx="1813655" cy="3524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12" id="12"/>
          <p:cNvSpPr txBox="true"/>
          <p:nvPr/>
        </p:nvSpPr>
        <p:spPr>
          <a:xfrm rot="0">
            <a:off x="9677400" y="4191000"/>
            <a:ext cx="7467600" cy="356235"/>
          </a:xfrm>
          <a:prstGeom prst="rect">
            <a:avLst/>
          </a:prstGeom>
        </p:spPr>
        <p:txBody>
          <a:bodyPr anchor="t" rtlCol="false" tIns="0" lIns="0" bIns="0" rIns="0">
            <a:spAutoFit/>
          </a:bodyPr>
          <a:lstStyle/>
          <a:p>
            <a:pPr algn="l">
              <a:lnSpc>
                <a:spcPts val="2940"/>
              </a:lnSpc>
            </a:pPr>
            <a:r>
              <a:rPr lang="en-US" b="true" sz="2100">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 </a:t>
            </a:r>
            <a:r>
              <a:rPr lang="en-US" b="true" sz="2100">
                <a:solidFill>
                  <a:srgbClr val="0D0F26"/>
                </a:solidFill>
                <a:latin typeface="Inter Bold"/>
                <a:ea typeface="Inter Bold"/>
                <a:cs typeface="Inter Bold"/>
                <a:sym typeface="Inter Bold"/>
              </a:rPr>
              <a:t>useCallback</a:t>
            </a:r>
          </a:p>
        </p:txBody>
      </p:sp>
      <p:sp>
        <p:nvSpPr>
          <p:cNvPr name="AutoShape 13" id="13"/>
          <p:cNvSpPr/>
          <p:nvPr/>
        </p:nvSpPr>
        <p:spPr>
          <a:xfrm rot="0">
            <a:off x="1143000" y="8896350"/>
            <a:ext cx="16002000" cy="9525"/>
          </a:xfrm>
          <a:prstGeom prst="rect">
            <a:avLst/>
          </a:prstGeom>
          <a:solidFill>
            <a:srgbClr val="0D0F26"/>
          </a:solidFill>
        </p:spPr>
      </p:sp>
      <p:sp>
        <p:nvSpPr>
          <p:cNvPr name="TextBox 14" id="14"/>
          <p:cNvSpPr txBox="true"/>
          <p:nvPr/>
        </p:nvSpPr>
        <p:spPr>
          <a:xfrm rot="0">
            <a:off x="1143000" y="9134475"/>
            <a:ext cx="23616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02 · MEMOIZE</a:t>
            </a:r>
          </a:p>
        </p:txBody>
      </p:sp>
      <p:sp>
        <p:nvSpPr>
          <p:cNvPr name="TextBox 15" id="15"/>
          <p:cNvSpPr txBox="true"/>
          <p:nvPr/>
        </p:nvSpPr>
        <p:spPr>
          <a:xfrm rot="0">
            <a:off x="11751278" y="9134475"/>
            <a:ext cx="5393722"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POINTLESS WITHOUT A MEMO'D CONSUMER</a:t>
            </a:r>
          </a:p>
        </p:txBody>
      </p:sp>
      <p:sp>
        <p:nvSpPr>
          <p:cNvPr name="AutoShape 16" id="16"/>
          <p:cNvSpPr/>
          <p:nvPr/>
        </p:nvSpPr>
        <p:spPr>
          <a:xfrm rot="0">
            <a:off x="1143000" y="4848225"/>
            <a:ext cx="7458075" cy="4091845"/>
          </a:xfrm>
          <a:prstGeom prst="rect">
            <a:avLst/>
          </a:prstGeom>
          <a:solidFill>
            <a:srgbClr val="FFFFFF"/>
          </a:solidFill>
          <a:ln w="19050" cap="sq">
            <a:solidFill>
              <a:srgbClr val="0D0F26"/>
            </a:solidFill>
            <a:prstDash val="solid"/>
            <a:miter/>
          </a:ln>
        </p:spPr>
      </p:sp>
      <p:sp>
        <p:nvSpPr>
          <p:cNvPr name="TextBox 17" id="17"/>
          <p:cNvSpPr txBox="true"/>
          <p:nvPr/>
        </p:nvSpPr>
        <p:spPr>
          <a:xfrm rot="0">
            <a:off x="2624910" y="6147435"/>
            <a:ext cx="266774" cy="31813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 </a:t>
            </a:r>
          </a:p>
        </p:txBody>
      </p:sp>
      <p:sp>
        <p:nvSpPr>
          <p:cNvPr name="AutoShape 18" id="18"/>
          <p:cNvSpPr/>
          <p:nvPr/>
        </p:nvSpPr>
        <p:spPr>
          <a:xfrm rot="0">
            <a:off x="1464945" y="6557010"/>
            <a:ext cx="2584799" cy="561975"/>
          </a:xfrm>
          <a:prstGeom prst="rect">
            <a:avLst/>
          </a:prstGeom>
          <a:solidFill>
            <a:srgbClr val="0D0F26"/>
          </a:solidFill>
        </p:spPr>
      </p:sp>
      <p:sp>
        <p:nvSpPr>
          <p:cNvPr name="TextBox 19" id="19"/>
          <p:cNvSpPr txBox="true"/>
          <p:nvPr/>
        </p:nvSpPr>
        <p:spPr>
          <a:xfrm rot="0">
            <a:off x="1636395" y="6652260"/>
            <a:ext cx="876300" cy="333375"/>
          </a:xfrm>
          <a:prstGeom prst="rect">
            <a:avLst/>
          </a:prstGeom>
        </p:spPr>
        <p:txBody>
          <a:bodyPr anchor="t" rtlCol="false" tIns="0" lIns="0" bIns="0" rIns="0">
            <a:spAutoFit/>
          </a:bodyPr>
          <a:lstStyle/>
          <a:p>
            <a:pPr algn="l">
              <a:lnSpc>
                <a:spcPts val="2520"/>
              </a:lnSpc>
            </a:pPr>
            <a:r>
              <a:rPr lang="en-US" sz="1800" spc="72">
                <a:gradFill>
                  <a:gsLst>
                    <a:gs pos="0">
                      <a:srgbClr val="FFFFFF">
                        <a:alpha val="55000"/>
                      </a:srgbClr>
                    </a:gs>
                    <a:gs pos="100000">
                      <a:srgbClr val="FFFFFF">
                        <a:alpha val="55000"/>
                      </a:srgbClr>
                    </a:gs>
                  </a:gsLst>
                  <a:lin ang="16200000"/>
                </a:gradFill>
                <a:latin typeface="JetBrains Mono"/>
                <a:ea typeface="JetBrains Mono"/>
                <a:cs typeface="JetBrains Mono"/>
                <a:sym typeface="JetBrains Mono"/>
              </a:rPr>
              <a:t>ONSAVE</a:t>
            </a:r>
          </a:p>
        </p:txBody>
      </p:sp>
      <p:sp>
        <p:nvSpPr>
          <p:cNvPr name="TextBox 20" id="20"/>
          <p:cNvSpPr txBox="true"/>
          <p:nvPr/>
        </p:nvSpPr>
        <p:spPr>
          <a:xfrm rot="0">
            <a:off x="2700528" y="6633210"/>
            <a:ext cx="1038225" cy="674370"/>
          </a:xfrm>
          <a:prstGeom prst="rect">
            <a:avLst/>
          </a:prstGeom>
        </p:spPr>
        <p:txBody>
          <a:bodyPr anchor="t" rtlCol="false" tIns="0" lIns="0" bIns="0" rIns="0">
            <a:spAutoFit/>
          </a:bodyPr>
          <a:lstStyle/>
          <a:p>
            <a:pPr algn="l">
              <a:lnSpc>
                <a:spcPts val="2729"/>
              </a:lnSpc>
            </a:pPr>
            <a:r>
              <a:rPr lang="en-US" sz="1950">
                <a:solidFill>
                  <a:srgbClr val="FFFFFF"/>
                </a:solidFill>
                <a:latin typeface="JetBrains Mono"/>
                <a:ea typeface="JetBrains Mono"/>
                <a:cs typeface="JetBrains Mono"/>
                <a:sym typeface="JetBrains Mono"/>
              </a:rPr>
              <a:t>0x67ba</a:t>
            </a:r>
          </a:p>
          <a:p>
            <a:pPr algn="l">
              <a:lnSpc>
                <a:spcPts val="2729"/>
              </a:lnSpc>
            </a:pPr>
          </a:p>
        </p:txBody>
      </p:sp>
      <p:sp>
        <p:nvSpPr>
          <p:cNvPr name="TextBox 21" id="21"/>
          <p:cNvSpPr txBox="true"/>
          <p:nvPr/>
        </p:nvSpPr>
        <p:spPr>
          <a:xfrm rot="0">
            <a:off x="2582561" y="7151370"/>
            <a:ext cx="212693" cy="18859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a:t>
            </a:r>
          </a:p>
        </p:txBody>
      </p:sp>
      <p:sp>
        <p:nvSpPr>
          <p:cNvPr name="TextBox 22" id="22"/>
          <p:cNvSpPr txBox="true"/>
          <p:nvPr/>
        </p:nvSpPr>
        <p:spPr>
          <a:xfrm rot="0">
            <a:off x="1466850" y="8378095"/>
            <a:ext cx="6016562" cy="314325"/>
          </a:xfrm>
          <a:prstGeom prst="rect">
            <a:avLst/>
          </a:prstGeom>
        </p:spPr>
        <p:txBody>
          <a:bodyPr anchor="t" rtlCol="false" tIns="0" lIns="0" bIns="0" rIns="0">
            <a:spAutoFit/>
          </a:bodyPr>
          <a:lstStyle/>
          <a:p>
            <a:pPr algn="l">
              <a:lnSpc>
                <a:spcPts val="2520"/>
              </a:lnSpc>
            </a:pPr>
            <a:r>
              <a:rPr lang="en-US" sz="1800" i="true" spc="18">
                <a:gradFill>
                  <a:gsLst>
                    <a:gs pos="0">
                      <a:srgbClr val="0D0F26">
                        <a:alpha val="55000"/>
                      </a:srgbClr>
                    </a:gs>
                    <a:gs pos="100000">
                      <a:srgbClr val="0D0F26">
                        <a:alpha val="55000"/>
                      </a:srgbClr>
                    </a:gs>
                  </a:gsLst>
                  <a:lin ang="16200000"/>
                </a:gradFill>
                <a:latin typeface="Inter Italics"/>
                <a:ea typeface="Inter Italics"/>
                <a:cs typeface="Inter Italics"/>
                <a:sym typeface="Inter Italics"/>
              </a:rPr>
              <a:t>new function each render → memo'd Child re-renders.</a:t>
            </a:r>
          </a:p>
        </p:txBody>
      </p:sp>
      <p:grpSp>
        <p:nvGrpSpPr>
          <p:cNvPr name="Group 23" id="23"/>
          <p:cNvGrpSpPr/>
          <p:nvPr/>
        </p:nvGrpSpPr>
        <p:grpSpPr>
          <a:xfrm rot="0">
            <a:off x="1390650" y="4714875"/>
            <a:ext cx="1501235" cy="295275"/>
            <a:chOff x="0" y="0"/>
            <a:chExt cx="2001647" cy="393700"/>
          </a:xfrm>
        </p:grpSpPr>
        <p:sp>
          <p:nvSpPr>
            <p:cNvPr name="Freeform 24" id="24"/>
            <p:cNvSpPr/>
            <p:nvPr/>
          </p:nvSpPr>
          <p:spPr>
            <a:xfrm flipH="false" flipV="false" rot="0">
              <a:off x="0" y="0"/>
              <a:ext cx="2001647" cy="393700"/>
            </a:xfrm>
            <a:custGeom>
              <a:avLst/>
              <a:gdLst/>
              <a:ahLst/>
              <a:cxnLst/>
              <a:rect r="r" b="b" t="t" l="l"/>
              <a:pathLst>
                <a:path h="393700" w="2001647">
                  <a:moveTo>
                    <a:pt x="0" y="0"/>
                  </a:moveTo>
                  <a:lnTo>
                    <a:pt x="2001647" y="0"/>
                  </a:lnTo>
                  <a:lnTo>
                    <a:pt x="2001647" y="393700"/>
                  </a:lnTo>
                  <a:lnTo>
                    <a:pt x="0" y="393700"/>
                  </a:lnTo>
                  <a:lnTo>
                    <a:pt x="0" y="0"/>
                  </a:lnTo>
                  <a:close/>
                </a:path>
              </a:pathLst>
            </a:custGeom>
            <a:solidFill>
              <a:srgbClr val="FFFFFF"/>
            </a:solidFill>
          </p:spPr>
        </p:sp>
        <p:sp>
          <p:nvSpPr>
            <p:cNvPr name="TextBox 25" id="25"/>
            <p:cNvSpPr txBox="true"/>
            <p:nvPr/>
          </p:nvSpPr>
          <p:spPr>
            <a:xfrm>
              <a:off x="0" y="-38100"/>
              <a:ext cx="2001647" cy="431800"/>
            </a:xfrm>
            <a:prstGeom prst="rect">
              <a:avLst/>
            </a:prstGeom>
          </p:spPr>
          <p:txBody>
            <a:bodyPr anchor="ctr" rtlCol="false" tIns="0" lIns="0" bIns="0" rIns="0"/>
            <a:lstStyle/>
            <a:p>
              <a:pPr algn="l">
                <a:lnSpc>
                  <a:spcPts val="2520"/>
                </a:lnSpc>
              </a:pPr>
              <a:r>
                <a:rPr lang="en-US" b="true" sz="1800">
                  <a:solidFill>
                    <a:srgbClr val="0D0F26"/>
                  </a:solidFill>
                  <a:latin typeface="JetBrains Mono Bold"/>
                  <a:ea typeface="JetBrains Mono Bold"/>
                  <a:cs typeface="JetBrains Mono Bold"/>
                  <a:sym typeface="JetBrains Mono Bold"/>
                </a:rPr>
                <a:t>render #1</a:t>
              </a:r>
            </a:p>
          </p:txBody>
        </p:sp>
      </p:grpSp>
      <p:grpSp>
        <p:nvGrpSpPr>
          <p:cNvPr name="Group 26" id="26"/>
          <p:cNvGrpSpPr/>
          <p:nvPr/>
        </p:nvGrpSpPr>
        <p:grpSpPr>
          <a:xfrm rot="0">
            <a:off x="1464945" y="5162836"/>
            <a:ext cx="5773124" cy="942689"/>
            <a:chOff x="0" y="0"/>
            <a:chExt cx="7697498" cy="1256919"/>
          </a:xfrm>
        </p:grpSpPr>
        <p:sp>
          <p:nvSpPr>
            <p:cNvPr name="Freeform 27" id="27"/>
            <p:cNvSpPr/>
            <p:nvPr/>
          </p:nvSpPr>
          <p:spPr>
            <a:xfrm flipH="false" flipV="false" rot="0">
              <a:off x="0" y="0"/>
              <a:ext cx="7697498" cy="1256919"/>
            </a:xfrm>
            <a:custGeom>
              <a:avLst/>
              <a:gdLst/>
              <a:ahLst/>
              <a:cxnLst/>
              <a:rect r="r" b="b" t="t" l="l"/>
              <a:pathLst>
                <a:path h="1256919" w="7697498">
                  <a:moveTo>
                    <a:pt x="0" y="0"/>
                  </a:moveTo>
                  <a:lnTo>
                    <a:pt x="7697498" y="0"/>
                  </a:lnTo>
                  <a:lnTo>
                    <a:pt x="7697498" y="1256919"/>
                  </a:lnTo>
                  <a:lnTo>
                    <a:pt x="0" y="1256919"/>
                  </a:lnTo>
                  <a:lnTo>
                    <a:pt x="0" y="0"/>
                  </a:lnTo>
                  <a:close/>
                </a:path>
              </a:pathLst>
            </a:custGeom>
            <a:solidFill>
              <a:srgbClr val="C8CEF5"/>
            </a:solidFill>
          </p:spPr>
        </p:sp>
        <p:sp>
          <p:nvSpPr>
            <p:cNvPr name="TextBox 28" id="28"/>
            <p:cNvSpPr txBox="true"/>
            <p:nvPr/>
          </p:nvSpPr>
          <p:spPr>
            <a:xfrm>
              <a:off x="0" y="-38100"/>
              <a:ext cx="7697498" cy="1295019"/>
            </a:xfrm>
            <a:prstGeom prst="rect">
              <a:avLst/>
            </a:prstGeom>
          </p:spPr>
          <p:txBody>
            <a:bodyPr anchor="ctr" rtlCol="false" tIns="178816" lIns="178816" bIns="178816" rIns="178816"/>
            <a:lstStyle/>
            <a:p>
              <a:pPr algn="l">
                <a:lnSpc>
                  <a:spcPts val="2239"/>
                </a:lnSpc>
              </a:pPr>
              <a:r>
                <a:rPr lang="en-US" sz="1599">
                  <a:solidFill>
                    <a:srgbClr val="0D0F26"/>
                  </a:solidFill>
                  <a:latin typeface="JetBrains Mono"/>
                  <a:ea typeface="JetBrains Mono"/>
                  <a:cs typeface="JetBrains Mono"/>
                  <a:sym typeface="JetBrains Mono"/>
                </a:rPr>
                <a:t>const onPress = () =&gt; save(user)</a:t>
              </a:r>
            </a:p>
            <a:p>
              <a:pPr algn="l">
                <a:lnSpc>
                  <a:spcPts val="2239"/>
                </a:lnSpc>
              </a:pPr>
              <a:r>
                <a:rPr lang="en-US" sz="1599">
                  <a:solidFill>
                    <a:srgbClr val="0D0F26"/>
                  </a:solidFill>
                  <a:latin typeface="JetBrains Mono"/>
                  <a:ea typeface="JetBrains Mono"/>
                  <a:cs typeface="JetBrains Mono"/>
                  <a:sym typeface="JetBrains Mono"/>
                </a:rPr>
                <a:t>&lt;Component onPress={onPress</a:t>
              </a:r>
              <a:r>
                <a:rPr lang="en-US" sz="1599">
                  <a:solidFill>
                    <a:srgbClr val="0D0F26"/>
                  </a:solidFill>
                  <a:latin typeface="JetBrains Mono"/>
                  <a:ea typeface="JetBrains Mono"/>
                  <a:cs typeface="JetBrains Mono"/>
                  <a:sym typeface="JetBrains Mono"/>
                </a:rPr>
                <a:t>} /&gt;</a:t>
              </a:r>
            </a:p>
          </p:txBody>
        </p:sp>
      </p:grpSp>
      <p:sp>
        <p:nvSpPr>
          <p:cNvPr name="AutoShape 29" id="29"/>
          <p:cNvSpPr/>
          <p:nvPr/>
        </p:nvSpPr>
        <p:spPr>
          <a:xfrm rot="0">
            <a:off x="9677400" y="4848225"/>
            <a:ext cx="7467600" cy="4091845"/>
          </a:xfrm>
          <a:prstGeom prst="rect">
            <a:avLst/>
          </a:prstGeom>
          <a:solidFill>
            <a:srgbClr val="FFFFFF"/>
          </a:solidFill>
          <a:ln w="19050" cap="sq">
            <a:solidFill>
              <a:srgbClr val="0D0F26"/>
            </a:solidFill>
            <a:prstDash val="solid"/>
            <a:miter/>
          </a:ln>
        </p:spPr>
      </p:sp>
      <p:sp>
        <p:nvSpPr>
          <p:cNvPr name="TextBox 30" id="30"/>
          <p:cNvSpPr txBox="true"/>
          <p:nvPr/>
        </p:nvSpPr>
        <p:spPr>
          <a:xfrm rot="0">
            <a:off x="11088682" y="6147435"/>
            <a:ext cx="266774" cy="31813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 </a:t>
            </a:r>
          </a:p>
        </p:txBody>
      </p:sp>
      <p:sp>
        <p:nvSpPr>
          <p:cNvPr name="AutoShape 31" id="31"/>
          <p:cNvSpPr/>
          <p:nvPr/>
        </p:nvSpPr>
        <p:spPr>
          <a:xfrm rot="0">
            <a:off x="10001250" y="6557010"/>
            <a:ext cx="2580989" cy="561975"/>
          </a:xfrm>
          <a:prstGeom prst="rect">
            <a:avLst/>
          </a:prstGeom>
          <a:solidFill>
            <a:srgbClr val="0D0F26"/>
          </a:solidFill>
        </p:spPr>
      </p:sp>
      <p:sp>
        <p:nvSpPr>
          <p:cNvPr name="TextBox 32" id="32"/>
          <p:cNvSpPr txBox="true"/>
          <p:nvPr/>
        </p:nvSpPr>
        <p:spPr>
          <a:xfrm rot="0">
            <a:off x="10191750" y="6652260"/>
            <a:ext cx="877919" cy="333375"/>
          </a:xfrm>
          <a:prstGeom prst="rect">
            <a:avLst/>
          </a:prstGeom>
        </p:spPr>
        <p:txBody>
          <a:bodyPr anchor="t" rtlCol="false" tIns="0" lIns="0" bIns="0" rIns="0">
            <a:spAutoFit/>
          </a:bodyPr>
          <a:lstStyle/>
          <a:p>
            <a:pPr algn="l">
              <a:lnSpc>
                <a:spcPts val="2520"/>
              </a:lnSpc>
            </a:pPr>
            <a:r>
              <a:rPr lang="en-US" sz="1800" spc="72">
                <a:gradFill>
                  <a:gsLst>
                    <a:gs pos="0">
                      <a:srgbClr val="FFFFFF">
                        <a:alpha val="55000"/>
                      </a:srgbClr>
                    </a:gs>
                    <a:gs pos="100000">
                      <a:srgbClr val="FFFFFF">
                        <a:alpha val="55000"/>
                      </a:srgbClr>
                    </a:gs>
                  </a:gsLst>
                  <a:lin ang="16200000"/>
                </a:gradFill>
                <a:latin typeface="JetBrains Mono"/>
                <a:ea typeface="JetBrains Mono"/>
                <a:cs typeface="JetBrains Mono"/>
                <a:sym typeface="JetBrains Mono"/>
              </a:rPr>
              <a:t>ONSAVE</a:t>
            </a:r>
          </a:p>
        </p:txBody>
      </p:sp>
      <p:sp>
        <p:nvSpPr>
          <p:cNvPr name="TextBox 33" id="33"/>
          <p:cNvSpPr txBox="true"/>
          <p:nvPr/>
        </p:nvSpPr>
        <p:spPr>
          <a:xfrm rot="0">
            <a:off x="11222069" y="6633210"/>
            <a:ext cx="1413891" cy="331470"/>
          </a:xfrm>
          <a:prstGeom prst="rect">
            <a:avLst/>
          </a:prstGeom>
        </p:spPr>
        <p:txBody>
          <a:bodyPr anchor="t" rtlCol="false" tIns="0" lIns="0" bIns="0" rIns="0">
            <a:spAutoFit/>
          </a:bodyPr>
          <a:lstStyle/>
          <a:p>
            <a:pPr algn="l">
              <a:lnSpc>
                <a:spcPts val="2729"/>
              </a:lnSpc>
            </a:pPr>
            <a:r>
              <a:rPr lang="en-US" sz="1950">
                <a:solidFill>
                  <a:srgbClr val="FFFFFF"/>
                </a:solidFill>
                <a:latin typeface="JetBrains Mono"/>
                <a:ea typeface="JetBrains Mono"/>
                <a:cs typeface="JetBrains Mono"/>
                <a:sym typeface="JetBrains Mono"/>
              </a:rPr>
              <a:t>fn@b71e</a:t>
            </a:r>
          </a:p>
        </p:txBody>
      </p:sp>
      <p:sp>
        <p:nvSpPr>
          <p:cNvPr name="TextBox 34" id="34"/>
          <p:cNvSpPr txBox="true"/>
          <p:nvPr/>
        </p:nvSpPr>
        <p:spPr>
          <a:xfrm rot="0">
            <a:off x="11184446" y="7151370"/>
            <a:ext cx="212693" cy="188595"/>
          </a:xfrm>
          <a:prstGeom prst="rect">
            <a:avLst/>
          </a:prstGeom>
        </p:spPr>
        <p:txBody>
          <a:bodyPr anchor="t" rtlCol="false" tIns="0" lIns="0" bIns="0" rIns="0">
            <a:spAutoFit/>
          </a:bodyPr>
          <a:lstStyle/>
          <a:p>
            <a:pPr algn="l">
              <a:lnSpc>
                <a:spcPts val="2160"/>
              </a:lnSpc>
            </a:pPr>
            <a:r>
              <a:rPr lang="en-US" b="true" sz="2700">
                <a:gradFill>
                  <a:gsLst>
                    <a:gs pos="0">
                      <a:srgbClr val="0D0F26">
                        <a:alpha val="55000"/>
                      </a:srgbClr>
                    </a:gs>
                    <a:gs pos="100000">
                      <a:srgbClr val="0D0F26">
                        <a:alpha val="55000"/>
                      </a:srgbClr>
                    </a:gs>
                  </a:gsLst>
                  <a:lin ang="16200000"/>
                </a:gradFill>
                <a:latin typeface="Arimo Bold"/>
                <a:ea typeface="Arimo Bold"/>
                <a:cs typeface="Arimo Bold"/>
                <a:sym typeface="Arimo Bold"/>
              </a:rPr>
              <a:t>↓</a:t>
            </a:r>
          </a:p>
        </p:txBody>
      </p:sp>
      <p:sp>
        <p:nvSpPr>
          <p:cNvPr name="TextBox 35" id="35"/>
          <p:cNvSpPr txBox="true"/>
          <p:nvPr/>
        </p:nvSpPr>
        <p:spPr>
          <a:xfrm rot="0">
            <a:off x="10001250" y="8378095"/>
            <a:ext cx="4733925" cy="314325"/>
          </a:xfrm>
          <a:prstGeom prst="rect">
            <a:avLst/>
          </a:prstGeom>
        </p:spPr>
        <p:txBody>
          <a:bodyPr anchor="t" rtlCol="false" tIns="0" lIns="0" bIns="0" rIns="0">
            <a:spAutoFit/>
          </a:bodyPr>
          <a:lstStyle/>
          <a:p>
            <a:pPr algn="l">
              <a:lnSpc>
                <a:spcPts val="2520"/>
              </a:lnSpc>
            </a:pPr>
            <a:r>
              <a:rPr lang="en-US" sz="1800" i="true" spc="18">
                <a:gradFill>
                  <a:gsLst>
                    <a:gs pos="0">
                      <a:srgbClr val="0D0F26">
                        <a:alpha val="55000"/>
                      </a:srgbClr>
                    </a:gs>
                    <a:gs pos="100000">
                      <a:srgbClr val="0D0F26">
                        <a:alpha val="55000"/>
                      </a:srgbClr>
                    </a:gs>
                  </a:gsLst>
                  <a:lin ang="16200000"/>
                </a:gradFill>
                <a:latin typeface="Inter Italics"/>
                <a:ea typeface="Inter Italics"/>
                <a:cs typeface="Inter Italics"/>
                <a:sym typeface="Inter Italics"/>
              </a:rPr>
              <a:t>stable ref → memo'd Child skips re-render.</a:t>
            </a:r>
          </a:p>
        </p:txBody>
      </p:sp>
      <p:grpSp>
        <p:nvGrpSpPr>
          <p:cNvPr name="Group 36" id="36"/>
          <p:cNvGrpSpPr/>
          <p:nvPr/>
        </p:nvGrpSpPr>
        <p:grpSpPr>
          <a:xfrm rot="0">
            <a:off x="9925050" y="4714875"/>
            <a:ext cx="1501235" cy="295275"/>
            <a:chOff x="0" y="0"/>
            <a:chExt cx="2001647" cy="393700"/>
          </a:xfrm>
        </p:grpSpPr>
        <p:sp>
          <p:nvSpPr>
            <p:cNvPr name="Freeform 37" id="37"/>
            <p:cNvSpPr/>
            <p:nvPr/>
          </p:nvSpPr>
          <p:spPr>
            <a:xfrm flipH="false" flipV="false" rot="0">
              <a:off x="0" y="0"/>
              <a:ext cx="2001647" cy="393700"/>
            </a:xfrm>
            <a:custGeom>
              <a:avLst/>
              <a:gdLst/>
              <a:ahLst/>
              <a:cxnLst/>
              <a:rect r="r" b="b" t="t" l="l"/>
              <a:pathLst>
                <a:path h="393700" w="2001647">
                  <a:moveTo>
                    <a:pt x="0" y="0"/>
                  </a:moveTo>
                  <a:lnTo>
                    <a:pt x="2001647" y="0"/>
                  </a:lnTo>
                  <a:lnTo>
                    <a:pt x="2001647" y="393700"/>
                  </a:lnTo>
                  <a:lnTo>
                    <a:pt x="0" y="393700"/>
                  </a:lnTo>
                  <a:lnTo>
                    <a:pt x="0" y="0"/>
                  </a:lnTo>
                  <a:close/>
                </a:path>
              </a:pathLst>
            </a:custGeom>
            <a:solidFill>
              <a:srgbClr val="FFFFFF"/>
            </a:solidFill>
          </p:spPr>
        </p:sp>
        <p:sp>
          <p:nvSpPr>
            <p:cNvPr name="TextBox 38" id="38"/>
            <p:cNvSpPr txBox="true"/>
            <p:nvPr/>
          </p:nvSpPr>
          <p:spPr>
            <a:xfrm>
              <a:off x="0" y="-38100"/>
              <a:ext cx="2001647" cy="431800"/>
            </a:xfrm>
            <a:prstGeom prst="rect">
              <a:avLst/>
            </a:prstGeom>
          </p:spPr>
          <p:txBody>
            <a:bodyPr anchor="ctr" rtlCol="false" tIns="0" lIns="0" bIns="0" rIns="0"/>
            <a:lstStyle/>
            <a:p>
              <a:pPr algn="l">
                <a:lnSpc>
                  <a:spcPts val="2520"/>
                </a:lnSpc>
              </a:pPr>
              <a:r>
                <a:rPr lang="en-US" b="true" sz="1800">
                  <a:solidFill>
                    <a:srgbClr val="0D0F26"/>
                  </a:solidFill>
                  <a:latin typeface="JetBrains Mono Bold"/>
                  <a:ea typeface="JetBrains Mono Bold"/>
                  <a:cs typeface="JetBrains Mono Bold"/>
                  <a:sym typeface="JetBrains Mono Bold"/>
                </a:rPr>
                <a:t>render #1</a:t>
              </a:r>
            </a:p>
          </p:txBody>
        </p:sp>
      </p:grpSp>
      <p:grpSp>
        <p:nvGrpSpPr>
          <p:cNvPr name="Group 39" id="39"/>
          <p:cNvGrpSpPr/>
          <p:nvPr/>
        </p:nvGrpSpPr>
        <p:grpSpPr>
          <a:xfrm rot="0">
            <a:off x="9999345" y="5172075"/>
            <a:ext cx="6904307" cy="889635"/>
            <a:chOff x="0" y="0"/>
            <a:chExt cx="9205743" cy="1186180"/>
          </a:xfrm>
        </p:grpSpPr>
        <p:sp>
          <p:nvSpPr>
            <p:cNvPr name="Freeform 40" id="40"/>
            <p:cNvSpPr/>
            <p:nvPr/>
          </p:nvSpPr>
          <p:spPr>
            <a:xfrm flipH="false" flipV="false" rot="0">
              <a:off x="0" y="0"/>
              <a:ext cx="9205743" cy="1186180"/>
            </a:xfrm>
            <a:custGeom>
              <a:avLst/>
              <a:gdLst/>
              <a:ahLst/>
              <a:cxnLst/>
              <a:rect r="r" b="b" t="t" l="l"/>
              <a:pathLst>
                <a:path h="1186180" w="9205743">
                  <a:moveTo>
                    <a:pt x="0" y="0"/>
                  </a:moveTo>
                  <a:lnTo>
                    <a:pt x="9205743" y="0"/>
                  </a:lnTo>
                  <a:lnTo>
                    <a:pt x="9205743" y="1186180"/>
                  </a:lnTo>
                  <a:lnTo>
                    <a:pt x="0" y="1186180"/>
                  </a:lnTo>
                  <a:lnTo>
                    <a:pt x="0" y="0"/>
                  </a:lnTo>
                  <a:close/>
                </a:path>
              </a:pathLst>
            </a:custGeom>
            <a:solidFill>
              <a:srgbClr val="C8CEF5"/>
            </a:solidFill>
          </p:spPr>
        </p:sp>
        <p:sp>
          <p:nvSpPr>
            <p:cNvPr name="TextBox 41" id="41"/>
            <p:cNvSpPr txBox="true"/>
            <p:nvPr/>
          </p:nvSpPr>
          <p:spPr>
            <a:xfrm>
              <a:off x="0" y="-38100"/>
              <a:ext cx="9205743" cy="1224280"/>
            </a:xfrm>
            <a:prstGeom prst="rect">
              <a:avLst/>
            </a:prstGeom>
          </p:spPr>
          <p:txBody>
            <a:bodyPr anchor="ctr" rtlCol="false" tIns="178816" lIns="178816" bIns="178816" rIns="178816"/>
            <a:lstStyle/>
            <a:p>
              <a:pPr algn="l">
                <a:lnSpc>
                  <a:spcPts val="2239"/>
                </a:lnSpc>
              </a:pPr>
              <a:r>
                <a:rPr lang="en-US" sz="1599">
                  <a:solidFill>
                    <a:srgbClr val="0D0F26"/>
                  </a:solidFill>
                  <a:latin typeface="JetBrains Mono"/>
                  <a:ea typeface="JetBrains Mono"/>
                  <a:cs typeface="JetBrains Mono"/>
                  <a:sym typeface="JetBrains Mono"/>
                </a:rPr>
                <a:t>const onPress = useCallback(</a:t>
              </a:r>
              <a:r>
                <a:rPr lang="en-US" sz="1599">
                  <a:solidFill>
                    <a:srgbClr val="0D0F26"/>
                  </a:solidFill>
                  <a:latin typeface="JetBrains Mono"/>
                  <a:ea typeface="JetBrains Mono"/>
                  <a:cs typeface="JetBrains Mono"/>
                  <a:sym typeface="JetBrains Mono"/>
                </a:rPr>
                <a:t>() =&gt; save(user), [deps])</a:t>
              </a:r>
            </a:p>
            <a:p>
              <a:pPr algn="l">
                <a:lnSpc>
                  <a:spcPts val="2239"/>
                </a:lnSpc>
              </a:pPr>
              <a:r>
                <a:rPr lang="en-US" sz="1599">
                  <a:solidFill>
                    <a:srgbClr val="0D0F26"/>
                  </a:solidFill>
                  <a:latin typeface="JetBrains Mono"/>
                  <a:ea typeface="JetBrains Mono"/>
                  <a:cs typeface="JetBrains Mono"/>
                  <a:sym typeface="JetBrains Mono"/>
                </a:rPr>
                <a:t>&lt;Component onPress={onPress} /&gt;</a:t>
              </a:r>
            </a:p>
          </p:txBody>
        </p:sp>
      </p:grpSp>
      <p:grpSp>
        <p:nvGrpSpPr>
          <p:cNvPr name="Group 42" id="42"/>
          <p:cNvGrpSpPr/>
          <p:nvPr/>
        </p:nvGrpSpPr>
        <p:grpSpPr>
          <a:xfrm rot="0">
            <a:off x="1466850" y="7530370"/>
            <a:ext cx="2582894" cy="740283"/>
            <a:chOff x="0" y="0"/>
            <a:chExt cx="3443859" cy="987044"/>
          </a:xfrm>
        </p:grpSpPr>
        <p:sp>
          <p:nvSpPr>
            <p:cNvPr name="Freeform 43" id="43"/>
            <p:cNvSpPr/>
            <p:nvPr/>
          </p:nvSpPr>
          <p:spPr>
            <a:xfrm flipH="false" flipV="false" rot="0">
              <a:off x="0" y="0"/>
              <a:ext cx="3443859" cy="987044"/>
            </a:xfrm>
            <a:custGeom>
              <a:avLst/>
              <a:gdLst/>
              <a:ahLst/>
              <a:cxnLst/>
              <a:rect r="r" b="b" t="t" l="l"/>
              <a:pathLst>
                <a:path h="987044" w="3443859">
                  <a:moveTo>
                    <a:pt x="0" y="0"/>
                  </a:moveTo>
                  <a:lnTo>
                    <a:pt x="3443859" y="0"/>
                  </a:lnTo>
                  <a:lnTo>
                    <a:pt x="3443859" y="987044"/>
                  </a:lnTo>
                  <a:lnTo>
                    <a:pt x="0" y="987044"/>
                  </a:lnTo>
                  <a:lnTo>
                    <a:pt x="0" y="0"/>
                  </a:lnTo>
                  <a:close/>
                </a:path>
              </a:pathLst>
            </a:custGeom>
            <a:solidFill>
              <a:srgbClr val="C8CEF5"/>
            </a:solidFill>
          </p:spPr>
        </p:sp>
        <p:sp>
          <p:nvSpPr>
            <p:cNvPr name="TextBox 44" id="44"/>
            <p:cNvSpPr txBox="true"/>
            <p:nvPr/>
          </p:nvSpPr>
          <p:spPr>
            <a:xfrm>
              <a:off x="0" y="-38100"/>
              <a:ext cx="3443859" cy="1025144"/>
            </a:xfrm>
            <a:prstGeom prst="rect">
              <a:avLst/>
            </a:prstGeom>
          </p:spPr>
          <p:txBody>
            <a:bodyPr anchor="ctr" rtlCol="false" tIns="279400" lIns="279400" bIns="279400" rIns="279400"/>
            <a:lstStyle/>
            <a:p>
              <a:pPr algn="ctr">
                <a:lnSpc>
                  <a:spcPts val="2520"/>
                </a:lnSpc>
              </a:pPr>
              <a:r>
                <a:rPr lang="en-US" b="true" sz="1800">
                  <a:solidFill>
                    <a:srgbClr val="0D0F26"/>
                  </a:solidFill>
                  <a:latin typeface="JetBrains Mono Medium"/>
                  <a:ea typeface="JetBrains Mono Medium"/>
                  <a:cs typeface="JetBrains Mono Medium"/>
                  <a:sym typeface="JetBrains Mono Medium"/>
                </a:rPr>
                <a:t>&lt;Child /&gt;</a:t>
              </a:r>
            </a:p>
          </p:txBody>
        </p:sp>
      </p:grpSp>
      <p:grpSp>
        <p:nvGrpSpPr>
          <p:cNvPr name="Group 45" id="45"/>
          <p:cNvGrpSpPr/>
          <p:nvPr/>
        </p:nvGrpSpPr>
        <p:grpSpPr>
          <a:xfrm rot="0">
            <a:off x="9999345" y="7511415"/>
            <a:ext cx="2582894" cy="778383"/>
            <a:chOff x="0" y="0"/>
            <a:chExt cx="3443859" cy="1037844"/>
          </a:xfrm>
        </p:grpSpPr>
        <p:sp>
          <p:nvSpPr>
            <p:cNvPr name="Freeform 46" id="46"/>
            <p:cNvSpPr/>
            <p:nvPr/>
          </p:nvSpPr>
          <p:spPr>
            <a:xfrm flipH="false" flipV="false" rot="0">
              <a:off x="0" y="0"/>
              <a:ext cx="3443859" cy="1037844"/>
            </a:xfrm>
            <a:custGeom>
              <a:avLst/>
              <a:gdLst/>
              <a:ahLst/>
              <a:cxnLst/>
              <a:rect r="r" b="b" t="t" l="l"/>
              <a:pathLst>
                <a:path h="1037844" w="3443859">
                  <a:moveTo>
                    <a:pt x="0" y="0"/>
                  </a:moveTo>
                  <a:lnTo>
                    <a:pt x="3443859" y="0"/>
                  </a:lnTo>
                  <a:lnTo>
                    <a:pt x="3443859" y="1037844"/>
                  </a:lnTo>
                  <a:lnTo>
                    <a:pt x="0" y="1037844"/>
                  </a:lnTo>
                  <a:lnTo>
                    <a:pt x="0" y="0"/>
                  </a:lnTo>
                  <a:close/>
                </a:path>
              </a:pathLst>
            </a:custGeom>
            <a:solidFill>
              <a:srgbClr val="FFFFFF"/>
            </a:solidFill>
            <a:ln w="19050" cap="sq">
              <a:solidFill>
                <a:srgbClr val="000000"/>
              </a:solidFill>
              <a:prstDash val="dash"/>
              <a:miter/>
            </a:ln>
          </p:spPr>
        </p:sp>
        <p:sp>
          <p:nvSpPr>
            <p:cNvPr name="TextBox 47" id="47"/>
            <p:cNvSpPr txBox="true"/>
            <p:nvPr/>
          </p:nvSpPr>
          <p:spPr>
            <a:xfrm>
              <a:off x="0" y="-38100"/>
              <a:ext cx="3443859" cy="1075944"/>
            </a:xfrm>
            <a:prstGeom prst="rect">
              <a:avLst/>
            </a:prstGeom>
          </p:spPr>
          <p:txBody>
            <a:bodyPr anchor="ctr" rtlCol="false" tIns="279400" lIns="279400" bIns="279400" rIns="279400"/>
            <a:lstStyle/>
            <a:p>
              <a:pPr algn="ctr">
                <a:lnSpc>
                  <a:spcPts val="2520"/>
                </a:lnSpc>
              </a:pPr>
              <a:r>
                <a:rPr lang="en-US" b="true" sz="1800">
                  <a:solidFill>
                    <a:srgbClr val="6C6C66"/>
                  </a:solidFill>
                  <a:latin typeface="JetBrains Mono Medium"/>
                  <a:ea typeface="JetBrains Mono Medium"/>
                  <a:cs typeface="JetBrains Mono Medium"/>
                  <a:sym typeface="JetBrains Mono Medium"/>
                </a:rPr>
                <a:t>&lt;Child /&gt;</a:t>
              </a:r>
            </a:p>
          </p:txBody>
        </p:sp>
      </p:grpSp>
      <p:sp>
        <p:nvSpPr>
          <p:cNvPr name="AutoShape 48" id="48"/>
          <p:cNvSpPr/>
          <p:nvPr/>
        </p:nvSpPr>
        <p:spPr>
          <a:xfrm rot="0">
            <a:off x="11517535" y="7435120"/>
            <a:ext cx="411480" cy="190500"/>
          </a:xfrm>
          <a:prstGeom prst="rect">
            <a:avLst/>
          </a:prstGeom>
          <a:solidFill>
            <a:srgbClr val="FFFFFF"/>
          </a:solidFill>
        </p:spPr>
      </p:sp>
      <p:sp>
        <p:nvSpPr>
          <p:cNvPr name="TextBox 49" id="49"/>
          <p:cNvSpPr txBox="true"/>
          <p:nvPr/>
        </p:nvSpPr>
        <p:spPr>
          <a:xfrm rot="0">
            <a:off x="11517535" y="7444220"/>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
        <p:nvSpPr>
          <p:cNvPr name="AutoShape 50" id="50"/>
          <p:cNvSpPr/>
          <p:nvPr/>
        </p:nvSpPr>
        <p:spPr>
          <a:xfrm rot="0">
            <a:off x="3219641" y="7435120"/>
            <a:ext cx="411480" cy="190500"/>
          </a:xfrm>
          <a:prstGeom prst="rect">
            <a:avLst/>
          </a:prstGeom>
          <a:solidFill>
            <a:srgbClr val="FFFFFF"/>
          </a:solidFill>
        </p:spPr>
      </p:sp>
      <p:sp>
        <p:nvSpPr>
          <p:cNvPr name="TextBox 51" id="51"/>
          <p:cNvSpPr txBox="true"/>
          <p:nvPr/>
        </p:nvSpPr>
        <p:spPr>
          <a:xfrm rot="0">
            <a:off x="3219641" y="7444220"/>
            <a:ext cx="411480" cy="143725"/>
          </a:xfrm>
          <a:prstGeom prst="rect">
            <a:avLst/>
          </a:prstGeom>
        </p:spPr>
        <p:txBody>
          <a:bodyPr anchor="t" rtlCol="false" tIns="0" lIns="0" bIns="0" rIns="0">
            <a:spAutoFit/>
          </a:bodyPr>
          <a:lstStyle/>
          <a:p>
            <a:pPr algn="ctr">
              <a:lnSpc>
                <a:spcPts val="1120"/>
              </a:lnSpc>
              <a:spcBef>
                <a:spcPct val="0"/>
              </a:spcBef>
            </a:pPr>
            <a:r>
              <a:rPr lang="en-US" b="true" sz="800" spc="32">
                <a:solidFill>
                  <a:srgbClr val="000000"/>
                </a:solidFill>
                <a:latin typeface="Inter Medium"/>
                <a:ea typeface="Inter Medium"/>
                <a:cs typeface="Inter Medium"/>
                <a:sym typeface="Inter Medium"/>
              </a:rPr>
              <a:t>MEMO</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FFF"/>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6350901" y="833438"/>
            <a:ext cx="79419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18 / 26</a:t>
            </a:r>
          </a:p>
        </p:txBody>
      </p:sp>
      <p:sp>
        <p:nvSpPr>
          <p:cNvPr name="TextBox 6" id="6"/>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BUILD-TIME MEMOIZATION</a:t>
            </a:r>
          </a:p>
        </p:txBody>
      </p:sp>
      <p:sp>
        <p:nvSpPr>
          <p:cNvPr name="AutoShape 7" id="7"/>
          <p:cNvSpPr/>
          <p:nvPr/>
        </p:nvSpPr>
        <p:spPr>
          <a:xfrm rot="0">
            <a:off x="3382232" y="2257425"/>
            <a:ext cx="8341995" cy="145732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8" id="8"/>
          <p:cNvSpPr txBox="true"/>
          <p:nvPr/>
        </p:nvSpPr>
        <p:spPr>
          <a:xfrm rot="0">
            <a:off x="1143000" y="2628900"/>
            <a:ext cx="16002000" cy="904875"/>
          </a:xfrm>
          <a:prstGeom prst="rect">
            <a:avLst/>
          </a:prstGeom>
        </p:spPr>
        <p:txBody>
          <a:bodyPr anchor="t" rtlCol="false" tIns="0" lIns="0" bIns="0" rIns="0">
            <a:spAutoFit/>
          </a:bodyPr>
          <a:lstStyle/>
          <a:p>
            <a:pPr algn="l">
              <a:lnSpc>
                <a:spcPts val="8550"/>
              </a:lnSpc>
            </a:pPr>
            <a:r>
              <a:rPr lang="en-US" b="true" sz="9000" spc="-179">
                <a:solidFill>
                  <a:srgbClr val="0D0F26"/>
                </a:solidFill>
                <a:latin typeface="Arimo Bold"/>
                <a:ea typeface="Arimo Bold"/>
                <a:cs typeface="Arimo Bold"/>
                <a:sym typeface="Arimo Bold"/>
              </a:rPr>
              <a:t>The React Compiler.</a:t>
            </a:r>
          </a:p>
        </p:txBody>
      </p:sp>
      <p:sp>
        <p:nvSpPr>
          <p:cNvPr name="AutoShape 9" id="9"/>
          <p:cNvSpPr/>
          <p:nvPr/>
        </p:nvSpPr>
        <p:spPr>
          <a:xfrm rot="0">
            <a:off x="1143000" y="3990975"/>
            <a:ext cx="16002000" cy="9525"/>
          </a:xfrm>
          <a:prstGeom prst="rect">
            <a:avLst/>
          </a:prstGeom>
          <a:solidFill>
            <a:srgbClr val="0D0F26"/>
          </a:solidFill>
        </p:spPr>
      </p:sp>
      <p:sp>
        <p:nvSpPr>
          <p:cNvPr name="AutoShape 10" id="10"/>
          <p:cNvSpPr/>
          <p:nvPr/>
        </p:nvSpPr>
        <p:spPr>
          <a:xfrm rot="0">
            <a:off x="9134475" y="4000500"/>
            <a:ext cx="9525" cy="4362450"/>
          </a:xfrm>
          <a:prstGeom prst="rect">
            <a:avLst/>
          </a:prstGeom>
          <a:solidFill>
            <a:srgbClr val="0D0F26"/>
          </a:solidFill>
        </p:spPr>
      </p:sp>
      <p:sp>
        <p:nvSpPr>
          <p:cNvPr name="TextBox 11" id="11"/>
          <p:cNvSpPr txBox="true"/>
          <p:nvPr/>
        </p:nvSpPr>
        <p:spPr>
          <a:xfrm rot="0">
            <a:off x="1143000" y="4267200"/>
            <a:ext cx="7534275"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YOU WRITE</a:t>
            </a:r>
          </a:p>
        </p:txBody>
      </p:sp>
      <p:sp>
        <p:nvSpPr>
          <p:cNvPr name="TextBox 12" id="12"/>
          <p:cNvSpPr txBox="true"/>
          <p:nvPr/>
        </p:nvSpPr>
        <p:spPr>
          <a:xfrm rot="0">
            <a:off x="9601200" y="4267200"/>
            <a:ext cx="75438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THE COMPILER SHIPS</a:t>
            </a:r>
          </a:p>
        </p:txBody>
      </p:sp>
      <p:sp>
        <p:nvSpPr>
          <p:cNvPr name="AutoShape 13" id="13"/>
          <p:cNvSpPr/>
          <p:nvPr/>
        </p:nvSpPr>
        <p:spPr>
          <a:xfrm rot="0">
            <a:off x="1143000" y="8896350"/>
            <a:ext cx="16002000" cy="9525"/>
          </a:xfrm>
          <a:prstGeom prst="rect">
            <a:avLst/>
          </a:prstGeom>
          <a:solidFill>
            <a:srgbClr val="0D0F26"/>
          </a:solidFill>
        </p:spPr>
      </p:sp>
      <p:sp>
        <p:nvSpPr>
          <p:cNvPr name="TextBox 14" id="14"/>
          <p:cNvSpPr txBox="true"/>
          <p:nvPr/>
        </p:nvSpPr>
        <p:spPr>
          <a:xfrm rot="0">
            <a:off x="1143000" y="9134475"/>
            <a:ext cx="23616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02 · MEMOIZE</a:t>
            </a:r>
          </a:p>
        </p:txBody>
      </p:sp>
      <p:sp>
        <p:nvSpPr>
          <p:cNvPr name="TextBox 15" id="15"/>
          <p:cNvSpPr txBox="true"/>
          <p:nvPr/>
        </p:nvSpPr>
        <p:spPr>
          <a:xfrm rot="0">
            <a:off x="10762107" y="9134475"/>
            <a:ext cx="638298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YOU STOP WRITING MEMOS. THE BUILD ADDS THEM.</a:t>
            </a:r>
          </a:p>
        </p:txBody>
      </p:sp>
      <p:sp>
        <p:nvSpPr>
          <p:cNvPr name="AutoShape 16" id="16"/>
          <p:cNvSpPr/>
          <p:nvPr/>
        </p:nvSpPr>
        <p:spPr>
          <a:xfrm rot="0">
            <a:off x="1143000" y="4848225"/>
            <a:ext cx="7534275" cy="3514725"/>
          </a:xfrm>
          <a:prstGeom prst="rect">
            <a:avLst/>
          </a:prstGeom>
          <a:solidFill>
            <a:srgbClr val="0D0F26"/>
          </a:solidFill>
        </p:spPr>
      </p:sp>
      <p:sp>
        <p:nvSpPr>
          <p:cNvPr name="TextBox 17" id="17"/>
          <p:cNvSpPr txBox="true"/>
          <p:nvPr/>
        </p:nvSpPr>
        <p:spPr>
          <a:xfrm rot="0">
            <a:off x="1143000" y="4791075"/>
            <a:ext cx="7534275" cy="1034415"/>
          </a:xfrm>
          <a:prstGeom prst="rect">
            <a:avLst/>
          </a:prstGeom>
        </p:spPr>
        <p:txBody>
          <a:bodyPr anchor="t" rtlCol="false" tIns="0" lIns="0" bIns="0" rIns="0">
            <a:spAutoFit/>
          </a:bodyPr>
          <a:lstStyle/>
          <a:p>
            <a:pPr algn="l">
              <a:lnSpc>
                <a:spcPts val="2790"/>
              </a:lnSpc>
            </a:pPr>
            <a:r>
              <a:rPr lang="en-US" sz="1800">
                <a:solidFill>
                  <a:srgbClr val="FF7A6D"/>
                </a:solidFill>
                <a:latin typeface="JetBrains Mono"/>
                <a:ea typeface="JetBrains Mono"/>
                <a:cs typeface="JetBrains Mono"/>
                <a:sym typeface="JetBrains Mono"/>
              </a:rPr>
              <a:t>function</a:t>
            </a:r>
            <a:r>
              <a:rPr lang="en-US" sz="1800">
                <a:solidFill>
                  <a:srgbClr val="FFFFFF"/>
                </a:solidFill>
                <a:latin typeface="JetBrains Mono"/>
                <a:ea typeface="JetBrains Mono"/>
                <a:cs typeface="JetBrains Mono"/>
                <a:sym typeface="JetBrains Mono"/>
              </a:rPr>
              <a:t> </a:t>
            </a:r>
            <a:r>
              <a:rPr lang="en-US" sz="1800">
                <a:solidFill>
                  <a:srgbClr val="F8D990"/>
                </a:solidFill>
                <a:latin typeface="JetBrains Mono"/>
                <a:ea typeface="JetBrains Mono"/>
                <a:cs typeface="JetBrains Mono"/>
                <a:sym typeface="JetBrains Mono"/>
              </a:rPr>
              <a:t>Profile</a:t>
            </a:r>
            <a:r>
              <a:rPr lang="en-US" sz="1800">
                <a:solidFill>
                  <a:srgbClr val="FFFFFF"/>
                </a:solidFill>
                <a:latin typeface="JetBrains Mono"/>
                <a:ea typeface="JetBrains Mono"/>
                <a:cs typeface="JetBrains Mono"/>
                <a:sym typeface="JetBrains Mono"/>
              </a:rPr>
              <a:t>({ user }) { </a:t>
            </a:r>
            <a:r>
              <a:rPr lang="en-US" sz="1800">
                <a:solidFill>
                  <a:srgbClr val="FF7A6D"/>
                </a:solidFill>
                <a:latin typeface="JetBrains Mono"/>
                <a:ea typeface="JetBrains Mono"/>
                <a:cs typeface="JetBrains Mono"/>
                <a:sym typeface="JetBrains Mono"/>
              </a:rPr>
              <a:t>const</a:t>
            </a:r>
            <a:r>
              <a:rPr lang="en-US" sz="1800">
                <a:solidFill>
                  <a:srgbClr val="FFFFFF"/>
                </a:solidFill>
                <a:latin typeface="JetBrains Mono"/>
                <a:ea typeface="JetBrains Mono"/>
                <a:cs typeface="JetBrains Mono"/>
                <a:sym typeface="JetBrains Mono"/>
              </a:rPr>
              <a:t> name = </a:t>
            </a:r>
            <a:r>
              <a:rPr lang="en-US" sz="1800">
                <a:solidFill>
                  <a:srgbClr val="F8D990"/>
                </a:solidFill>
                <a:latin typeface="JetBrains Mono"/>
                <a:ea typeface="JetBrains Mono"/>
                <a:cs typeface="JetBrains Mono"/>
                <a:sym typeface="JetBrains Mono"/>
              </a:rPr>
              <a:t>format</a:t>
            </a:r>
            <a:r>
              <a:rPr lang="en-US" sz="1800">
                <a:solidFill>
                  <a:srgbClr val="FFFFFF"/>
                </a:solidFill>
                <a:latin typeface="JetBrains Mono"/>
                <a:ea typeface="JetBrains Mono"/>
                <a:cs typeface="JetBrains Mono"/>
                <a:sym typeface="JetBrains Mono"/>
              </a:rPr>
              <a:t>(user.name); </a:t>
            </a:r>
            <a:r>
              <a:rPr lang="en-US" sz="1800">
                <a:solidFill>
                  <a:srgbClr val="FF7A6D"/>
                </a:solidFill>
                <a:latin typeface="JetBrains Mono"/>
                <a:ea typeface="JetBrains Mono"/>
                <a:cs typeface="JetBrains Mono"/>
                <a:sym typeface="JetBrains Mono"/>
              </a:rPr>
              <a:t>const</a:t>
            </a:r>
            <a:r>
              <a:rPr lang="en-US" sz="1800">
                <a:solidFill>
                  <a:srgbClr val="FFFFFF"/>
                </a:solidFill>
                <a:latin typeface="JetBrains Mono"/>
                <a:ea typeface="JetBrains Mono"/>
                <a:cs typeface="JetBrains Mono"/>
                <a:sym typeface="JetBrains Mono"/>
              </a:rPr>
              <a:t> </a:t>
            </a:r>
            <a:r>
              <a:rPr lang="en-US" sz="1800">
                <a:solidFill>
                  <a:srgbClr val="F8D990"/>
                </a:solidFill>
                <a:latin typeface="JetBrains Mono"/>
                <a:ea typeface="JetBrains Mono"/>
                <a:cs typeface="JetBrains Mono"/>
                <a:sym typeface="JetBrains Mono"/>
              </a:rPr>
              <a:t>onSave</a:t>
            </a:r>
            <a:r>
              <a:rPr lang="en-US" sz="1800">
                <a:solidFill>
                  <a:srgbClr val="FFFFFF"/>
                </a:solidFill>
                <a:latin typeface="JetBrains Mono"/>
                <a:ea typeface="JetBrains Mono"/>
                <a:cs typeface="JetBrains Mono"/>
                <a:sym typeface="JetBrains Mono"/>
              </a:rPr>
              <a:t> = () =&gt; </a:t>
            </a:r>
            <a:r>
              <a:rPr lang="en-US" sz="1800">
                <a:solidFill>
                  <a:srgbClr val="F8D990"/>
                </a:solidFill>
                <a:latin typeface="JetBrains Mono"/>
                <a:ea typeface="JetBrains Mono"/>
                <a:cs typeface="JetBrains Mono"/>
                <a:sym typeface="JetBrains Mono"/>
              </a:rPr>
              <a:t>save</a:t>
            </a:r>
            <a:r>
              <a:rPr lang="en-US" sz="1800">
                <a:solidFill>
                  <a:srgbClr val="FFFFFF"/>
                </a:solidFill>
                <a:latin typeface="JetBrains Mono"/>
                <a:ea typeface="JetBrains Mono"/>
                <a:cs typeface="JetBrains Mono"/>
                <a:sym typeface="JetBrains Mono"/>
              </a:rPr>
              <a:t>(user); </a:t>
            </a:r>
            <a:r>
              <a:rPr lang="en-US" sz="1800">
                <a:solidFill>
                  <a:srgbClr val="FF7A6D"/>
                </a:solidFill>
                <a:latin typeface="JetBrains Mono"/>
                <a:ea typeface="JetBrains Mono"/>
                <a:cs typeface="JetBrains Mono"/>
                <a:sym typeface="JetBrains Mono"/>
              </a:rPr>
              <a:t>return</a:t>
            </a:r>
            <a:r>
              <a:rPr lang="en-US" sz="1800">
                <a:solidFill>
                  <a:srgbClr val="FFFFFF"/>
                </a:solidFill>
                <a:latin typeface="JetBrains Mono"/>
                <a:ea typeface="JetBrains Mono"/>
                <a:cs typeface="JetBrains Mono"/>
                <a:sym typeface="JetBrains Mono"/>
              </a:rPr>
              <a:t> &lt;</a:t>
            </a:r>
            <a:r>
              <a:rPr lang="en-US" sz="1800">
                <a:solidFill>
                  <a:srgbClr val="F8D990"/>
                </a:solidFill>
                <a:latin typeface="JetBrains Mono"/>
                <a:ea typeface="JetBrains Mono"/>
                <a:cs typeface="JetBrains Mono"/>
                <a:sym typeface="JetBrains Mono"/>
              </a:rPr>
              <a:t>Card</a:t>
            </a:r>
            <a:r>
              <a:rPr lang="en-US" sz="1800">
                <a:solidFill>
                  <a:srgbClr val="FFFFFF"/>
                </a:solidFill>
                <a:latin typeface="JetBrains Mono"/>
                <a:ea typeface="JetBrains Mono"/>
                <a:cs typeface="JetBrains Mono"/>
                <a:sym typeface="JetBrains Mono"/>
              </a:rPr>
              <a:t> name={name} onSave={onSave} /&gt;; }</a:t>
            </a:r>
          </a:p>
        </p:txBody>
      </p:sp>
      <p:sp>
        <p:nvSpPr>
          <p:cNvPr name="AutoShape 18" id="18"/>
          <p:cNvSpPr/>
          <p:nvPr/>
        </p:nvSpPr>
        <p:spPr>
          <a:xfrm rot="0">
            <a:off x="9601200" y="4848225"/>
            <a:ext cx="7543800" cy="3514725"/>
          </a:xfrm>
          <a:prstGeom prst="rect">
            <a:avLst/>
          </a:prstGeom>
          <a:solidFill>
            <a:srgbClr val="0D0F26"/>
          </a:solidFill>
        </p:spPr>
      </p:sp>
      <p:sp>
        <p:nvSpPr>
          <p:cNvPr name="TextBox 19" id="19"/>
          <p:cNvSpPr txBox="true"/>
          <p:nvPr/>
        </p:nvSpPr>
        <p:spPr>
          <a:xfrm rot="0">
            <a:off x="9601200" y="4791075"/>
            <a:ext cx="7543800" cy="3571875"/>
          </a:xfrm>
          <a:prstGeom prst="rect">
            <a:avLst/>
          </a:prstGeom>
        </p:spPr>
        <p:txBody>
          <a:bodyPr anchor="t" rtlCol="false" tIns="0" lIns="0" bIns="0" rIns="0">
            <a:spAutoFit/>
          </a:bodyPr>
          <a:lstStyle/>
          <a:p>
            <a:pPr algn="l">
              <a:lnSpc>
                <a:spcPts val="2790"/>
              </a:lnSpc>
            </a:pPr>
            <a:r>
              <a:rPr lang="en-US" sz="1800">
                <a:solidFill>
                  <a:srgbClr val="FF7A6D"/>
                </a:solidFill>
                <a:latin typeface="JetBrains Mono"/>
                <a:ea typeface="JetBrains Mono"/>
                <a:cs typeface="JetBrains Mono"/>
                <a:sym typeface="JetBrains Mono"/>
              </a:rPr>
              <a:t>function</a:t>
            </a:r>
            <a:r>
              <a:rPr lang="en-US" sz="1800">
                <a:solidFill>
                  <a:srgbClr val="FFFFFF"/>
                </a:solidFill>
                <a:latin typeface="JetBrains Mono"/>
                <a:ea typeface="JetBrains Mono"/>
                <a:cs typeface="JetBrains Mono"/>
                <a:sym typeface="JetBrains Mono"/>
              </a:rPr>
              <a:t> </a:t>
            </a:r>
            <a:r>
              <a:rPr lang="en-US" sz="1800">
                <a:solidFill>
                  <a:srgbClr val="F8D990"/>
                </a:solidFill>
                <a:latin typeface="JetBrains Mono"/>
                <a:ea typeface="JetBrains Mono"/>
                <a:cs typeface="JetBrains Mono"/>
                <a:sym typeface="JetBrains Mono"/>
              </a:rPr>
              <a:t>Profile</a:t>
            </a:r>
            <a:r>
              <a:rPr lang="en-US" sz="1800">
                <a:solidFill>
                  <a:srgbClr val="FFFFFF"/>
                </a:solidFill>
                <a:latin typeface="JetBrains Mono"/>
                <a:ea typeface="JetBrains Mono"/>
                <a:cs typeface="JetBrains Mono"/>
                <a:sym typeface="JetBrains Mono"/>
              </a:rPr>
              <a:t>({ user }) { </a:t>
            </a:r>
            <a:r>
              <a:rPr lang="en-US" sz="1800">
                <a:solidFill>
                  <a:srgbClr val="FF7A6D"/>
                </a:solidFill>
                <a:latin typeface="JetBrains Mono"/>
                <a:ea typeface="JetBrains Mono"/>
                <a:cs typeface="JetBrains Mono"/>
                <a:sym typeface="JetBrains Mono"/>
              </a:rPr>
              <a:t>const</a:t>
            </a:r>
            <a:r>
              <a:rPr lang="en-US" sz="1800">
                <a:solidFill>
                  <a:srgbClr val="FFFFFF"/>
                </a:solidFill>
                <a:latin typeface="JetBrains Mono"/>
                <a:ea typeface="JetBrains Mono"/>
                <a:cs typeface="JetBrains Mono"/>
                <a:sym typeface="JetBrains Mono"/>
              </a:rPr>
              <a:t> name = </a:t>
            </a:r>
            <a:r>
              <a:rPr lang="en-US" sz="1800">
                <a:solidFill>
                  <a:srgbClr val="F8D990"/>
                </a:solidFill>
                <a:latin typeface="JetBrains Mono"/>
                <a:ea typeface="JetBrains Mono"/>
                <a:cs typeface="JetBrains Mono"/>
                <a:sym typeface="JetBrains Mono"/>
              </a:rPr>
              <a:t>useMemo</a:t>
            </a:r>
            <a:r>
              <a:rPr lang="en-US" sz="1800">
                <a:solidFill>
                  <a:srgbClr val="FFFFFF"/>
                </a:solidFill>
                <a:latin typeface="JetBrains Mono"/>
                <a:ea typeface="JetBrains Mono"/>
                <a:cs typeface="JetBrains Mono"/>
                <a:sym typeface="JetBrains Mono"/>
              </a:rPr>
              <a:t>( () =&gt; </a:t>
            </a:r>
            <a:r>
              <a:rPr lang="en-US" sz="1800">
                <a:solidFill>
                  <a:srgbClr val="F8D990"/>
                </a:solidFill>
                <a:latin typeface="JetBrains Mono"/>
                <a:ea typeface="JetBrains Mono"/>
                <a:cs typeface="JetBrains Mono"/>
                <a:sym typeface="JetBrains Mono"/>
              </a:rPr>
              <a:t>format</a:t>
            </a:r>
            <a:r>
              <a:rPr lang="en-US" sz="1800">
                <a:solidFill>
                  <a:srgbClr val="FFFFFF"/>
                </a:solidFill>
                <a:latin typeface="JetBrains Mono"/>
                <a:ea typeface="JetBrains Mono"/>
                <a:cs typeface="JetBrains Mono"/>
                <a:sym typeface="JetBrains Mono"/>
              </a:rPr>
              <a:t>(user.name), [user.name] ); </a:t>
            </a:r>
            <a:r>
              <a:rPr lang="en-US" sz="1800">
                <a:solidFill>
                  <a:srgbClr val="FF7A6D"/>
                </a:solidFill>
                <a:latin typeface="JetBrains Mono"/>
                <a:ea typeface="JetBrains Mono"/>
                <a:cs typeface="JetBrains Mono"/>
                <a:sym typeface="JetBrains Mono"/>
              </a:rPr>
              <a:t>const</a:t>
            </a:r>
            <a:r>
              <a:rPr lang="en-US" sz="1800">
                <a:solidFill>
                  <a:srgbClr val="FFFFFF"/>
                </a:solidFill>
                <a:latin typeface="JetBrains Mono"/>
                <a:ea typeface="JetBrains Mono"/>
                <a:cs typeface="JetBrains Mono"/>
                <a:sym typeface="JetBrains Mono"/>
              </a:rPr>
              <a:t> </a:t>
            </a:r>
            <a:r>
              <a:rPr lang="en-US" sz="1800">
                <a:solidFill>
                  <a:srgbClr val="F8D990"/>
                </a:solidFill>
                <a:latin typeface="JetBrains Mono"/>
                <a:ea typeface="JetBrains Mono"/>
                <a:cs typeface="JetBrains Mono"/>
                <a:sym typeface="JetBrains Mono"/>
              </a:rPr>
              <a:t>onSave</a:t>
            </a:r>
            <a:r>
              <a:rPr lang="en-US" sz="1800">
                <a:solidFill>
                  <a:srgbClr val="FFFFFF"/>
                </a:solidFill>
                <a:latin typeface="JetBrains Mono"/>
                <a:ea typeface="JetBrains Mono"/>
                <a:cs typeface="JetBrains Mono"/>
                <a:sym typeface="JetBrains Mono"/>
              </a:rPr>
              <a:t> = </a:t>
            </a:r>
            <a:r>
              <a:rPr lang="en-US" sz="1800">
                <a:solidFill>
                  <a:srgbClr val="F8D990"/>
                </a:solidFill>
                <a:latin typeface="JetBrains Mono"/>
                <a:ea typeface="JetBrains Mono"/>
                <a:cs typeface="JetBrains Mono"/>
                <a:sym typeface="JetBrains Mono"/>
              </a:rPr>
              <a:t>useCallback</a:t>
            </a:r>
            <a:r>
              <a:rPr lang="en-US" sz="1800">
                <a:solidFill>
                  <a:srgbClr val="FFFFFF"/>
                </a:solidFill>
                <a:latin typeface="JetBrains Mono"/>
                <a:ea typeface="JetBrains Mono"/>
                <a:cs typeface="JetBrains Mono"/>
                <a:sym typeface="JetBrains Mono"/>
              </a:rPr>
              <a:t>( () =&gt; </a:t>
            </a:r>
            <a:r>
              <a:rPr lang="en-US" sz="1800">
                <a:solidFill>
                  <a:srgbClr val="F8D990"/>
                </a:solidFill>
                <a:latin typeface="JetBrains Mono"/>
                <a:ea typeface="JetBrains Mono"/>
                <a:cs typeface="JetBrains Mono"/>
                <a:sym typeface="JetBrains Mono"/>
              </a:rPr>
              <a:t>save</a:t>
            </a:r>
            <a:r>
              <a:rPr lang="en-US" sz="1800">
                <a:solidFill>
                  <a:srgbClr val="FFFFFF"/>
                </a:solidFill>
                <a:latin typeface="JetBrains Mono"/>
                <a:ea typeface="JetBrains Mono"/>
                <a:cs typeface="JetBrains Mono"/>
                <a:sym typeface="JetBrains Mono"/>
              </a:rPr>
              <a:t>(user), [user] ); </a:t>
            </a:r>
            <a:r>
              <a:rPr lang="en-US" sz="1800">
                <a:solidFill>
                  <a:srgbClr val="FF7A6D"/>
                </a:solidFill>
                <a:latin typeface="JetBrains Mono"/>
                <a:ea typeface="JetBrains Mono"/>
                <a:cs typeface="JetBrains Mono"/>
                <a:sym typeface="JetBrains Mono"/>
              </a:rPr>
              <a:t>return</a:t>
            </a:r>
            <a:r>
              <a:rPr lang="en-US" sz="1800">
                <a:solidFill>
                  <a:srgbClr val="FFFFFF"/>
                </a:solidFill>
                <a:latin typeface="JetBrains Mono"/>
                <a:ea typeface="JetBrains Mono"/>
                <a:cs typeface="JetBrains Mono"/>
                <a:sym typeface="JetBrains Mono"/>
              </a:rPr>
              <a:t> &lt;</a:t>
            </a:r>
            <a:r>
              <a:rPr lang="en-US" sz="1800">
                <a:solidFill>
                  <a:srgbClr val="F8D990"/>
                </a:solidFill>
                <a:latin typeface="JetBrains Mono"/>
                <a:ea typeface="JetBrains Mono"/>
                <a:cs typeface="JetBrains Mono"/>
                <a:sym typeface="JetBrains Mono"/>
              </a:rPr>
              <a:t>Card</a:t>
            </a:r>
            <a:r>
              <a:rPr lang="en-US" sz="1800">
                <a:solidFill>
                  <a:srgbClr val="FFFFFF"/>
                </a:solidFill>
                <a:latin typeface="JetBrains Mono"/>
                <a:ea typeface="JetBrains Mono"/>
                <a:cs typeface="JetBrains Mono"/>
                <a:sym typeface="JetBrains Mono"/>
              </a:rPr>
              <a:t> name={name} onSave={onSave} /&gt;; }</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FFF"/>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6350901" y="833438"/>
            <a:ext cx="79419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19 / 26</a:t>
            </a:r>
          </a:p>
        </p:txBody>
      </p:sp>
      <p:sp>
        <p:nvSpPr>
          <p:cNvPr name="TextBox 6" id="6"/>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UNDER THE HOOD</a:t>
            </a:r>
          </a:p>
        </p:txBody>
      </p:sp>
      <p:sp>
        <p:nvSpPr>
          <p:cNvPr name="AutoShape 7" id="7"/>
          <p:cNvSpPr/>
          <p:nvPr/>
        </p:nvSpPr>
        <p:spPr>
          <a:xfrm rot="0">
            <a:off x="1143000" y="2219325"/>
            <a:ext cx="14792896" cy="3055620"/>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8" id="8"/>
          <p:cNvSpPr txBox="true"/>
          <p:nvPr/>
        </p:nvSpPr>
        <p:spPr>
          <a:xfrm rot="0">
            <a:off x="1143000" y="2657475"/>
            <a:ext cx="15240000" cy="2396395"/>
          </a:xfrm>
          <a:prstGeom prst="rect">
            <a:avLst/>
          </a:prstGeom>
        </p:spPr>
        <p:txBody>
          <a:bodyPr anchor="t" rtlCol="false" tIns="0" lIns="0" bIns="0" rIns="0">
            <a:spAutoFit/>
          </a:bodyPr>
          <a:lstStyle/>
          <a:p>
            <a:pPr algn="l">
              <a:lnSpc>
                <a:spcPts val="10260"/>
              </a:lnSpc>
            </a:pPr>
            <a:r>
              <a:rPr lang="en-US" b="true" sz="10800" spc="-324">
                <a:solidFill>
                  <a:srgbClr val="0D0F26"/>
                </a:solidFill>
                <a:latin typeface="Arimo Bold"/>
                <a:ea typeface="Arimo Bold"/>
                <a:cs typeface="Arimo Bold"/>
                <a:sym typeface="Arimo Bold"/>
              </a:rPr>
              <a:t>It caches anything safe to cache.</a:t>
            </a:r>
          </a:p>
        </p:txBody>
      </p:sp>
      <p:sp>
        <p:nvSpPr>
          <p:cNvPr name="AutoShape 9" id="9"/>
          <p:cNvSpPr/>
          <p:nvPr/>
        </p:nvSpPr>
        <p:spPr>
          <a:xfrm rot="0">
            <a:off x="1143000" y="5587270"/>
            <a:ext cx="7620000" cy="9525"/>
          </a:xfrm>
          <a:prstGeom prst="rect">
            <a:avLst/>
          </a:prstGeom>
          <a:solidFill>
            <a:srgbClr val="0D0F26"/>
          </a:solidFill>
        </p:spPr>
      </p:sp>
      <p:sp>
        <p:nvSpPr>
          <p:cNvPr name="AutoShape 10" id="10"/>
          <p:cNvSpPr/>
          <p:nvPr/>
        </p:nvSpPr>
        <p:spPr>
          <a:xfrm rot="0">
            <a:off x="1143000" y="5863495"/>
            <a:ext cx="725424" cy="533400"/>
          </a:xfrm>
          <a:prstGeom prst="rect">
            <a:avLst/>
          </a:prstGeom>
          <a:solidFill>
            <a:srgbClr val="C8CEF5"/>
          </a:solidFill>
        </p:spPr>
      </p:sp>
      <p:sp>
        <p:nvSpPr>
          <p:cNvPr name="TextBox 11" id="11"/>
          <p:cNvSpPr txBox="true"/>
          <p:nvPr/>
        </p:nvSpPr>
        <p:spPr>
          <a:xfrm rot="0">
            <a:off x="1239012" y="5920645"/>
            <a:ext cx="533400" cy="582930"/>
          </a:xfrm>
          <a:prstGeom prst="rect">
            <a:avLst/>
          </a:prstGeom>
        </p:spPr>
        <p:txBody>
          <a:bodyPr anchor="t" rtlCol="false" tIns="0" lIns="0" bIns="0" rIns="0">
            <a:spAutoFit/>
          </a:bodyPr>
          <a:lstStyle/>
          <a:p>
            <a:pPr algn="ctr">
              <a:lnSpc>
                <a:spcPts val="4200"/>
              </a:lnSpc>
            </a:pPr>
            <a:r>
              <a:rPr lang="en-US" b="true" sz="4200">
                <a:solidFill>
                  <a:srgbClr val="0D0F26"/>
                </a:solidFill>
                <a:latin typeface="Arimo Bold"/>
                <a:ea typeface="Arimo Bold"/>
                <a:cs typeface="Arimo Bold"/>
                <a:sym typeface="Arimo Bold"/>
              </a:rPr>
              <a:t>→</a:t>
            </a:r>
          </a:p>
        </p:txBody>
      </p:sp>
      <p:sp>
        <p:nvSpPr>
          <p:cNvPr name="TextBox 12" id="12"/>
          <p:cNvSpPr txBox="true"/>
          <p:nvPr/>
        </p:nvSpPr>
        <p:spPr>
          <a:xfrm rot="0">
            <a:off x="2135124" y="5977795"/>
            <a:ext cx="3485864" cy="342900"/>
          </a:xfrm>
          <a:prstGeom prst="rect">
            <a:avLst/>
          </a:prstGeom>
        </p:spPr>
        <p:txBody>
          <a:bodyPr anchor="t" rtlCol="false" tIns="0" lIns="0" bIns="0" rIns="0">
            <a:spAutoFit/>
          </a:bodyPr>
          <a:lstStyle/>
          <a:p>
            <a:pPr algn="l">
              <a:lnSpc>
                <a:spcPts val="3000"/>
              </a:lnSpc>
            </a:pPr>
            <a:r>
              <a:rPr lang="en-US" sz="3000" spc="-30">
                <a:solidFill>
                  <a:srgbClr val="0D0F26"/>
                </a:solidFill>
                <a:latin typeface="Arimo"/>
                <a:ea typeface="Arimo"/>
                <a:cs typeface="Arimo"/>
                <a:sym typeface="Arimo"/>
              </a:rPr>
              <a:t>Component output</a:t>
            </a:r>
          </a:p>
        </p:txBody>
      </p:sp>
      <p:sp>
        <p:nvSpPr>
          <p:cNvPr name="AutoShape 13" id="13"/>
          <p:cNvSpPr/>
          <p:nvPr/>
        </p:nvSpPr>
        <p:spPr>
          <a:xfrm rot="0">
            <a:off x="9525000" y="5587270"/>
            <a:ext cx="7620000" cy="9525"/>
          </a:xfrm>
          <a:prstGeom prst="rect">
            <a:avLst/>
          </a:prstGeom>
          <a:solidFill>
            <a:srgbClr val="0D0F26"/>
          </a:solidFill>
        </p:spPr>
      </p:sp>
      <p:sp>
        <p:nvSpPr>
          <p:cNvPr name="AutoShape 14" id="14"/>
          <p:cNvSpPr/>
          <p:nvPr/>
        </p:nvSpPr>
        <p:spPr>
          <a:xfrm rot="0">
            <a:off x="9525000" y="5863495"/>
            <a:ext cx="725424" cy="533400"/>
          </a:xfrm>
          <a:prstGeom prst="rect">
            <a:avLst/>
          </a:prstGeom>
          <a:solidFill>
            <a:srgbClr val="C8CEF5"/>
          </a:solidFill>
        </p:spPr>
      </p:sp>
      <p:sp>
        <p:nvSpPr>
          <p:cNvPr name="TextBox 15" id="15"/>
          <p:cNvSpPr txBox="true"/>
          <p:nvPr/>
        </p:nvSpPr>
        <p:spPr>
          <a:xfrm rot="0">
            <a:off x="9525000" y="5920645"/>
            <a:ext cx="725424" cy="476250"/>
          </a:xfrm>
          <a:prstGeom prst="rect">
            <a:avLst/>
          </a:prstGeom>
        </p:spPr>
        <p:txBody>
          <a:bodyPr anchor="t" rtlCol="false" tIns="0" lIns="0" bIns="0" rIns="0">
            <a:spAutoFit/>
          </a:bodyPr>
          <a:lstStyle/>
          <a:p>
            <a:pPr algn="ctr">
              <a:lnSpc>
                <a:spcPts val="4200"/>
              </a:lnSpc>
            </a:pPr>
            <a:r>
              <a:rPr lang="en-US" b="true" sz="4200">
                <a:solidFill>
                  <a:srgbClr val="0D0F26"/>
                </a:solidFill>
                <a:latin typeface="Arimo Bold"/>
                <a:ea typeface="Arimo Bold"/>
                <a:cs typeface="Arimo Bold"/>
                <a:sym typeface="Arimo Bold"/>
              </a:rPr>
              <a:t>→</a:t>
            </a:r>
          </a:p>
        </p:txBody>
      </p:sp>
      <p:sp>
        <p:nvSpPr>
          <p:cNvPr name="TextBox 16" id="16"/>
          <p:cNvSpPr txBox="true"/>
          <p:nvPr/>
        </p:nvSpPr>
        <p:spPr>
          <a:xfrm rot="0">
            <a:off x="10517124" y="5977795"/>
            <a:ext cx="3364992" cy="342900"/>
          </a:xfrm>
          <a:prstGeom prst="rect">
            <a:avLst/>
          </a:prstGeom>
        </p:spPr>
        <p:txBody>
          <a:bodyPr anchor="t" rtlCol="false" tIns="0" lIns="0" bIns="0" rIns="0">
            <a:spAutoFit/>
          </a:bodyPr>
          <a:lstStyle/>
          <a:p>
            <a:pPr algn="l">
              <a:lnSpc>
                <a:spcPts val="3000"/>
              </a:lnSpc>
            </a:pPr>
            <a:r>
              <a:rPr lang="en-US" sz="3000" spc="-30">
                <a:solidFill>
                  <a:srgbClr val="0D0F26"/>
                </a:solidFill>
                <a:latin typeface="Arimo"/>
                <a:ea typeface="Arimo"/>
                <a:cs typeface="Arimo"/>
                <a:sym typeface="Arimo"/>
              </a:rPr>
              <a:t>Hook return values</a:t>
            </a:r>
          </a:p>
        </p:txBody>
      </p:sp>
      <p:sp>
        <p:nvSpPr>
          <p:cNvPr name="AutoShape 17" id="17"/>
          <p:cNvSpPr/>
          <p:nvPr/>
        </p:nvSpPr>
        <p:spPr>
          <a:xfrm rot="0">
            <a:off x="1143000" y="6663595"/>
            <a:ext cx="7620000" cy="9525"/>
          </a:xfrm>
          <a:prstGeom prst="rect">
            <a:avLst/>
          </a:prstGeom>
          <a:solidFill>
            <a:srgbClr val="0D0F26"/>
          </a:solidFill>
        </p:spPr>
      </p:sp>
      <p:sp>
        <p:nvSpPr>
          <p:cNvPr name="AutoShape 18" id="18"/>
          <p:cNvSpPr/>
          <p:nvPr/>
        </p:nvSpPr>
        <p:spPr>
          <a:xfrm rot="0">
            <a:off x="1143000" y="6939820"/>
            <a:ext cx="725424" cy="533400"/>
          </a:xfrm>
          <a:prstGeom prst="rect">
            <a:avLst/>
          </a:prstGeom>
          <a:solidFill>
            <a:srgbClr val="C8CEF5"/>
          </a:solidFill>
        </p:spPr>
      </p:sp>
      <p:sp>
        <p:nvSpPr>
          <p:cNvPr name="TextBox 19" id="19"/>
          <p:cNvSpPr txBox="true"/>
          <p:nvPr/>
        </p:nvSpPr>
        <p:spPr>
          <a:xfrm rot="0">
            <a:off x="1143000" y="6996970"/>
            <a:ext cx="725424" cy="476250"/>
          </a:xfrm>
          <a:prstGeom prst="rect">
            <a:avLst/>
          </a:prstGeom>
        </p:spPr>
        <p:txBody>
          <a:bodyPr anchor="t" rtlCol="false" tIns="0" lIns="0" bIns="0" rIns="0">
            <a:spAutoFit/>
          </a:bodyPr>
          <a:lstStyle/>
          <a:p>
            <a:pPr algn="ctr">
              <a:lnSpc>
                <a:spcPts val="4200"/>
              </a:lnSpc>
            </a:pPr>
            <a:r>
              <a:rPr lang="en-US" b="true" sz="4200">
                <a:solidFill>
                  <a:srgbClr val="0D0F26"/>
                </a:solidFill>
                <a:latin typeface="Arimo Bold"/>
                <a:ea typeface="Arimo Bold"/>
                <a:cs typeface="Arimo Bold"/>
                <a:sym typeface="Arimo Bold"/>
              </a:rPr>
              <a:t>→</a:t>
            </a:r>
          </a:p>
        </p:txBody>
      </p:sp>
      <p:sp>
        <p:nvSpPr>
          <p:cNvPr name="TextBox 20" id="20"/>
          <p:cNvSpPr txBox="true"/>
          <p:nvPr/>
        </p:nvSpPr>
        <p:spPr>
          <a:xfrm rot="0">
            <a:off x="2135124" y="7054120"/>
            <a:ext cx="2953226" cy="342900"/>
          </a:xfrm>
          <a:prstGeom prst="rect">
            <a:avLst/>
          </a:prstGeom>
        </p:spPr>
        <p:txBody>
          <a:bodyPr anchor="t" rtlCol="false" tIns="0" lIns="0" bIns="0" rIns="0">
            <a:spAutoFit/>
          </a:bodyPr>
          <a:lstStyle/>
          <a:p>
            <a:pPr algn="l">
              <a:lnSpc>
                <a:spcPts val="3000"/>
              </a:lnSpc>
            </a:pPr>
            <a:r>
              <a:rPr lang="en-US" sz="3000" spc="-30">
                <a:solidFill>
                  <a:srgbClr val="0D0F26"/>
                </a:solidFill>
                <a:latin typeface="Arimo"/>
                <a:ea typeface="Arimo"/>
                <a:cs typeface="Arimo"/>
                <a:sym typeface="Arimo"/>
              </a:rPr>
              <a:t>JSX expressions</a:t>
            </a:r>
          </a:p>
        </p:txBody>
      </p:sp>
      <p:sp>
        <p:nvSpPr>
          <p:cNvPr name="AutoShape 21" id="21"/>
          <p:cNvSpPr/>
          <p:nvPr/>
        </p:nvSpPr>
        <p:spPr>
          <a:xfrm rot="0">
            <a:off x="9525000" y="6663595"/>
            <a:ext cx="7620000" cy="9525"/>
          </a:xfrm>
          <a:prstGeom prst="rect">
            <a:avLst/>
          </a:prstGeom>
          <a:solidFill>
            <a:srgbClr val="0D0F26"/>
          </a:solidFill>
        </p:spPr>
      </p:sp>
      <p:sp>
        <p:nvSpPr>
          <p:cNvPr name="AutoShape 22" id="22"/>
          <p:cNvSpPr/>
          <p:nvPr/>
        </p:nvSpPr>
        <p:spPr>
          <a:xfrm rot="0">
            <a:off x="9525000" y="6939820"/>
            <a:ext cx="725424" cy="533400"/>
          </a:xfrm>
          <a:prstGeom prst="rect">
            <a:avLst/>
          </a:prstGeom>
          <a:solidFill>
            <a:srgbClr val="C8CEF5"/>
          </a:solidFill>
        </p:spPr>
      </p:sp>
      <p:sp>
        <p:nvSpPr>
          <p:cNvPr name="TextBox 23" id="23"/>
          <p:cNvSpPr txBox="true"/>
          <p:nvPr/>
        </p:nvSpPr>
        <p:spPr>
          <a:xfrm rot="0">
            <a:off x="9525000" y="6996970"/>
            <a:ext cx="725424" cy="476250"/>
          </a:xfrm>
          <a:prstGeom prst="rect">
            <a:avLst/>
          </a:prstGeom>
        </p:spPr>
        <p:txBody>
          <a:bodyPr anchor="t" rtlCol="false" tIns="0" lIns="0" bIns="0" rIns="0">
            <a:spAutoFit/>
          </a:bodyPr>
          <a:lstStyle/>
          <a:p>
            <a:pPr algn="ctr">
              <a:lnSpc>
                <a:spcPts val="4200"/>
              </a:lnSpc>
            </a:pPr>
            <a:r>
              <a:rPr lang="en-US" b="true" sz="4200">
                <a:solidFill>
                  <a:srgbClr val="0D0F26"/>
                </a:solidFill>
                <a:latin typeface="Arimo Bold"/>
                <a:ea typeface="Arimo Bold"/>
                <a:cs typeface="Arimo Bold"/>
                <a:sym typeface="Arimo Bold"/>
              </a:rPr>
              <a:t>→</a:t>
            </a:r>
          </a:p>
        </p:txBody>
      </p:sp>
      <p:sp>
        <p:nvSpPr>
          <p:cNvPr name="TextBox 24" id="24"/>
          <p:cNvSpPr txBox="true"/>
          <p:nvPr/>
        </p:nvSpPr>
        <p:spPr>
          <a:xfrm rot="0">
            <a:off x="10517124" y="7054120"/>
            <a:ext cx="4943475" cy="342900"/>
          </a:xfrm>
          <a:prstGeom prst="rect">
            <a:avLst/>
          </a:prstGeom>
        </p:spPr>
        <p:txBody>
          <a:bodyPr anchor="t" rtlCol="false" tIns="0" lIns="0" bIns="0" rIns="0">
            <a:spAutoFit/>
          </a:bodyPr>
          <a:lstStyle/>
          <a:p>
            <a:pPr algn="l">
              <a:lnSpc>
                <a:spcPts val="3000"/>
              </a:lnSpc>
            </a:pPr>
            <a:r>
              <a:rPr lang="en-US" sz="3000" spc="-30">
                <a:solidFill>
                  <a:srgbClr val="0D0F26"/>
                </a:solidFill>
                <a:latin typeface="Arimo"/>
                <a:ea typeface="Arimo"/>
                <a:cs typeface="Arimo"/>
                <a:sym typeface="Arimo"/>
              </a:rPr>
              <a:t>Intermediate computations</a:t>
            </a:r>
          </a:p>
        </p:txBody>
      </p:sp>
      <p:sp>
        <p:nvSpPr>
          <p:cNvPr name="TextBox 25" id="25"/>
          <p:cNvSpPr txBox="true"/>
          <p:nvPr/>
        </p:nvSpPr>
        <p:spPr>
          <a:xfrm rot="0">
            <a:off x="1143000" y="7924800"/>
            <a:ext cx="16002000" cy="438150"/>
          </a:xfrm>
          <a:prstGeom prst="rect">
            <a:avLst/>
          </a:prstGeom>
        </p:spPr>
        <p:txBody>
          <a:bodyPr anchor="t" rtlCol="false" tIns="0" lIns="0" bIns="0" rIns="0">
            <a:spAutoFit/>
          </a:bodyPr>
          <a:lstStyle/>
          <a:p>
            <a:pPr algn="l">
              <a:lnSpc>
                <a:spcPts val="2925"/>
              </a:lnSpc>
            </a:pPr>
            <a:r>
              <a:rPr lang="en-US" sz="1950">
                <a:gradFill>
                  <a:gsLst>
                    <a:gs pos="0">
                      <a:srgbClr val="0D0F26">
                        <a:alpha val="55000"/>
                      </a:srgbClr>
                    </a:gs>
                    <a:gs pos="100000">
                      <a:srgbClr val="0D0F26">
                        <a:alpha val="55000"/>
                      </a:srgbClr>
                    </a:gs>
                  </a:gsLst>
                  <a:lin ang="16200000"/>
                </a:gradFill>
                <a:latin typeface="Inter"/>
                <a:ea typeface="Inter"/>
                <a:cs typeface="Inter"/>
                <a:sym typeface="Inter"/>
              </a:rPr>
              <a:t>Worst case it skips: same perf as today. Never wrong-cached.</a:t>
            </a:r>
          </a:p>
        </p:txBody>
      </p:sp>
      <p:sp>
        <p:nvSpPr>
          <p:cNvPr name="AutoShape 26" id="26"/>
          <p:cNvSpPr/>
          <p:nvPr/>
        </p:nvSpPr>
        <p:spPr>
          <a:xfrm rot="0">
            <a:off x="1143000" y="8896350"/>
            <a:ext cx="16002000" cy="9525"/>
          </a:xfrm>
          <a:prstGeom prst="rect">
            <a:avLst/>
          </a:prstGeom>
          <a:solidFill>
            <a:srgbClr val="0D0F26"/>
          </a:solidFill>
        </p:spPr>
      </p:sp>
      <p:sp>
        <p:nvSpPr>
          <p:cNvPr name="TextBox 27" id="27"/>
          <p:cNvSpPr txBox="true"/>
          <p:nvPr/>
        </p:nvSpPr>
        <p:spPr>
          <a:xfrm rot="0">
            <a:off x="1143000" y="9134475"/>
            <a:ext cx="23616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02 · MEMOIZE</a:t>
            </a:r>
          </a:p>
        </p:txBody>
      </p:sp>
      <p:sp>
        <p:nvSpPr>
          <p:cNvPr name="TextBox 28" id="28"/>
          <p:cNvSpPr txBox="true"/>
          <p:nvPr/>
        </p:nvSpPr>
        <p:spPr>
          <a:xfrm rot="0">
            <a:off x="13911072" y="9134475"/>
            <a:ext cx="323392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CONSERVATIVE BY DESIGN</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C8CEF5"/>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143000" y="1943100"/>
            <a:ext cx="3376092" cy="340995"/>
          </a:xfrm>
          <a:prstGeom prst="rect">
            <a:avLst/>
          </a:prstGeom>
        </p:spPr>
        <p:txBody>
          <a:bodyPr anchor="t" rtlCol="false" tIns="0" lIns="0" bIns="0" rIns="0">
            <a:spAutoFit/>
          </a:bodyPr>
          <a:lstStyle/>
          <a:p>
            <a:pPr algn="l">
              <a:lnSpc>
                <a:spcPts val="2729"/>
              </a:lnSpc>
            </a:pPr>
            <a:r>
              <a:rPr lang="en-US" b="true" sz="1950" spc="234">
                <a:gradFill>
                  <a:gsLst>
                    <a:gs pos="0">
                      <a:srgbClr val="0D0F26">
                        <a:alpha val="55000"/>
                      </a:srgbClr>
                    </a:gs>
                    <a:gs pos="100000">
                      <a:srgbClr val="0D0F26">
                        <a:alpha val="55000"/>
                      </a:srgbClr>
                    </a:gs>
                  </a:gsLst>
                  <a:lin ang="16200000"/>
                </a:gradFill>
                <a:latin typeface="Inter Semi-Bold"/>
                <a:ea typeface="Inter Semi-Bold"/>
                <a:cs typeface="Inter Semi-Bold"/>
                <a:sym typeface="Inter Semi-Bold"/>
              </a:rPr>
              <a:t>EXERCISE 02 · PART 01</a:t>
            </a:r>
          </a:p>
        </p:txBody>
      </p:sp>
      <p:sp>
        <p:nvSpPr>
          <p:cNvPr name="TextBox 6" id="6"/>
          <p:cNvSpPr txBox="true"/>
          <p:nvPr/>
        </p:nvSpPr>
        <p:spPr>
          <a:xfrm rot="0">
            <a:off x="1143000" y="3612590"/>
            <a:ext cx="16002000" cy="4053840"/>
          </a:xfrm>
          <a:prstGeom prst="rect">
            <a:avLst/>
          </a:prstGeom>
        </p:spPr>
        <p:txBody>
          <a:bodyPr anchor="t" rtlCol="false" tIns="0" lIns="0" bIns="0" rIns="0">
            <a:spAutoFit/>
          </a:bodyPr>
          <a:lstStyle/>
          <a:p>
            <a:pPr algn="l">
              <a:lnSpc>
                <a:spcPts val="15180"/>
              </a:lnSpc>
            </a:pPr>
            <a:r>
              <a:rPr lang="en-US" b="true" sz="16500" spc="-495">
                <a:solidFill>
                  <a:srgbClr val="0D0F26"/>
                </a:solidFill>
                <a:latin typeface="Arimo Bold"/>
                <a:ea typeface="Arimo Bold"/>
                <a:cs typeface="Arimo Bold"/>
                <a:sym typeface="Arimo Bold"/>
              </a:rPr>
              <a:t>Memo it.</a:t>
            </a:r>
          </a:p>
          <a:p>
            <a:pPr algn="l">
              <a:lnSpc>
                <a:spcPts val="15180"/>
              </a:lnSpc>
            </a:pPr>
          </a:p>
        </p:txBody>
      </p:sp>
      <p:sp>
        <p:nvSpPr>
          <p:cNvPr name="AutoShape 7" id="7"/>
          <p:cNvSpPr/>
          <p:nvPr/>
        </p:nvSpPr>
        <p:spPr>
          <a:xfrm rot="0">
            <a:off x="1143000" y="8896350"/>
            <a:ext cx="16002000" cy="9525"/>
          </a:xfrm>
          <a:prstGeom prst="rect">
            <a:avLst/>
          </a:prstGeom>
          <a:solidFill>
            <a:srgbClr val="0D0F26"/>
          </a:solidFill>
        </p:spPr>
      </p:sp>
      <p:sp>
        <p:nvSpPr>
          <p:cNvPr name="TextBox 8" id="8"/>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SOFTWARE MANSION · REACT PERFORMANCE</a:t>
            </a:r>
          </a:p>
        </p:txBody>
      </p:sp>
      <p:sp>
        <p:nvSpPr>
          <p:cNvPr name="TextBox 9" id="9"/>
          <p:cNvSpPr txBox="true"/>
          <p:nvPr/>
        </p:nvSpPr>
        <p:spPr>
          <a:xfrm rot="0">
            <a:off x="16301276" y="9134475"/>
            <a:ext cx="84372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20 / 26</a:t>
            </a:r>
          </a:p>
        </p:txBody>
      </p:sp>
      <p:sp>
        <p:nvSpPr>
          <p:cNvPr name="TextBox 10" id="10"/>
          <p:cNvSpPr txBox="true"/>
          <p:nvPr/>
        </p:nvSpPr>
        <p:spPr>
          <a:xfrm rot="0">
            <a:off x="1143000" y="5610796"/>
            <a:ext cx="15629477" cy="695325"/>
          </a:xfrm>
          <a:prstGeom prst="rect">
            <a:avLst/>
          </a:prstGeom>
        </p:spPr>
        <p:txBody>
          <a:bodyPr anchor="t" rtlCol="false" tIns="0" lIns="0" bIns="0" rIns="0">
            <a:spAutoFit/>
          </a:bodyPr>
          <a:lstStyle/>
          <a:p>
            <a:pPr algn="l">
              <a:lnSpc>
                <a:spcPts val="5399"/>
              </a:lnSpc>
            </a:pPr>
            <a:r>
              <a:rPr lang="en-US" sz="4499" spc="-44">
                <a:solidFill>
                  <a:srgbClr val="0D0F26"/>
                </a:solidFill>
                <a:latin typeface="Arimo"/>
                <a:ea typeface="Arimo"/>
                <a:cs typeface="Arimo"/>
                <a:sym typeface="Arimo"/>
              </a:rPr>
              <a:t>Find the problematic function and </a:t>
            </a:r>
            <a:r>
              <a:rPr lang="en-US" b="true" sz="4499" spc="-44">
                <a:solidFill>
                  <a:srgbClr val="0D0F26"/>
                </a:solidFill>
                <a:latin typeface="Arimo Bold"/>
                <a:ea typeface="Arimo Bold"/>
                <a:cs typeface="Arimo Bold"/>
                <a:sym typeface="Arimo Bold"/>
              </a:rPr>
              <a:t>memoize</a:t>
            </a:r>
            <a:r>
              <a:rPr lang="en-US" sz="4499" spc="-44">
                <a:solidFill>
                  <a:srgbClr val="0D0F26"/>
                </a:solidFill>
                <a:latin typeface="Arimo"/>
                <a:ea typeface="Arimo"/>
                <a:cs typeface="Arimo"/>
                <a:sym typeface="Arimo"/>
              </a:rPr>
              <a:t> it!</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C8CEF5"/>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143000" y="1943100"/>
            <a:ext cx="3425875" cy="340995"/>
          </a:xfrm>
          <a:prstGeom prst="rect">
            <a:avLst/>
          </a:prstGeom>
        </p:spPr>
        <p:txBody>
          <a:bodyPr anchor="t" rtlCol="false" tIns="0" lIns="0" bIns="0" rIns="0">
            <a:spAutoFit/>
          </a:bodyPr>
          <a:lstStyle/>
          <a:p>
            <a:pPr algn="l">
              <a:lnSpc>
                <a:spcPts val="2729"/>
              </a:lnSpc>
            </a:pPr>
            <a:r>
              <a:rPr lang="en-US" b="true" sz="1950" spc="234">
                <a:gradFill>
                  <a:gsLst>
                    <a:gs pos="0">
                      <a:srgbClr val="0D0F26">
                        <a:alpha val="55000"/>
                      </a:srgbClr>
                    </a:gs>
                    <a:gs pos="100000">
                      <a:srgbClr val="0D0F26">
                        <a:alpha val="55000"/>
                      </a:srgbClr>
                    </a:gs>
                  </a:gsLst>
                  <a:lin ang="16200000"/>
                </a:gradFill>
                <a:latin typeface="Inter Semi-Bold"/>
                <a:ea typeface="Inter Semi-Bold"/>
                <a:cs typeface="Inter Semi-Bold"/>
                <a:sym typeface="Inter Semi-Bold"/>
              </a:rPr>
              <a:t>EXERCISE 02 · PART 02</a:t>
            </a:r>
          </a:p>
        </p:txBody>
      </p:sp>
      <p:sp>
        <p:nvSpPr>
          <p:cNvPr name="TextBox 6" id="6"/>
          <p:cNvSpPr txBox="true"/>
          <p:nvPr/>
        </p:nvSpPr>
        <p:spPr>
          <a:xfrm rot="0">
            <a:off x="1143000" y="3612590"/>
            <a:ext cx="16002000" cy="4053840"/>
          </a:xfrm>
          <a:prstGeom prst="rect">
            <a:avLst/>
          </a:prstGeom>
        </p:spPr>
        <p:txBody>
          <a:bodyPr anchor="t" rtlCol="false" tIns="0" lIns="0" bIns="0" rIns="0">
            <a:spAutoFit/>
          </a:bodyPr>
          <a:lstStyle/>
          <a:p>
            <a:pPr algn="l">
              <a:lnSpc>
                <a:spcPts val="15180"/>
              </a:lnSpc>
            </a:pPr>
            <a:r>
              <a:rPr lang="en-US" b="true" sz="16500" spc="-495">
                <a:solidFill>
                  <a:srgbClr val="0D0F26"/>
                </a:solidFill>
                <a:latin typeface="Arimo Bold"/>
                <a:ea typeface="Arimo Bold"/>
                <a:cs typeface="Arimo Bold"/>
                <a:sym typeface="Arimo Bold"/>
              </a:rPr>
              <a:t>Memo it.</a:t>
            </a:r>
          </a:p>
          <a:p>
            <a:pPr algn="l">
              <a:lnSpc>
                <a:spcPts val="15180"/>
              </a:lnSpc>
            </a:pPr>
          </a:p>
        </p:txBody>
      </p:sp>
      <p:sp>
        <p:nvSpPr>
          <p:cNvPr name="AutoShape 7" id="7"/>
          <p:cNvSpPr/>
          <p:nvPr/>
        </p:nvSpPr>
        <p:spPr>
          <a:xfrm rot="0">
            <a:off x="1143000" y="8896350"/>
            <a:ext cx="16002000" cy="9525"/>
          </a:xfrm>
          <a:prstGeom prst="rect">
            <a:avLst/>
          </a:prstGeom>
          <a:solidFill>
            <a:srgbClr val="0D0F26"/>
          </a:solidFill>
        </p:spPr>
      </p:sp>
      <p:sp>
        <p:nvSpPr>
          <p:cNvPr name="TextBox 8" id="8"/>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SOFTWARE MANSION · REACT PERFORMANCE</a:t>
            </a:r>
          </a:p>
        </p:txBody>
      </p:sp>
      <p:sp>
        <p:nvSpPr>
          <p:cNvPr name="TextBox 9" id="9"/>
          <p:cNvSpPr txBox="true"/>
          <p:nvPr/>
        </p:nvSpPr>
        <p:spPr>
          <a:xfrm rot="0">
            <a:off x="16301276" y="9134475"/>
            <a:ext cx="84372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20 / 26</a:t>
            </a:r>
          </a:p>
        </p:txBody>
      </p:sp>
      <p:sp>
        <p:nvSpPr>
          <p:cNvPr name="TextBox 10" id="10"/>
          <p:cNvSpPr txBox="true"/>
          <p:nvPr/>
        </p:nvSpPr>
        <p:spPr>
          <a:xfrm rot="0">
            <a:off x="1143000" y="5610796"/>
            <a:ext cx="15629477" cy="695325"/>
          </a:xfrm>
          <a:prstGeom prst="rect">
            <a:avLst/>
          </a:prstGeom>
        </p:spPr>
        <p:txBody>
          <a:bodyPr anchor="t" rtlCol="false" tIns="0" lIns="0" bIns="0" rIns="0">
            <a:spAutoFit/>
          </a:bodyPr>
          <a:lstStyle/>
          <a:p>
            <a:pPr algn="l">
              <a:lnSpc>
                <a:spcPts val="5399"/>
              </a:lnSpc>
            </a:pPr>
            <a:r>
              <a:rPr lang="en-US" sz="4499" spc="-44">
                <a:solidFill>
                  <a:srgbClr val="0D0F26"/>
                </a:solidFill>
                <a:latin typeface="Arimo"/>
                <a:ea typeface="Arimo"/>
                <a:cs typeface="Arimo"/>
                <a:sym typeface="Arimo"/>
              </a:rPr>
              <a:t>Fix the memoization of the </a:t>
            </a:r>
            <a:r>
              <a:rPr lang="en-US" b="true" sz="4499" spc="-44">
                <a:solidFill>
                  <a:srgbClr val="0D0F26"/>
                </a:solidFill>
                <a:latin typeface="Arimo Bold"/>
                <a:ea typeface="Arimo Bold"/>
                <a:cs typeface="Arimo Bold"/>
                <a:sym typeface="Arimo Bold"/>
              </a:rPr>
              <a:t>BookmarkButton</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C8CEF5"/>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143000" y="1943100"/>
            <a:ext cx="3429893" cy="340995"/>
          </a:xfrm>
          <a:prstGeom prst="rect">
            <a:avLst/>
          </a:prstGeom>
        </p:spPr>
        <p:txBody>
          <a:bodyPr anchor="t" rtlCol="false" tIns="0" lIns="0" bIns="0" rIns="0">
            <a:spAutoFit/>
          </a:bodyPr>
          <a:lstStyle/>
          <a:p>
            <a:pPr algn="l">
              <a:lnSpc>
                <a:spcPts val="2729"/>
              </a:lnSpc>
            </a:pPr>
            <a:r>
              <a:rPr lang="en-US" b="true" sz="1950" spc="234">
                <a:gradFill>
                  <a:gsLst>
                    <a:gs pos="0">
                      <a:srgbClr val="0D0F26">
                        <a:alpha val="55000"/>
                      </a:srgbClr>
                    </a:gs>
                    <a:gs pos="100000">
                      <a:srgbClr val="0D0F26">
                        <a:alpha val="55000"/>
                      </a:srgbClr>
                    </a:gs>
                  </a:gsLst>
                  <a:lin ang="16200000"/>
                </a:gradFill>
                <a:latin typeface="Inter Semi-Bold"/>
                <a:ea typeface="Inter Semi-Bold"/>
                <a:cs typeface="Inter Semi-Bold"/>
                <a:sym typeface="Inter Semi-Bold"/>
              </a:rPr>
              <a:t>EXERCISE 02 · PART 03</a:t>
            </a:r>
          </a:p>
        </p:txBody>
      </p:sp>
      <p:sp>
        <p:nvSpPr>
          <p:cNvPr name="TextBox 6" id="6"/>
          <p:cNvSpPr txBox="true"/>
          <p:nvPr/>
        </p:nvSpPr>
        <p:spPr>
          <a:xfrm rot="0">
            <a:off x="1143000" y="3612590"/>
            <a:ext cx="16002000" cy="4053840"/>
          </a:xfrm>
          <a:prstGeom prst="rect">
            <a:avLst/>
          </a:prstGeom>
        </p:spPr>
        <p:txBody>
          <a:bodyPr anchor="t" rtlCol="false" tIns="0" lIns="0" bIns="0" rIns="0">
            <a:spAutoFit/>
          </a:bodyPr>
          <a:lstStyle/>
          <a:p>
            <a:pPr algn="l">
              <a:lnSpc>
                <a:spcPts val="15180"/>
              </a:lnSpc>
            </a:pPr>
            <a:r>
              <a:rPr lang="en-US" b="true" sz="16500" spc="-495">
                <a:solidFill>
                  <a:srgbClr val="0D0F26"/>
                </a:solidFill>
                <a:latin typeface="Arimo Bold"/>
                <a:ea typeface="Arimo Bold"/>
                <a:cs typeface="Arimo Bold"/>
                <a:sym typeface="Arimo Bold"/>
              </a:rPr>
              <a:t>Memo it.</a:t>
            </a:r>
          </a:p>
          <a:p>
            <a:pPr algn="l">
              <a:lnSpc>
                <a:spcPts val="15180"/>
              </a:lnSpc>
            </a:pPr>
          </a:p>
        </p:txBody>
      </p:sp>
      <p:sp>
        <p:nvSpPr>
          <p:cNvPr name="AutoShape 7" id="7"/>
          <p:cNvSpPr/>
          <p:nvPr/>
        </p:nvSpPr>
        <p:spPr>
          <a:xfrm rot="0">
            <a:off x="1143000" y="8896350"/>
            <a:ext cx="16002000" cy="9525"/>
          </a:xfrm>
          <a:prstGeom prst="rect">
            <a:avLst/>
          </a:prstGeom>
          <a:solidFill>
            <a:srgbClr val="0D0F26"/>
          </a:solidFill>
        </p:spPr>
      </p:sp>
      <p:sp>
        <p:nvSpPr>
          <p:cNvPr name="TextBox 8" id="8"/>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SOFTWARE MANSION · REACT PERFORMANCE</a:t>
            </a:r>
          </a:p>
        </p:txBody>
      </p:sp>
      <p:sp>
        <p:nvSpPr>
          <p:cNvPr name="TextBox 9" id="9"/>
          <p:cNvSpPr txBox="true"/>
          <p:nvPr/>
        </p:nvSpPr>
        <p:spPr>
          <a:xfrm rot="0">
            <a:off x="16301276" y="9134475"/>
            <a:ext cx="84372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20 / 26</a:t>
            </a:r>
          </a:p>
        </p:txBody>
      </p:sp>
      <p:sp>
        <p:nvSpPr>
          <p:cNvPr name="TextBox 10" id="10"/>
          <p:cNvSpPr txBox="true"/>
          <p:nvPr/>
        </p:nvSpPr>
        <p:spPr>
          <a:xfrm rot="0">
            <a:off x="1143000" y="5610796"/>
            <a:ext cx="15629477" cy="695325"/>
          </a:xfrm>
          <a:prstGeom prst="rect">
            <a:avLst/>
          </a:prstGeom>
        </p:spPr>
        <p:txBody>
          <a:bodyPr anchor="t" rtlCol="false" tIns="0" lIns="0" bIns="0" rIns="0">
            <a:spAutoFit/>
          </a:bodyPr>
          <a:lstStyle/>
          <a:p>
            <a:pPr algn="l">
              <a:lnSpc>
                <a:spcPts val="5399"/>
              </a:lnSpc>
            </a:pPr>
            <a:r>
              <a:rPr lang="en-US" sz="4499" spc="-44">
                <a:solidFill>
                  <a:srgbClr val="0D0F26"/>
                </a:solidFill>
                <a:latin typeface="Arimo"/>
                <a:ea typeface="Arimo"/>
                <a:cs typeface="Arimo"/>
                <a:sym typeface="Arimo"/>
              </a:rPr>
              <a:t>Fix the memoization of the </a:t>
            </a:r>
            <a:r>
              <a:rPr lang="en-US" b="true" sz="4499" spc="-44">
                <a:solidFill>
                  <a:srgbClr val="0D0F26"/>
                </a:solidFill>
                <a:latin typeface="Arimo Bold"/>
                <a:ea typeface="Arimo Bold"/>
                <a:cs typeface="Arimo Bold"/>
                <a:sym typeface="Arimo Bold"/>
              </a:rPr>
              <a:t>ShareButton</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0D0F26"/>
          </a:solidFill>
        </p:spPr>
      </p:sp>
      <p:sp>
        <p:nvSpPr>
          <p:cNvPr name="AutoShape 3" id="3"/>
          <p:cNvSpPr/>
          <p:nvPr/>
        </p:nvSpPr>
        <p:spPr>
          <a:xfrm rot="0">
            <a:off x="1143000" y="1447800"/>
            <a:ext cx="16002000" cy="9525"/>
          </a:xfrm>
          <a:prstGeom prst="rect">
            <a:avLst/>
          </a:prstGeom>
          <a:solidFill>
            <a:srgbClr val="FFFFFF">
              <a:alpha val="24706"/>
            </a:srgbClr>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FFFFFF"/>
                </a:solidFill>
                <a:latin typeface="Arimo Bold"/>
                <a:ea typeface="Arimo Bold"/>
                <a:cs typeface="Arimo Bold"/>
                <a:sym typeface="Arimo Bold"/>
              </a:rPr>
              <a:t>Software Mansion</a:t>
            </a:r>
          </a:p>
        </p:txBody>
      </p:sp>
      <p:sp>
        <p:nvSpPr>
          <p:cNvPr name="TextBox 5" id="5"/>
          <p:cNvSpPr txBox="true"/>
          <p:nvPr/>
        </p:nvSpPr>
        <p:spPr>
          <a:xfrm rot="0">
            <a:off x="1143000" y="2095500"/>
            <a:ext cx="2753171" cy="992505"/>
          </a:xfrm>
          <a:prstGeom prst="rect">
            <a:avLst/>
          </a:prstGeom>
        </p:spPr>
        <p:txBody>
          <a:bodyPr anchor="t" rtlCol="false" tIns="0" lIns="0" bIns="0" rIns="0">
            <a:spAutoFit/>
          </a:bodyPr>
          <a:lstStyle/>
          <a:p>
            <a:pPr algn="l">
              <a:lnSpc>
                <a:spcPts val="7200"/>
              </a:lnSpc>
            </a:pPr>
            <a:r>
              <a:rPr lang="en-US" b="true" sz="7200" spc="-144">
                <a:solidFill>
                  <a:srgbClr val="C8CEF5"/>
                </a:solidFill>
                <a:latin typeface="Arimo Bold"/>
                <a:ea typeface="Arimo Bold"/>
                <a:cs typeface="Arimo Bold"/>
                <a:sym typeface="Arimo Bold"/>
              </a:rPr>
              <a:t>Bonus</a:t>
            </a:r>
          </a:p>
        </p:txBody>
      </p:sp>
      <p:sp>
        <p:nvSpPr>
          <p:cNvPr name="TextBox 6" id="6"/>
          <p:cNvSpPr txBox="true"/>
          <p:nvPr/>
        </p:nvSpPr>
        <p:spPr>
          <a:xfrm rot="0">
            <a:off x="1143000" y="4847463"/>
            <a:ext cx="13907170" cy="1551694"/>
          </a:xfrm>
          <a:prstGeom prst="rect">
            <a:avLst/>
          </a:prstGeom>
        </p:spPr>
        <p:txBody>
          <a:bodyPr anchor="t" rtlCol="false" tIns="0" lIns="0" bIns="0" rIns="0">
            <a:spAutoFit/>
          </a:bodyPr>
          <a:lstStyle/>
          <a:p>
            <a:pPr algn="l">
              <a:lnSpc>
                <a:spcPts val="10912"/>
              </a:lnSpc>
            </a:pPr>
            <a:r>
              <a:rPr lang="en-US" b="true" sz="12400" spc="-496">
                <a:solidFill>
                  <a:srgbClr val="FFFFFF"/>
                </a:solidFill>
                <a:latin typeface="Arimo Bold"/>
                <a:ea typeface="Arimo Bold"/>
                <a:cs typeface="Arimo Bold"/>
                <a:sym typeface="Arimo Bold"/>
              </a:rPr>
              <a:t>The </a:t>
            </a:r>
            <a:r>
              <a:rPr lang="en-US" b="true" sz="12400" spc="-496">
                <a:solidFill>
                  <a:srgbClr val="C8CEF5"/>
                </a:solidFill>
                <a:latin typeface="Arimo Bold"/>
                <a:ea typeface="Arimo Bold"/>
                <a:cs typeface="Arimo Bold"/>
                <a:sym typeface="Arimo Bold"/>
              </a:rPr>
              <a:t>render lifecycle</a:t>
            </a:r>
            <a:r>
              <a:rPr lang="en-US" b="true" sz="12400" spc="-496">
                <a:solidFill>
                  <a:srgbClr val="C8CEF5"/>
                </a:solidFill>
                <a:latin typeface="Arimo Bold"/>
                <a:ea typeface="Arimo Bold"/>
                <a:cs typeface="Arimo Bold"/>
                <a:sym typeface="Arimo Bold"/>
              </a:rPr>
              <a:t>.</a:t>
            </a:r>
          </a:p>
        </p:txBody>
      </p:sp>
      <p:sp>
        <p:nvSpPr>
          <p:cNvPr name="TextBox 7" id="7"/>
          <p:cNvSpPr txBox="true"/>
          <p:nvPr/>
        </p:nvSpPr>
        <p:spPr>
          <a:xfrm rot="0">
            <a:off x="1143000" y="8020050"/>
            <a:ext cx="3423666"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CONCURRENT RENDERING</a:t>
            </a:r>
          </a:p>
        </p:txBody>
      </p:sp>
      <p:sp>
        <p:nvSpPr>
          <p:cNvPr name="TextBox 8" id="8"/>
          <p:cNvSpPr txBox="true"/>
          <p:nvPr/>
        </p:nvSpPr>
        <p:spPr>
          <a:xfrm rot="0">
            <a:off x="5138166" y="8020050"/>
            <a:ext cx="2125313"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USETRANSITION</a:t>
            </a:r>
          </a:p>
        </p:txBody>
      </p:sp>
      <p:sp>
        <p:nvSpPr>
          <p:cNvPr name="TextBox 9" id="9"/>
          <p:cNvSpPr txBox="true"/>
          <p:nvPr/>
        </p:nvSpPr>
        <p:spPr>
          <a:xfrm rot="0">
            <a:off x="7834884" y="8020050"/>
            <a:ext cx="2709291"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USEDEFERREDVALUE</a:t>
            </a:r>
          </a:p>
        </p:txBody>
      </p:sp>
      <p:sp>
        <p:nvSpPr>
          <p:cNvPr name="AutoShape 10" id="10"/>
          <p:cNvSpPr/>
          <p:nvPr/>
        </p:nvSpPr>
        <p:spPr>
          <a:xfrm rot="0">
            <a:off x="1143000" y="8896350"/>
            <a:ext cx="16002000" cy="9525"/>
          </a:xfrm>
          <a:prstGeom prst="rect">
            <a:avLst/>
          </a:prstGeom>
          <a:solidFill>
            <a:srgbClr val="FFFFFF">
              <a:alpha val="24706"/>
            </a:srgbClr>
          </a:solidFill>
        </p:spPr>
      </p:sp>
      <p:sp>
        <p:nvSpPr>
          <p:cNvPr name="TextBox 11" id="11"/>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SOFTWARE MANSION · REACT PERFORMANCE</a:t>
            </a:r>
          </a:p>
        </p:txBody>
      </p:sp>
      <p:sp>
        <p:nvSpPr>
          <p:cNvPr name="TextBox 12" id="12"/>
          <p:cNvSpPr txBox="true"/>
          <p:nvPr/>
        </p:nvSpPr>
        <p:spPr>
          <a:xfrm rot="0">
            <a:off x="16353949" y="9134475"/>
            <a:ext cx="791051"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21 / 26</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292036" y="833438"/>
            <a:ext cx="85296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04 / 26</a:t>
            </a:r>
          </a:p>
        </p:txBody>
      </p:sp>
      <p:sp>
        <p:nvSpPr>
          <p:cNvPr name="TextBox 5" id="5"/>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EVERY RENDER, IN ORDER</a:t>
            </a:r>
          </a:p>
        </p:txBody>
      </p:sp>
      <p:sp>
        <p:nvSpPr>
          <p:cNvPr name="TextBox 6" id="6"/>
          <p:cNvSpPr txBox="true"/>
          <p:nvPr/>
        </p:nvSpPr>
        <p:spPr>
          <a:xfrm rot="0">
            <a:off x="1143000" y="2590800"/>
            <a:ext cx="6934498" cy="1012836"/>
          </a:xfrm>
          <a:prstGeom prst="rect">
            <a:avLst/>
          </a:prstGeom>
        </p:spPr>
        <p:txBody>
          <a:bodyPr anchor="t" rtlCol="false" tIns="0" lIns="0" bIns="0" rIns="0">
            <a:spAutoFit/>
          </a:bodyPr>
          <a:lstStyle/>
          <a:p>
            <a:pPr algn="l">
              <a:lnSpc>
                <a:spcPts val="7220"/>
              </a:lnSpc>
            </a:pPr>
            <a:r>
              <a:rPr lang="en-US" b="true" sz="7600" spc="-152">
                <a:solidFill>
                  <a:srgbClr val="0D0F26"/>
                </a:solidFill>
                <a:latin typeface="Arimo Bold"/>
                <a:ea typeface="Arimo Bold"/>
                <a:cs typeface="Arimo Bold"/>
                <a:sym typeface="Arimo Bold"/>
              </a:rPr>
              <a:t>What happens?</a:t>
            </a:r>
          </a:p>
        </p:txBody>
      </p:sp>
      <p:sp>
        <p:nvSpPr>
          <p:cNvPr name="AutoShape 7" id="7"/>
          <p:cNvSpPr/>
          <p:nvPr/>
        </p:nvSpPr>
        <p:spPr>
          <a:xfrm rot="0">
            <a:off x="1143000" y="4067175"/>
            <a:ext cx="16002000" cy="9525"/>
          </a:xfrm>
          <a:prstGeom prst="rect">
            <a:avLst/>
          </a:prstGeom>
          <a:solidFill>
            <a:srgbClr val="0D0F26"/>
          </a:solidFill>
        </p:spPr>
      </p:sp>
      <p:sp>
        <p:nvSpPr>
          <p:cNvPr name="AutoShape 8" id="8"/>
          <p:cNvSpPr/>
          <p:nvPr/>
        </p:nvSpPr>
        <p:spPr>
          <a:xfrm rot="0">
            <a:off x="4333875" y="4076700"/>
            <a:ext cx="9525" cy="3733800"/>
          </a:xfrm>
          <a:prstGeom prst="rect">
            <a:avLst/>
          </a:prstGeom>
          <a:solidFill>
            <a:srgbClr val="0D0F26"/>
          </a:solidFill>
        </p:spPr>
      </p:sp>
      <p:sp>
        <p:nvSpPr>
          <p:cNvPr name="TextBox 9" id="9"/>
          <p:cNvSpPr txBox="true"/>
          <p:nvPr/>
        </p:nvSpPr>
        <p:spPr>
          <a:xfrm rot="0">
            <a:off x="1409700" y="4514850"/>
            <a:ext cx="2657475" cy="476250"/>
          </a:xfrm>
          <a:prstGeom prst="rect">
            <a:avLst/>
          </a:prstGeom>
        </p:spPr>
        <p:txBody>
          <a:bodyPr anchor="t" rtlCol="false" tIns="0" lIns="0" bIns="0" rIns="0">
            <a:spAutoFit/>
          </a:bodyPr>
          <a:lstStyle/>
          <a:p>
            <a:pPr algn="l">
              <a:lnSpc>
                <a:spcPts val="4200"/>
              </a:lnSpc>
            </a:pPr>
            <a:r>
              <a:rPr lang="en-US" b="true" sz="4200" spc="-84">
                <a:solidFill>
                  <a:srgbClr val="0D0F26"/>
                </a:solidFill>
                <a:latin typeface="Arimo Bold"/>
                <a:ea typeface="Arimo Bold"/>
                <a:cs typeface="Arimo Bold"/>
                <a:sym typeface="Arimo Bold"/>
              </a:rPr>
              <a:t>01</a:t>
            </a:r>
          </a:p>
        </p:txBody>
      </p:sp>
      <p:sp>
        <p:nvSpPr>
          <p:cNvPr name="TextBox 10" id="10"/>
          <p:cNvSpPr txBox="true"/>
          <p:nvPr/>
        </p:nvSpPr>
        <p:spPr>
          <a:xfrm rot="0">
            <a:off x="1409700" y="5219700"/>
            <a:ext cx="1286098" cy="461010"/>
          </a:xfrm>
          <a:prstGeom prst="rect">
            <a:avLst/>
          </a:prstGeom>
        </p:spPr>
        <p:txBody>
          <a:bodyPr anchor="t" rtlCol="false" tIns="0" lIns="0" bIns="0" rIns="0">
            <a:spAutoFit/>
          </a:bodyPr>
          <a:lstStyle/>
          <a:p>
            <a:pPr algn="l">
              <a:lnSpc>
                <a:spcPts val="3359"/>
              </a:lnSpc>
            </a:pPr>
            <a:r>
              <a:rPr lang="en-US" sz="3199" spc="-31">
                <a:solidFill>
                  <a:srgbClr val="0D0F26"/>
                </a:solidFill>
                <a:latin typeface="Arimo"/>
                <a:ea typeface="Arimo"/>
                <a:cs typeface="Arimo"/>
                <a:sym typeface="Arimo"/>
              </a:rPr>
              <a:t>Update</a:t>
            </a:r>
          </a:p>
        </p:txBody>
      </p:sp>
      <p:sp>
        <p:nvSpPr>
          <p:cNvPr name="AutoShape 11" id="11"/>
          <p:cNvSpPr/>
          <p:nvPr/>
        </p:nvSpPr>
        <p:spPr>
          <a:xfrm rot="0">
            <a:off x="7534275" y="4076700"/>
            <a:ext cx="9525" cy="3733800"/>
          </a:xfrm>
          <a:prstGeom prst="rect">
            <a:avLst/>
          </a:prstGeom>
          <a:solidFill>
            <a:srgbClr val="0D0F26"/>
          </a:solidFill>
        </p:spPr>
      </p:sp>
      <p:sp>
        <p:nvSpPr>
          <p:cNvPr name="TextBox 12" id="12"/>
          <p:cNvSpPr txBox="true"/>
          <p:nvPr/>
        </p:nvSpPr>
        <p:spPr>
          <a:xfrm rot="0">
            <a:off x="4610100" y="4514850"/>
            <a:ext cx="2657475" cy="476250"/>
          </a:xfrm>
          <a:prstGeom prst="rect">
            <a:avLst/>
          </a:prstGeom>
        </p:spPr>
        <p:txBody>
          <a:bodyPr anchor="t" rtlCol="false" tIns="0" lIns="0" bIns="0" rIns="0">
            <a:spAutoFit/>
          </a:bodyPr>
          <a:lstStyle/>
          <a:p>
            <a:pPr algn="l">
              <a:lnSpc>
                <a:spcPts val="4200"/>
              </a:lnSpc>
            </a:pPr>
            <a:r>
              <a:rPr lang="en-US" b="true" sz="4200" spc="-84">
                <a:solidFill>
                  <a:srgbClr val="0D0F26"/>
                </a:solidFill>
                <a:latin typeface="Arimo Bold"/>
                <a:ea typeface="Arimo Bold"/>
                <a:cs typeface="Arimo Bold"/>
                <a:sym typeface="Arimo Bold"/>
              </a:rPr>
              <a:t>02</a:t>
            </a:r>
          </a:p>
        </p:txBody>
      </p:sp>
      <p:sp>
        <p:nvSpPr>
          <p:cNvPr name="TextBox 13" id="13"/>
          <p:cNvSpPr txBox="true"/>
          <p:nvPr/>
        </p:nvSpPr>
        <p:spPr>
          <a:xfrm rot="0">
            <a:off x="4610100" y="5219700"/>
            <a:ext cx="1308497" cy="461010"/>
          </a:xfrm>
          <a:prstGeom prst="rect">
            <a:avLst/>
          </a:prstGeom>
        </p:spPr>
        <p:txBody>
          <a:bodyPr anchor="t" rtlCol="false" tIns="0" lIns="0" bIns="0" rIns="0">
            <a:spAutoFit/>
          </a:bodyPr>
          <a:lstStyle/>
          <a:p>
            <a:pPr algn="l">
              <a:lnSpc>
                <a:spcPts val="3360"/>
              </a:lnSpc>
            </a:pPr>
            <a:r>
              <a:rPr lang="en-US" sz="3200" spc="-32">
                <a:solidFill>
                  <a:srgbClr val="0D0F26"/>
                </a:solidFill>
                <a:latin typeface="Arimo"/>
                <a:ea typeface="Arimo"/>
                <a:cs typeface="Arimo"/>
                <a:sym typeface="Arimo"/>
              </a:rPr>
              <a:t>Render</a:t>
            </a:r>
          </a:p>
        </p:txBody>
      </p:sp>
      <p:sp>
        <p:nvSpPr>
          <p:cNvPr name="AutoShape 14" id="14"/>
          <p:cNvSpPr/>
          <p:nvPr/>
        </p:nvSpPr>
        <p:spPr>
          <a:xfrm rot="0">
            <a:off x="10734675" y="4076700"/>
            <a:ext cx="9525" cy="3733800"/>
          </a:xfrm>
          <a:prstGeom prst="rect">
            <a:avLst/>
          </a:prstGeom>
          <a:solidFill>
            <a:srgbClr val="0D0F26"/>
          </a:solidFill>
        </p:spPr>
      </p:sp>
      <p:sp>
        <p:nvSpPr>
          <p:cNvPr name="TextBox 15" id="15"/>
          <p:cNvSpPr txBox="true"/>
          <p:nvPr/>
        </p:nvSpPr>
        <p:spPr>
          <a:xfrm rot="0">
            <a:off x="7810500" y="4514850"/>
            <a:ext cx="2657475" cy="476250"/>
          </a:xfrm>
          <a:prstGeom prst="rect">
            <a:avLst/>
          </a:prstGeom>
        </p:spPr>
        <p:txBody>
          <a:bodyPr anchor="t" rtlCol="false" tIns="0" lIns="0" bIns="0" rIns="0">
            <a:spAutoFit/>
          </a:bodyPr>
          <a:lstStyle/>
          <a:p>
            <a:pPr algn="l">
              <a:lnSpc>
                <a:spcPts val="4200"/>
              </a:lnSpc>
            </a:pPr>
            <a:r>
              <a:rPr lang="en-US" b="true" sz="4200" spc="-84">
                <a:solidFill>
                  <a:srgbClr val="0D0F26"/>
                </a:solidFill>
                <a:latin typeface="Arimo Bold"/>
                <a:ea typeface="Arimo Bold"/>
                <a:cs typeface="Arimo Bold"/>
                <a:sym typeface="Arimo Bold"/>
              </a:rPr>
              <a:t>03</a:t>
            </a:r>
          </a:p>
        </p:txBody>
      </p:sp>
      <p:sp>
        <p:nvSpPr>
          <p:cNvPr name="TextBox 16" id="16"/>
          <p:cNvSpPr txBox="true"/>
          <p:nvPr/>
        </p:nvSpPr>
        <p:spPr>
          <a:xfrm rot="0">
            <a:off x="7810500" y="5219700"/>
            <a:ext cx="1375395" cy="461010"/>
          </a:xfrm>
          <a:prstGeom prst="rect">
            <a:avLst/>
          </a:prstGeom>
        </p:spPr>
        <p:txBody>
          <a:bodyPr anchor="t" rtlCol="false" tIns="0" lIns="0" bIns="0" rIns="0">
            <a:spAutoFit/>
          </a:bodyPr>
          <a:lstStyle/>
          <a:p>
            <a:pPr algn="l">
              <a:lnSpc>
                <a:spcPts val="3360"/>
              </a:lnSpc>
            </a:pPr>
            <a:r>
              <a:rPr lang="en-US" sz="3200" spc="-32">
                <a:solidFill>
                  <a:srgbClr val="0D0F26"/>
                </a:solidFill>
                <a:latin typeface="Arimo"/>
                <a:ea typeface="Arimo"/>
                <a:cs typeface="Arimo"/>
                <a:sym typeface="Arimo"/>
              </a:rPr>
              <a:t>Commit</a:t>
            </a:r>
          </a:p>
        </p:txBody>
      </p:sp>
      <p:sp>
        <p:nvSpPr>
          <p:cNvPr name="AutoShape 17" id="17"/>
          <p:cNvSpPr/>
          <p:nvPr/>
        </p:nvSpPr>
        <p:spPr>
          <a:xfrm rot="0">
            <a:off x="13935075" y="4076700"/>
            <a:ext cx="9525" cy="3733800"/>
          </a:xfrm>
          <a:prstGeom prst="rect">
            <a:avLst/>
          </a:prstGeom>
          <a:solidFill>
            <a:srgbClr val="0D0F26"/>
          </a:solidFill>
        </p:spPr>
      </p:sp>
      <p:sp>
        <p:nvSpPr>
          <p:cNvPr name="TextBox 18" id="18"/>
          <p:cNvSpPr txBox="true"/>
          <p:nvPr/>
        </p:nvSpPr>
        <p:spPr>
          <a:xfrm rot="0">
            <a:off x="11010900" y="4514850"/>
            <a:ext cx="2657475" cy="476250"/>
          </a:xfrm>
          <a:prstGeom prst="rect">
            <a:avLst/>
          </a:prstGeom>
        </p:spPr>
        <p:txBody>
          <a:bodyPr anchor="t" rtlCol="false" tIns="0" lIns="0" bIns="0" rIns="0">
            <a:spAutoFit/>
          </a:bodyPr>
          <a:lstStyle/>
          <a:p>
            <a:pPr algn="l">
              <a:lnSpc>
                <a:spcPts val="4200"/>
              </a:lnSpc>
            </a:pPr>
            <a:r>
              <a:rPr lang="en-US" b="true" sz="4200" spc="-84">
                <a:solidFill>
                  <a:srgbClr val="0D0F26"/>
                </a:solidFill>
                <a:latin typeface="Arimo Bold"/>
                <a:ea typeface="Arimo Bold"/>
                <a:cs typeface="Arimo Bold"/>
                <a:sym typeface="Arimo Bold"/>
              </a:rPr>
              <a:t>04</a:t>
            </a:r>
          </a:p>
        </p:txBody>
      </p:sp>
      <p:sp>
        <p:nvSpPr>
          <p:cNvPr name="TextBox 19" id="19"/>
          <p:cNvSpPr txBox="true"/>
          <p:nvPr/>
        </p:nvSpPr>
        <p:spPr>
          <a:xfrm rot="0">
            <a:off x="11010900" y="5219700"/>
            <a:ext cx="2657475" cy="880110"/>
          </a:xfrm>
          <a:prstGeom prst="rect">
            <a:avLst/>
          </a:prstGeom>
        </p:spPr>
        <p:txBody>
          <a:bodyPr anchor="t" rtlCol="false" tIns="0" lIns="0" bIns="0" rIns="0">
            <a:spAutoFit/>
          </a:bodyPr>
          <a:lstStyle/>
          <a:p>
            <a:pPr algn="l">
              <a:lnSpc>
                <a:spcPts val="3360"/>
              </a:lnSpc>
            </a:pPr>
            <a:r>
              <a:rPr lang="en-US" sz="3200" spc="-32">
                <a:solidFill>
                  <a:srgbClr val="0D0F26"/>
                </a:solidFill>
                <a:latin typeface="Arimo"/>
                <a:ea typeface="Arimo"/>
                <a:cs typeface="Arimo"/>
                <a:sym typeface="Arimo"/>
              </a:rPr>
              <a:t>Waiting</a:t>
            </a:r>
          </a:p>
          <a:p>
            <a:pPr algn="l">
              <a:lnSpc>
                <a:spcPts val="3360"/>
              </a:lnSpc>
            </a:pPr>
            <a:r>
              <a:rPr lang="en-US" sz="3200" spc="-32">
                <a:solidFill>
                  <a:srgbClr val="0D0F26"/>
                </a:solidFill>
                <a:latin typeface="Arimo"/>
                <a:ea typeface="Arimo"/>
                <a:cs typeface="Arimo"/>
                <a:sym typeface="Arimo"/>
              </a:rPr>
              <a:t>for paint</a:t>
            </a:r>
          </a:p>
        </p:txBody>
      </p:sp>
      <p:sp>
        <p:nvSpPr>
          <p:cNvPr name="TextBox 20" id="20"/>
          <p:cNvSpPr txBox="true"/>
          <p:nvPr/>
        </p:nvSpPr>
        <p:spPr>
          <a:xfrm rot="0">
            <a:off x="14211300" y="4514850"/>
            <a:ext cx="2667000" cy="476250"/>
          </a:xfrm>
          <a:prstGeom prst="rect">
            <a:avLst/>
          </a:prstGeom>
        </p:spPr>
        <p:txBody>
          <a:bodyPr anchor="t" rtlCol="false" tIns="0" lIns="0" bIns="0" rIns="0">
            <a:spAutoFit/>
          </a:bodyPr>
          <a:lstStyle/>
          <a:p>
            <a:pPr algn="l">
              <a:lnSpc>
                <a:spcPts val="4200"/>
              </a:lnSpc>
            </a:pPr>
            <a:r>
              <a:rPr lang="en-US" b="true" sz="4200" spc="-84">
                <a:solidFill>
                  <a:srgbClr val="0D0F26"/>
                </a:solidFill>
                <a:latin typeface="Arimo Bold"/>
                <a:ea typeface="Arimo Bold"/>
                <a:cs typeface="Arimo Bold"/>
                <a:sym typeface="Arimo Bold"/>
              </a:rPr>
              <a:t>05</a:t>
            </a:r>
          </a:p>
        </p:txBody>
      </p:sp>
      <p:sp>
        <p:nvSpPr>
          <p:cNvPr name="TextBox 21" id="21"/>
          <p:cNvSpPr txBox="true"/>
          <p:nvPr/>
        </p:nvSpPr>
        <p:spPr>
          <a:xfrm rot="0">
            <a:off x="14211300" y="5219700"/>
            <a:ext cx="2667000" cy="880110"/>
          </a:xfrm>
          <a:prstGeom prst="rect">
            <a:avLst/>
          </a:prstGeom>
        </p:spPr>
        <p:txBody>
          <a:bodyPr anchor="t" rtlCol="false" tIns="0" lIns="0" bIns="0" rIns="0">
            <a:spAutoFit/>
          </a:bodyPr>
          <a:lstStyle/>
          <a:p>
            <a:pPr algn="l">
              <a:lnSpc>
                <a:spcPts val="3360"/>
              </a:lnSpc>
            </a:pPr>
            <a:r>
              <a:rPr lang="en-US" sz="3200" spc="-32">
                <a:solidFill>
                  <a:srgbClr val="0D0F26"/>
                </a:solidFill>
                <a:latin typeface="Arimo"/>
                <a:ea typeface="Arimo"/>
                <a:cs typeface="Arimo"/>
                <a:sym typeface="Arimo"/>
              </a:rPr>
              <a:t>Remaining</a:t>
            </a:r>
          </a:p>
          <a:p>
            <a:pPr algn="l">
              <a:lnSpc>
                <a:spcPts val="3360"/>
              </a:lnSpc>
            </a:pPr>
            <a:r>
              <a:rPr lang="en-US" sz="3200" spc="-32">
                <a:solidFill>
                  <a:srgbClr val="0D0F26"/>
                </a:solidFill>
                <a:latin typeface="Arimo"/>
                <a:ea typeface="Arimo"/>
                <a:cs typeface="Arimo"/>
                <a:sym typeface="Arimo"/>
              </a:rPr>
              <a:t>effects</a:t>
            </a:r>
          </a:p>
        </p:txBody>
      </p:sp>
      <p:sp>
        <p:nvSpPr>
          <p:cNvPr name="AutoShape 22" id="22"/>
          <p:cNvSpPr/>
          <p:nvPr/>
        </p:nvSpPr>
        <p:spPr>
          <a:xfrm rot="0">
            <a:off x="1143000" y="8896350"/>
            <a:ext cx="16002000" cy="9525"/>
          </a:xfrm>
          <a:prstGeom prst="rect">
            <a:avLst/>
          </a:prstGeom>
          <a:solidFill>
            <a:srgbClr val="0D0F26"/>
          </a:solidFill>
        </p:spPr>
      </p:sp>
      <p:sp>
        <p:nvSpPr>
          <p:cNvPr name="TextBox 23" id="23"/>
          <p:cNvSpPr txBox="true"/>
          <p:nvPr/>
        </p:nvSpPr>
        <p:spPr>
          <a:xfrm rot="0">
            <a:off x="1143000" y="9134475"/>
            <a:ext cx="2348960"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01 · MEASURE</a:t>
            </a:r>
          </a:p>
        </p:txBody>
      </p:sp>
      <p:sp>
        <p:nvSpPr>
          <p:cNvPr name="TextBox 24" id="24"/>
          <p:cNvSpPr txBox="true"/>
          <p:nvPr/>
        </p:nvSpPr>
        <p:spPr>
          <a:xfrm rot="0">
            <a:off x="13464921" y="9134475"/>
            <a:ext cx="3680079"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EACH ONE A SEPARATE TRACK</a:t>
            </a:r>
          </a:p>
        </p:txBody>
      </p:sp>
      <p:sp>
        <p:nvSpPr>
          <p:cNvPr name="AutoShape 25" id="25"/>
          <p:cNvSpPr/>
          <p:nvPr/>
        </p:nvSpPr>
        <p:spPr>
          <a:xfrm rot="0">
            <a:off x="1409700" y="6829425"/>
            <a:ext cx="2657475" cy="95250"/>
          </a:xfrm>
          <a:prstGeom prst="rect">
            <a:avLst/>
          </a:prstGeom>
          <a:solidFill>
            <a:srgbClr val="0D0F26">
              <a:alpha val="17647"/>
            </a:srgbClr>
          </a:solidFill>
        </p:spPr>
      </p:sp>
      <p:sp>
        <p:nvSpPr>
          <p:cNvPr name="AutoShape 26" id="26"/>
          <p:cNvSpPr/>
          <p:nvPr/>
        </p:nvSpPr>
        <p:spPr>
          <a:xfrm rot="0">
            <a:off x="4610100" y="6829425"/>
            <a:ext cx="2657475" cy="95250"/>
          </a:xfrm>
          <a:prstGeom prst="rect">
            <a:avLst/>
          </a:prstGeom>
          <a:solidFill>
            <a:srgbClr val="0D0F26">
              <a:alpha val="17647"/>
            </a:srgbClr>
          </a:solidFill>
        </p:spPr>
      </p:sp>
      <p:sp>
        <p:nvSpPr>
          <p:cNvPr name="AutoShape 27" id="27"/>
          <p:cNvSpPr/>
          <p:nvPr/>
        </p:nvSpPr>
        <p:spPr>
          <a:xfrm rot="0">
            <a:off x="7810500" y="6829425"/>
            <a:ext cx="2657475" cy="95250"/>
          </a:xfrm>
          <a:prstGeom prst="rect">
            <a:avLst/>
          </a:prstGeom>
          <a:solidFill>
            <a:srgbClr val="0D0F26">
              <a:alpha val="17647"/>
            </a:srgbClr>
          </a:solidFill>
        </p:spPr>
      </p:sp>
      <p:sp>
        <p:nvSpPr>
          <p:cNvPr name="AutoShape 28" id="28"/>
          <p:cNvSpPr/>
          <p:nvPr/>
        </p:nvSpPr>
        <p:spPr>
          <a:xfrm rot="0">
            <a:off x="11010900" y="6829425"/>
            <a:ext cx="2657475" cy="95250"/>
          </a:xfrm>
          <a:prstGeom prst="rect">
            <a:avLst/>
          </a:prstGeom>
          <a:solidFill>
            <a:srgbClr val="0D0F26">
              <a:alpha val="17647"/>
            </a:srgbClr>
          </a:solidFill>
        </p:spPr>
      </p:sp>
      <p:sp>
        <p:nvSpPr>
          <p:cNvPr name="AutoShape 29" id="29"/>
          <p:cNvSpPr/>
          <p:nvPr/>
        </p:nvSpPr>
        <p:spPr>
          <a:xfrm rot="0">
            <a:off x="14211300" y="6829425"/>
            <a:ext cx="2667000" cy="95250"/>
          </a:xfrm>
          <a:prstGeom prst="rect">
            <a:avLst/>
          </a:prstGeom>
          <a:solidFill>
            <a:srgbClr val="0D0F26">
              <a:alpha val="17647"/>
            </a:srgbClr>
          </a:solidFill>
        </p:spPr>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304228" y="833438"/>
            <a:ext cx="840772"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05 / 26</a:t>
            </a:r>
          </a:p>
        </p:txBody>
      </p:sp>
      <p:sp>
        <p:nvSpPr>
          <p:cNvPr name="TextBox 5" id="5"/>
          <p:cNvSpPr txBox="true"/>
          <p:nvPr/>
        </p:nvSpPr>
        <p:spPr>
          <a:xfrm rot="0">
            <a:off x="1143000" y="1952625"/>
            <a:ext cx="160020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PHASE 01 OF 05</a:t>
            </a:r>
          </a:p>
        </p:txBody>
      </p:sp>
      <p:sp>
        <p:nvSpPr>
          <p:cNvPr name="AutoShape 6" id="6"/>
          <p:cNvSpPr/>
          <p:nvPr/>
        </p:nvSpPr>
        <p:spPr>
          <a:xfrm rot="0">
            <a:off x="1143000" y="2343150"/>
            <a:ext cx="6975538" cy="242887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828925"/>
            <a:ext cx="16002000" cy="1685925"/>
          </a:xfrm>
          <a:prstGeom prst="rect">
            <a:avLst/>
          </a:prstGeom>
        </p:spPr>
        <p:txBody>
          <a:bodyPr anchor="t" rtlCol="false" tIns="0" lIns="0" bIns="0" rIns="0">
            <a:spAutoFit/>
          </a:bodyPr>
          <a:lstStyle/>
          <a:p>
            <a:pPr algn="l">
              <a:lnSpc>
                <a:spcPts val="15000"/>
              </a:lnSpc>
            </a:pPr>
            <a:r>
              <a:rPr lang="en-US" b="true" sz="15000" spc="-450">
                <a:solidFill>
                  <a:srgbClr val="0D0F26"/>
                </a:solidFill>
                <a:latin typeface="Arimo Bold"/>
                <a:ea typeface="Arimo Bold"/>
                <a:cs typeface="Arimo Bold"/>
                <a:sym typeface="Arimo Bold"/>
              </a:rPr>
              <a:t>Update.</a:t>
            </a:r>
          </a:p>
        </p:txBody>
      </p:sp>
      <p:sp>
        <p:nvSpPr>
          <p:cNvPr name="TextBox 8" id="8"/>
          <p:cNvSpPr txBox="true"/>
          <p:nvPr/>
        </p:nvSpPr>
        <p:spPr>
          <a:xfrm rot="0">
            <a:off x="1143000" y="4867275"/>
            <a:ext cx="4555034" cy="531495"/>
          </a:xfrm>
          <a:prstGeom prst="rect">
            <a:avLst/>
          </a:prstGeom>
        </p:spPr>
        <p:txBody>
          <a:bodyPr anchor="t" rtlCol="false" tIns="0" lIns="0" bIns="0" rIns="0">
            <a:spAutoFit/>
          </a:bodyPr>
          <a:lstStyle/>
          <a:p>
            <a:pPr algn="l">
              <a:lnSpc>
                <a:spcPts val="3960"/>
              </a:lnSpc>
            </a:pPr>
            <a:r>
              <a:rPr lang="en-US" sz="3600" spc="-36">
                <a:solidFill>
                  <a:srgbClr val="0D0F26"/>
                </a:solidFill>
                <a:latin typeface="Arimo"/>
                <a:ea typeface="Arimo"/>
                <a:cs typeface="Arimo"/>
                <a:sym typeface="Arimo"/>
              </a:rPr>
              <a:t>What needs to render?</a:t>
            </a:r>
          </a:p>
        </p:txBody>
      </p:sp>
      <p:sp>
        <p:nvSpPr>
          <p:cNvPr name="TextBox 9" id="9"/>
          <p:cNvSpPr txBox="true"/>
          <p:nvPr/>
        </p:nvSpPr>
        <p:spPr>
          <a:xfrm rot="0">
            <a:off x="1143000" y="9134475"/>
            <a:ext cx="2348960"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01 · MEASURE</a:t>
            </a:r>
          </a:p>
        </p:txBody>
      </p:sp>
      <p:sp>
        <p:nvSpPr>
          <p:cNvPr name="TextBox 10" id="10"/>
          <p:cNvSpPr txBox="true"/>
          <p:nvPr/>
        </p:nvSpPr>
        <p:spPr>
          <a:xfrm rot="0">
            <a:off x="14877764" y="9134475"/>
            <a:ext cx="2267236"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USUALLY A SLIVER</a:t>
            </a:r>
          </a:p>
        </p:txBody>
      </p:sp>
      <p:sp>
        <p:nvSpPr>
          <p:cNvPr name="AutoShape 11" id="11"/>
          <p:cNvSpPr/>
          <p:nvPr/>
        </p:nvSpPr>
        <p:spPr>
          <a:xfrm rot="0">
            <a:off x="1143000" y="8896350"/>
            <a:ext cx="16002000" cy="9525"/>
          </a:xfrm>
          <a:prstGeom prst="rect">
            <a:avLst/>
          </a:prstGeom>
          <a:solidFill>
            <a:srgbClr val="0D0F26"/>
          </a:solidFill>
        </p:spPr>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298132" y="833438"/>
            <a:ext cx="84686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06 / 26</a:t>
            </a:r>
          </a:p>
        </p:txBody>
      </p:sp>
      <p:sp>
        <p:nvSpPr>
          <p:cNvPr name="TextBox 5" id="5"/>
          <p:cNvSpPr txBox="true"/>
          <p:nvPr/>
        </p:nvSpPr>
        <p:spPr>
          <a:xfrm rot="0">
            <a:off x="1143000" y="1952625"/>
            <a:ext cx="160020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PHASE 02 OF 05 · THE BIG ONE</a:t>
            </a:r>
          </a:p>
        </p:txBody>
      </p:sp>
      <p:sp>
        <p:nvSpPr>
          <p:cNvPr name="AutoShape 6" id="6"/>
          <p:cNvSpPr/>
          <p:nvPr/>
        </p:nvSpPr>
        <p:spPr>
          <a:xfrm rot="0">
            <a:off x="1143000" y="2343150"/>
            <a:ext cx="6705790" cy="242887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828925"/>
            <a:ext cx="16002000" cy="1685925"/>
          </a:xfrm>
          <a:prstGeom prst="rect">
            <a:avLst/>
          </a:prstGeom>
        </p:spPr>
        <p:txBody>
          <a:bodyPr anchor="t" rtlCol="false" tIns="0" lIns="0" bIns="0" rIns="0">
            <a:spAutoFit/>
          </a:bodyPr>
          <a:lstStyle/>
          <a:p>
            <a:pPr algn="l">
              <a:lnSpc>
                <a:spcPts val="15000"/>
              </a:lnSpc>
            </a:pPr>
            <a:r>
              <a:rPr lang="en-US" b="true" sz="15000" spc="-450">
                <a:solidFill>
                  <a:srgbClr val="0D0F26"/>
                </a:solidFill>
                <a:latin typeface="Arimo Bold"/>
                <a:ea typeface="Arimo Bold"/>
                <a:cs typeface="Arimo Bold"/>
                <a:sym typeface="Arimo Bold"/>
              </a:rPr>
              <a:t>Render.</a:t>
            </a:r>
          </a:p>
        </p:txBody>
      </p:sp>
      <p:sp>
        <p:nvSpPr>
          <p:cNvPr name="TextBox 8" id="8"/>
          <p:cNvSpPr txBox="true"/>
          <p:nvPr/>
        </p:nvSpPr>
        <p:spPr>
          <a:xfrm rot="0">
            <a:off x="1143000" y="4867275"/>
            <a:ext cx="13028861" cy="531495"/>
          </a:xfrm>
          <a:prstGeom prst="rect">
            <a:avLst/>
          </a:prstGeom>
        </p:spPr>
        <p:txBody>
          <a:bodyPr anchor="t" rtlCol="false" tIns="0" lIns="0" bIns="0" rIns="0">
            <a:spAutoFit/>
          </a:bodyPr>
          <a:lstStyle/>
          <a:p>
            <a:pPr algn="l">
              <a:lnSpc>
                <a:spcPts val="3960"/>
              </a:lnSpc>
            </a:pPr>
            <a:r>
              <a:rPr lang="en-US" sz="3600" spc="-36">
                <a:solidFill>
                  <a:srgbClr val="0D0F26"/>
                </a:solidFill>
                <a:latin typeface="Arimo"/>
                <a:ea typeface="Arimo"/>
                <a:cs typeface="Arimo"/>
                <a:sym typeface="Arimo"/>
              </a:rPr>
              <a:t>Components run. The new DOM tree is diffed against the old one.</a:t>
            </a:r>
          </a:p>
        </p:txBody>
      </p:sp>
      <p:sp>
        <p:nvSpPr>
          <p:cNvPr name="AutoShape 9" id="9"/>
          <p:cNvSpPr/>
          <p:nvPr/>
        </p:nvSpPr>
        <p:spPr>
          <a:xfrm rot="0">
            <a:off x="1143000" y="8896350"/>
            <a:ext cx="16002000" cy="9525"/>
          </a:xfrm>
          <a:prstGeom prst="rect">
            <a:avLst/>
          </a:prstGeom>
          <a:solidFill>
            <a:srgbClr val="0D0F26"/>
          </a:solidFill>
        </p:spPr>
      </p:sp>
      <p:sp>
        <p:nvSpPr>
          <p:cNvPr name="TextBox 10" id="10"/>
          <p:cNvSpPr txBox="true"/>
          <p:nvPr/>
        </p:nvSpPr>
        <p:spPr>
          <a:xfrm rot="0">
            <a:off x="1143000" y="9134475"/>
            <a:ext cx="2348960"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01 · MEASURE</a:t>
            </a:r>
          </a:p>
        </p:txBody>
      </p:sp>
      <p:sp>
        <p:nvSpPr>
          <p:cNvPr name="TextBox 11" id="11"/>
          <p:cNvSpPr txBox="true"/>
          <p:nvPr/>
        </p:nvSpPr>
        <p:spPr>
          <a:xfrm rot="0">
            <a:off x="14009084" y="9134475"/>
            <a:ext cx="3135916"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WHERE MOST JANK LIVES</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316039" y="833438"/>
            <a:ext cx="828961"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07 / 26</a:t>
            </a:r>
          </a:p>
        </p:txBody>
      </p:sp>
      <p:sp>
        <p:nvSpPr>
          <p:cNvPr name="TextBox 5" id="5"/>
          <p:cNvSpPr txBox="true"/>
          <p:nvPr/>
        </p:nvSpPr>
        <p:spPr>
          <a:xfrm rot="0">
            <a:off x="1143000" y="1952625"/>
            <a:ext cx="160020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PHASE 03 OF 05</a:t>
            </a:r>
          </a:p>
        </p:txBody>
      </p:sp>
      <p:sp>
        <p:nvSpPr>
          <p:cNvPr name="AutoShape 6" id="6"/>
          <p:cNvSpPr/>
          <p:nvPr/>
        </p:nvSpPr>
        <p:spPr>
          <a:xfrm rot="0">
            <a:off x="1143000" y="2343150"/>
            <a:ext cx="7317105" cy="242887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828925"/>
            <a:ext cx="16002000" cy="1685925"/>
          </a:xfrm>
          <a:prstGeom prst="rect">
            <a:avLst/>
          </a:prstGeom>
        </p:spPr>
        <p:txBody>
          <a:bodyPr anchor="t" rtlCol="false" tIns="0" lIns="0" bIns="0" rIns="0">
            <a:spAutoFit/>
          </a:bodyPr>
          <a:lstStyle/>
          <a:p>
            <a:pPr algn="l">
              <a:lnSpc>
                <a:spcPts val="15000"/>
              </a:lnSpc>
            </a:pPr>
            <a:r>
              <a:rPr lang="en-US" b="true" sz="15000" spc="-450">
                <a:solidFill>
                  <a:srgbClr val="0D0F26"/>
                </a:solidFill>
                <a:latin typeface="Arimo Bold"/>
                <a:ea typeface="Arimo Bold"/>
                <a:cs typeface="Arimo Bold"/>
                <a:sym typeface="Arimo Bold"/>
              </a:rPr>
              <a:t>Commit.</a:t>
            </a:r>
          </a:p>
        </p:txBody>
      </p:sp>
      <p:sp>
        <p:nvSpPr>
          <p:cNvPr name="TextBox 8" id="8"/>
          <p:cNvSpPr txBox="true"/>
          <p:nvPr/>
        </p:nvSpPr>
        <p:spPr>
          <a:xfrm rot="0">
            <a:off x="1143000" y="4867275"/>
            <a:ext cx="14287500" cy="531495"/>
          </a:xfrm>
          <a:prstGeom prst="rect">
            <a:avLst/>
          </a:prstGeom>
        </p:spPr>
        <p:txBody>
          <a:bodyPr anchor="t" rtlCol="false" tIns="0" lIns="0" bIns="0" rIns="0">
            <a:spAutoFit/>
          </a:bodyPr>
          <a:lstStyle/>
          <a:p>
            <a:pPr algn="l">
              <a:lnSpc>
                <a:spcPts val="3960"/>
              </a:lnSpc>
            </a:pPr>
            <a:r>
              <a:rPr lang="en-US" sz="3600" spc="-36">
                <a:solidFill>
                  <a:srgbClr val="0D0F26"/>
                </a:solidFill>
                <a:latin typeface="Arimo"/>
                <a:ea typeface="Arimo"/>
                <a:cs typeface="Arimo"/>
                <a:sym typeface="Arimo"/>
              </a:rPr>
              <a:t>The DOM tree updates.</a:t>
            </a:r>
          </a:p>
        </p:txBody>
      </p:sp>
      <p:sp>
        <p:nvSpPr>
          <p:cNvPr name="TextBox 9" id="9"/>
          <p:cNvSpPr txBox="true"/>
          <p:nvPr/>
        </p:nvSpPr>
        <p:spPr>
          <a:xfrm rot="0">
            <a:off x="1143000" y="9134475"/>
            <a:ext cx="2348960"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01 · MEASURE</a:t>
            </a:r>
          </a:p>
        </p:txBody>
      </p:sp>
      <p:sp>
        <p:nvSpPr>
          <p:cNvPr name="TextBox 10" id="10"/>
          <p:cNvSpPr txBox="true"/>
          <p:nvPr/>
        </p:nvSpPr>
        <p:spPr>
          <a:xfrm rot="0">
            <a:off x="13956982" y="9134475"/>
            <a:ext cx="3188017"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REFS BECOME VALID HERE</a:t>
            </a:r>
          </a:p>
        </p:txBody>
      </p:sp>
      <p:sp>
        <p:nvSpPr>
          <p:cNvPr name="AutoShape 11" id="11"/>
          <p:cNvSpPr/>
          <p:nvPr/>
        </p:nvSpPr>
        <p:spPr>
          <a:xfrm rot="0">
            <a:off x="1143000" y="8896350"/>
            <a:ext cx="16002000" cy="9525"/>
          </a:xfrm>
          <a:prstGeom prst="rect">
            <a:avLst/>
          </a:prstGeom>
          <a:solidFill>
            <a:srgbClr val="0D0F26"/>
          </a:solidFill>
        </p:spPr>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298132" y="833438"/>
            <a:ext cx="84686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08 / 26</a:t>
            </a:r>
          </a:p>
        </p:txBody>
      </p:sp>
      <p:sp>
        <p:nvSpPr>
          <p:cNvPr name="TextBox 5" id="5"/>
          <p:cNvSpPr txBox="true"/>
          <p:nvPr/>
        </p:nvSpPr>
        <p:spPr>
          <a:xfrm rot="0">
            <a:off x="1143000" y="1952625"/>
            <a:ext cx="160020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PHASE 04 OF 05</a:t>
            </a:r>
          </a:p>
        </p:txBody>
      </p:sp>
      <p:sp>
        <p:nvSpPr>
          <p:cNvPr name="AutoShape 6" id="6"/>
          <p:cNvSpPr/>
          <p:nvPr/>
        </p:nvSpPr>
        <p:spPr>
          <a:xfrm rot="0">
            <a:off x="1143000" y="2343150"/>
            <a:ext cx="15221140" cy="242887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828925"/>
            <a:ext cx="16002000" cy="1685925"/>
          </a:xfrm>
          <a:prstGeom prst="rect">
            <a:avLst/>
          </a:prstGeom>
        </p:spPr>
        <p:txBody>
          <a:bodyPr anchor="t" rtlCol="false" tIns="0" lIns="0" bIns="0" rIns="0">
            <a:spAutoFit/>
          </a:bodyPr>
          <a:lstStyle/>
          <a:p>
            <a:pPr algn="l">
              <a:lnSpc>
                <a:spcPts val="15000"/>
              </a:lnSpc>
            </a:pPr>
            <a:r>
              <a:rPr lang="en-US" b="true" sz="15000" spc="-450">
                <a:solidFill>
                  <a:srgbClr val="0D0F26"/>
                </a:solidFill>
                <a:latin typeface="Arimo Bold"/>
                <a:ea typeface="Arimo Bold"/>
                <a:cs typeface="Arimo Bold"/>
                <a:sym typeface="Arimo Bold"/>
              </a:rPr>
              <a:t>Waiting for paint.</a:t>
            </a:r>
          </a:p>
        </p:txBody>
      </p:sp>
      <p:sp>
        <p:nvSpPr>
          <p:cNvPr name="TextBox 8" id="8"/>
          <p:cNvSpPr txBox="true"/>
          <p:nvPr/>
        </p:nvSpPr>
        <p:spPr>
          <a:xfrm rot="0">
            <a:off x="1143000" y="4867275"/>
            <a:ext cx="14287500" cy="493395"/>
          </a:xfrm>
          <a:prstGeom prst="rect">
            <a:avLst/>
          </a:prstGeom>
        </p:spPr>
        <p:txBody>
          <a:bodyPr anchor="t" rtlCol="false" tIns="0" lIns="0" bIns="0" rIns="0">
            <a:spAutoFit/>
          </a:bodyPr>
          <a:lstStyle/>
          <a:p>
            <a:pPr algn="l">
              <a:lnSpc>
                <a:spcPts val="3960"/>
              </a:lnSpc>
            </a:pPr>
            <a:r>
              <a:rPr lang="en-US" sz="3600" spc="-36">
                <a:solidFill>
                  <a:srgbClr val="0D0F26"/>
                </a:solidFill>
                <a:latin typeface="Arimo"/>
                <a:ea typeface="Arimo"/>
                <a:cs typeface="Arimo"/>
                <a:sym typeface="Arimo"/>
              </a:rPr>
              <a:t>React's done. The platform measures, lays out, and paints.</a:t>
            </a:r>
          </a:p>
        </p:txBody>
      </p:sp>
      <p:sp>
        <p:nvSpPr>
          <p:cNvPr name="AutoShape 9" id="9"/>
          <p:cNvSpPr/>
          <p:nvPr/>
        </p:nvSpPr>
        <p:spPr>
          <a:xfrm rot="0">
            <a:off x="1143000" y="8896350"/>
            <a:ext cx="16002000" cy="9525"/>
          </a:xfrm>
          <a:prstGeom prst="rect">
            <a:avLst/>
          </a:prstGeom>
          <a:solidFill>
            <a:srgbClr val="0D0F26"/>
          </a:solidFill>
        </p:spPr>
      </p:sp>
      <p:sp>
        <p:nvSpPr>
          <p:cNvPr name="TextBox 10" id="10"/>
          <p:cNvSpPr txBox="true"/>
          <p:nvPr/>
        </p:nvSpPr>
        <p:spPr>
          <a:xfrm rot="0">
            <a:off x="1143000" y="9134475"/>
            <a:ext cx="2348960"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01 · MEASURE</a:t>
            </a:r>
          </a:p>
        </p:txBody>
      </p:sp>
      <p:sp>
        <p:nvSpPr>
          <p:cNvPr name="TextBox 11" id="11"/>
          <p:cNvSpPr txBox="true"/>
          <p:nvPr/>
        </p:nvSpPr>
        <p:spPr>
          <a:xfrm rot="0">
            <a:off x="14181963" y="9134475"/>
            <a:ext cx="2963037"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OUT OF REACT'S HANDS</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43000" y="1447800"/>
            <a:ext cx="16002000" cy="9525"/>
          </a:xfrm>
          <a:prstGeom prst="rect">
            <a:avLst/>
          </a:prstGeom>
          <a:solidFill>
            <a:srgbClr val="0D0F26"/>
          </a:solidFill>
        </p:spPr>
      </p:sp>
      <p:sp>
        <p:nvSpPr>
          <p:cNvPr name="TextBox 3" id="3"/>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4" id="4"/>
          <p:cNvSpPr txBox="true"/>
          <p:nvPr/>
        </p:nvSpPr>
        <p:spPr>
          <a:xfrm rot="0">
            <a:off x="16298132" y="833438"/>
            <a:ext cx="84686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09 / 26</a:t>
            </a:r>
          </a:p>
        </p:txBody>
      </p:sp>
      <p:sp>
        <p:nvSpPr>
          <p:cNvPr name="TextBox 5" id="5"/>
          <p:cNvSpPr txBox="true"/>
          <p:nvPr/>
        </p:nvSpPr>
        <p:spPr>
          <a:xfrm rot="0">
            <a:off x="1143000" y="1952625"/>
            <a:ext cx="160020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PHASE 05 OF 05</a:t>
            </a:r>
          </a:p>
        </p:txBody>
      </p:sp>
      <p:sp>
        <p:nvSpPr>
          <p:cNvPr name="AutoShape 6" id="6"/>
          <p:cNvSpPr/>
          <p:nvPr/>
        </p:nvSpPr>
        <p:spPr>
          <a:xfrm rot="0">
            <a:off x="1143000" y="2343150"/>
            <a:ext cx="9231630" cy="433387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7" id="7"/>
          <p:cNvSpPr txBox="true"/>
          <p:nvPr/>
        </p:nvSpPr>
        <p:spPr>
          <a:xfrm rot="0">
            <a:off x="1143000" y="2828925"/>
            <a:ext cx="16002000" cy="3590925"/>
          </a:xfrm>
          <a:prstGeom prst="rect">
            <a:avLst/>
          </a:prstGeom>
        </p:spPr>
        <p:txBody>
          <a:bodyPr anchor="t" rtlCol="false" tIns="0" lIns="0" bIns="0" rIns="0">
            <a:spAutoFit/>
          </a:bodyPr>
          <a:lstStyle/>
          <a:p>
            <a:pPr algn="l">
              <a:lnSpc>
                <a:spcPts val="15000"/>
              </a:lnSpc>
            </a:pPr>
            <a:r>
              <a:rPr lang="en-US" b="true" sz="15000" spc="-450">
                <a:solidFill>
                  <a:srgbClr val="0D0F26"/>
                </a:solidFill>
                <a:latin typeface="Arimo Bold"/>
                <a:ea typeface="Arimo Bold"/>
                <a:cs typeface="Arimo Bold"/>
                <a:sym typeface="Arimo Bold"/>
              </a:rPr>
              <a:t>Remaining effects.</a:t>
            </a:r>
          </a:p>
        </p:txBody>
      </p:sp>
      <p:sp>
        <p:nvSpPr>
          <p:cNvPr name="TextBox 8" id="8"/>
          <p:cNvSpPr txBox="true"/>
          <p:nvPr/>
        </p:nvSpPr>
        <p:spPr>
          <a:xfrm rot="0">
            <a:off x="1143000" y="6772275"/>
            <a:ext cx="14287500" cy="493395"/>
          </a:xfrm>
          <a:prstGeom prst="rect">
            <a:avLst/>
          </a:prstGeom>
        </p:spPr>
        <p:txBody>
          <a:bodyPr anchor="t" rtlCol="false" tIns="0" lIns="0" bIns="0" rIns="0">
            <a:spAutoFit/>
          </a:bodyPr>
          <a:lstStyle/>
          <a:p>
            <a:pPr algn="l">
              <a:lnSpc>
                <a:spcPts val="3960"/>
              </a:lnSpc>
            </a:pPr>
            <a:r>
              <a:rPr lang="en-US" sz="3600" spc="-36">
                <a:solidFill>
                  <a:srgbClr val="0D0F26"/>
                </a:solidFill>
                <a:latin typeface="Arimo"/>
                <a:ea typeface="Arimo"/>
                <a:cs typeface="Arimo"/>
                <a:sym typeface="Arimo"/>
              </a:rPr>
              <a:t>useEffect runs after paint. The user already sees the new frame.</a:t>
            </a:r>
          </a:p>
        </p:txBody>
      </p:sp>
      <p:grpSp>
        <p:nvGrpSpPr>
          <p:cNvPr name="Group 9" id="9"/>
          <p:cNvGrpSpPr/>
          <p:nvPr/>
        </p:nvGrpSpPr>
        <p:grpSpPr>
          <a:xfrm rot="0">
            <a:off x="1333500" y="9213532"/>
            <a:ext cx="114300" cy="114300"/>
            <a:chOff x="0" y="0"/>
            <a:chExt cx="152400" cy="152400"/>
          </a:xfrm>
        </p:grpSpPr>
        <p:sp>
          <p:nvSpPr>
            <p:cNvPr name="Freeform 10" id="10"/>
            <p:cNvSpPr/>
            <p:nvPr/>
          </p:nvSpPr>
          <p:spPr>
            <a:xfrm flipH="false" flipV="false" rot="0">
              <a:off x="0" y="0"/>
              <a:ext cx="152400" cy="152400"/>
            </a:xfrm>
            <a:custGeom>
              <a:avLst/>
              <a:gdLst/>
              <a:ahLst/>
              <a:cxnLst/>
              <a:rect r="r" b="b" t="t" l="l"/>
              <a:pathLst>
                <a:path h="152400" w="152400">
                  <a:moveTo>
                    <a:pt x="76200" y="0"/>
                  </a:moveTo>
                  <a:cubicBezTo>
                    <a:pt x="118237" y="0"/>
                    <a:pt x="152400" y="34163"/>
                    <a:pt x="152400" y="76200"/>
                  </a:cubicBezTo>
                  <a:cubicBezTo>
                    <a:pt x="152400" y="118237"/>
                    <a:pt x="118237" y="152400"/>
                    <a:pt x="76200" y="152400"/>
                  </a:cubicBezTo>
                  <a:cubicBezTo>
                    <a:pt x="34163" y="152400"/>
                    <a:pt x="0" y="118237"/>
                    <a:pt x="0" y="76200"/>
                  </a:cubicBezTo>
                  <a:cubicBezTo>
                    <a:pt x="0" y="34163"/>
                    <a:pt x="34163" y="0"/>
                    <a:pt x="76200" y="0"/>
                  </a:cubicBezTo>
                  <a:close/>
                </a:path>
              </a:pathLst>
            </a:custGeom>
            <a:solidFill>
              <a:srgbClr val="0D0F26">
                <a:alpha val="3137"/>
              </a:srgbClr>
            </a:solidFill>
          </p:spPr>
        </p:sp>
      </p:grpSp>
      <p:sp>
        <p:nvSpPr>
          <p:cNvPr name="TextBox 11" id="11"/>
          <p:cNvSpPr txBox="true"/>
          <p:nvPr/>
        </p:nvSpPr>
        <p:spPr>
          <a:xfrm rot="0">
            <a:off x="1143000" y="9134475"/>
            <a:ext cx="2348960"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01 · MEASURE</a:t>
            </a:r>
          </a:p>
        </p:txBody>
      </p:sp>
      <p:sp>
        <p:nvSpPr>
          <p:cNvPr name="TextBox 12" id="12"/>
          <p:cNvSpPr txBox="true"/>
          <p:nvPr/>
        </p:nvSpPr>
        <p:spPr>
          <a:xfrm rot="0">
            <a:off x="13211651" y="9151620"/>
            <a:ext cx="3933349"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DELAYS THE NEXT INTERACTION</a:t>
            </a:r>
          </a:p>
        </p:txBody>
      </p:sp>
      <p:sp>
        <p:nvSpPr>
          <p:cNvPr name="AutoShape 13" id="13"/>
          <p:cNvSpPr/>
          <p:nvPr/>
        </p:nvSpPr>
        <p:spPr>
          <a:xfrm rot="0">
            <a:off x="1143000" y="8896350"/>
            <a:ext cx="16002000" cy="9525"/>
          </a:xfrm>
          <a:prstGeom prst="rect">
            <a:avLst/>
          </a:prstGeom>
          <a:solidFill>
            <a:srgbClr val="0D0F26"/>
          </a:solidFill>
        </p:spPr>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C8CEF5"/>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143000" y="1943100"/>
            <a:ext cx="3289399" cy="340995"/>
          </a:xfrm>
          <a:prstGeom prst="rect">
            <a:avLst/>
          </a:prstGeom>
        </p:spPr>
        <p:txBody>
          <a:bodyPr anchor="t" rtlCol="false" tIns="0" lIns="0" bIns="0" rIns="0">
            <a:spAutoFit/>
          </a:bodyPr>
          <a:lstStyle/>
          <a:p>
            <a:pPr algn="l">
              <a:lnSpc>
                <a:spcPts val="2729"/>
              </a:lnSpc>
            </a:pPr>
            <a:r>
              <a:rPr lang="en-US" b="true" sz="1950" spc="234">
                <a:gradFill>
                  <a:gsLst>
                    <a:gs pos="0">
                      <a:srgbClr val="0D0F26">
                        <a:alpha val="55000"/>
                      </a:srgbClr>
                    </a:gs>
                    <a:gs pos="100000">
                      <a:srgbClr val="0D0F26">
                        <a:alpha val="55000"/>
                      </a:srgbClr>
                    </a:gs>
                  </a:gsLst>
                  <a:lin ang="16200000"/>
                </a:gradFill>
                <a:latin typeface="Inter Semi-Bold"/>
                <a:ea typeface="Inter Semi-Bold"/>
                <a:cs typeface="Inter Semi-Bold"/>
                <a:sym typeface="Inter Semi-Bold"/>
              </a:rPr>
              <a:t>EXERCISE 03· PART 01</a:t>
            </a:r>
          </a:p>
        </p:txBody>
      </p:sp>
      <p:sp>
        <p:nvSpPr>
          <p:cNvPr name="TextBox 6" id="6"/>
          <p:cNvSpPr txBox="true"/>
          <p:nvPr/>
        </p:nvSpPr>
        <p:spPr>
          <a:xfrm rot="0">
            <a:off x="1143000" y="3375088"/>
            <a:ext cx="5032028" cy="2129790"/>
          </a:xfrm>
          <a:prstGeom prst="rect">
            <a:avLst/>
          </a:prstGeom>
        </p:spPr>
        <p:txBody>
          <a:bodyPr anchor="t" rtlCol="false" tIns="0" lIns="0" bIns="0" rIns="0">
            <a:spAutoFit/>
          </a:bodyPr>
          <a:lstStyle/>
          <a:p>
            <a:pPr algn="l">
              <a:lnSpc>
                <a:spcPts val="15180"/>
              </a:lnSpc>
            </a:pPr>
            <a:r>
              <a:rPr lang="en-US" b="true" sz="16500" spc="-495">
                <a:solidFill>
                  <a:srgbClr val="0D0F26"/>
                </a:solidFill>
                <a:latin typeface="Arimo Bold"/>
                <a:ea typeface="Arimo Bold"/>
                <a:cs typeface="Arimo Bold"/>
                <a:sym typeface="Arimo Bold"/>
              </a:rPr>
              <a:t>Fix</a:t>
            </a:r>
            <a:r>
              <a:rPr lang="en-US" b="true" sz="16500" spc="-495">
                <a:solidFill>
                  <a:srgbClr val="0D0F26"/>
                </a:solidFill>
                <a:latin typeface="Arimo Bold"/>
                <a:ea typeface="Arimo Bold"/>
                <a:cs typeface="Arimo Bold"/>
                <a:sym typeface="Arimo Bold"/>
              </a:rPr>
              <a:t> it.</a:t>
            </a:r>
          </a:p>
        </p:txBody>
      </p:sp>
      <p:sp>
        <p:nvSpPr>
          <p:cNvPr name="TextBox 7" id="7"/>
          <p:cNvSpPr txBox="true"/>
          <p:nvPr/>
        </p:nvSpPr>
        <p:spPr>
          <a:xfrm rot="0">
            <a:off x="1143000" y="5610796"/>
            <a:ext cx="12382500" cy="1876425"/>
          </a:xfrm>
          <a:prstGeom prst="rect">
            <a:avLst/>
          </a:prstGeom>
        </p:spPr>
        <p:txBody>
          <a:bodyPr anchor="t" rtlCol="false" tIns="0" lIns="0" bIns="0" rIns="0">
            <a:spAutoFit/>
          </a:bodyPr>
          <a:lstStyle/>
          <a:p>
            <a:pPr algn="l">
              <a:lnSpc>
                <a:spcPts val="4919"/>
              </a:lnSpc>
            </a:pPr>
            <a:r>
              <a:rPr lang="en-US" sz="4099" spc="-40">
                <a:solidFill>
                  <a:srgbClr val="0D0F26"/>
                </a:solidFill>
                <a:latin typeface="Arimo"/>
                <a:ea typeface="Arimo"/>
                <a:cs typeface="Arimo"/>
                <a:sym typeface="Arimo"/>
              </a:rPr>
              <a:t>Let’s fix problems with the comment section!</a:t>
            </a:r>
          </a:p>
          <a:p>
            <a:pPr algn="l" marL="885186" indent="-442593" lvl="1">
              <a:lnSpc>
                <a:spcPts val="4919"/>
              </a:lnSpc>
              <a:buAutoNum type="arabicPeriod" startAt="1"/>
            </a:pPr>
            <a:r>
              <a:rPr lang="en-US" sz="4099" spc="-40">
                <a:solidFill>
                  <a:srgbClr val="0D0F26"/>
                </a:solidFill>
                <a:latin typeface="Arimo"/>
                <a:ea typeface="Arimo"/>
                <a:cs typeface="Arimo"/>
                <a:sym typeface="Arimo"/>
              </a:rPr>
              <a:t>Re-render of the whole screen</a:t>
            </a:r>
          </a:p>
          <a:p>
            <a:pPr algn="l" marL="885186" indent="-442593" lvl="1">
              <a:lnSpc>
                <a:spcPts val="4919"/>
              </a:lnSpc>
              <a:buAutoNum type="arabicPeriod" startAt="1"/>
            </a:pPr>
            <a:r>
              <a:rPr lang="en-US" sz="4099" spc="-40">
                <a:solidFill>
                  <a:srgbClr val="0D0F26"/>
                </a:solidFill>
                <a:latin typeface="Arimo"/>
                <a:ea typeface="Arimo"/>
                <a:cs typeface="Arimo"/>
                <a:sym typeface="Arimo"/>
              </a:rPr>
              <a:t>Very long delay when posting a long comment</a:t>
            </a:r>
          </a:p>
        </p:txBody>
      </p:sp>
      <p:sp>
        <p:nvSpPr>
          <p:cNvPr name="AutoShape 8" id="8"/>
          <p:cNvSpPr/>
          <p:nvPr/>
        </p:nvSpPr>
        <p:spPr>
          <a:xfrm rot="0">
            <a:off x="1143000" y="8896350"/>
            <a:ext cx="16002000" cy="9525"/>
          </a:xfrm>
          <a:prstGeom prst="rect">
            <a:avLst/>
          </a:prstGeom>
          <a:solidFill>
            <a:srgbClr val="0D0F26"/>
          </a:solidFill>
        </p:spPr>
      </p:sp>
      <p:sp>
        <p:nvSpPr>
          <p:cNvPr name="TextBox 9" id="9"/>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SOFTWARE MANSION · REACT PERFORMANCE</a:t>
            </a:r>
          </a:p>
        </p:txBody>
      </p:sp>
      <p:sp>
        <p:nvSpPr>
          <p:cNvPr name="TextBox 10" id="10"/>
          <p:cNvSpPr txBox="true"/>
          <p:nvPr/>
        </p:nvSpPr>
        <p:spPr>
          <a:xfrm rot="0">
            <a:off x="16399954" y="9134475"/>
            <a:ext cx="745046"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11 / 26</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0D0F26"/>
          </a:solidFill>
        </p:spPr>
      </p:sp>
      <p:sp>
        <p:nvSpPr>
          <p:cNvPr name="AutoShape 3" id="3"/>
          <p:cNvSpPr/>
          <p:nvPr/>
        </p:nvSpPr>
        <p:spPr>
          <a:xfrm rot="0">
            <a:off x="1143000" y="1447800"/>
            <a:ext cx="16002000" cy="9525"/>
          </a:xfrm>
          <a:prstGeom prst="rect">
            <a:avLst/>
          </a:prstGeom>
          <a:solidFill>
            <a:srgbClr val="FFFFFF">
              <a:alpha val="24706"/>
            </a:srgbClr>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FFFFFF"/>
                </a:solidFill>
                <a:latin typeface="Arimo Bold"/>
                <a:ea typeface="Arimo Bold"/>
                <a:cs typeface="Arimo Bold"/>
                <a:sym typeface="Arimo Bold"/>
              </a:rPr>
              <a:t>Software Mansion</a:t>
            </a:r>
          </a:p>
        </p:txBody>
      </p:sp>
      <p:sp>
        <p:nvSpPr>
          <p:cNvPr name="TextBox 5" id="5"/>
          <p:cNvSpPr txBox="true"/>
          <p:nvPr/>
        </p:nvSpPr>
        <p:spPr>
          <a:xfrm rot="0">
            <a:off x="15910941" y="833438"/>
            <a:ext cx="1234059"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PART 3 / 3</a:t>
            </a:r>
          </a:p>
        </p:txBody>
      </p:sp>
      <p:sp>
        <p:nvSpPr>
          <p:cNvPr name="TextBox 6" id="6"/>
          <p:cNvSpPr txBox="true"/>
          <p:nvPr/>
        </p:nvSpPr>
        <p:spPr>
          <a:xfrm rot="0">
            <a:off x="1143000" y="2095500"/>
            <a:ext cx="16002000" cy="809625"/>
          </a:xfrm>
          <a:prstGeom prst="rect">
            <a:avLst/>
          </a:prstGeom>
        </p:spPr>
        <p:txBody>
          <a:bodyPr anchor="t" rtlCol="false" tIns="0" lIns="0" bIns="0" rIns="0">
            <a:spAutoFit/>
          </a:bodyPr>
          <a:lstStyle/>
          <a:p>
            <a:pPr algn="l">
              <a:lnSpc>
                <a:spcPts val="7200"/>
              </a:lnSpc>
            </a:pPr>
            <a:r>
              <a:rPr lang="en-US" b="true" sz="7200" spc="-144">
                <a:solidFill>
                  <a:srgbClr val="C8CEF5"/>
                </a:solidFill>
                <a:latin typeface="Arimo Bold"/>
                <a:ea typeface="Arimo Bold"/>
                <a:cs typeface="Arimo Bold"/>
                <a:sym typeface="Arimo Bold"/>
              </a:rPr>
              <a:t>03.</a:t>
            </a:r>
          </a:p>
        </p:txBody>
      </p:sp>
      <p:sp>
        <p:nvSpPr>
          <p:cNvPr name="TextBox 7" id="7"/>
          <p:cNvSpPr txBox="true"/>
          <p:nvPr/>
        </p:nvSpPr>
        <p:spPr>
          <a:xfrm rot="0">
            <a:off x="1143000" y="4847463"/>
            <a:ext cx="17145000" cy="2932819"/>
          </a:xfrm>
          <a:prstGeom prst="rect">
            <a:avLst/>
          </a:prstGeom>
        </p:spPr>
        <p:txBody>
          <a:bodyPr anchor="t" rtlCol="false" tIns="0" lIns="0" bIns="0" rIns="0">
            <a:spAutoFit/>
          </a:bodyPr>
          <a:lstStyle/>
          <a:p>
            <a:pPr algn="l">
              <a:lnSpc>
                <a:spcPts val="10912"/>
              </a:lnSpc>
            </a:pPr>
            <a:r>
              <a:rPr lang="en-US" b="true" sz="12400" spc="-496">
                <a:solidFill>
                  <a:srgbClr val="FFFFFF"/>
                </a:solidFill>
                <a:latin typeface="Arimo Bold"/>
                <a:ea typeface="Arimo Bold"/>
                <a:cs typeface="Arimo Bold"/>
                <a:sym typeface="Arimo Bold"/>
              </a:rPr>
              <a:t>The </a:t>
            </a:r>
            <a:r>
              <a:rPr lang="en-US" b="true" sz="12400" spc="-496">
                <a:solidFill>
                  <a:srgbClr val="C8CEF5"/>
                </a:solidFill>
                <a:latin typeface="Arimo Bold"/>
                <a:ea typeface="Arimo Bold"/>
                <a:cs typeface="Arimo Bold"/>
                <a:sym typeface="Arimo Bold"/>
              </a:rPr>
              <a:t>concurrent rendering</a:t>
            </a:r>
            <a:r>
              <a:rPr lang="en-US" b="true" sz="12400" spc="-496">
                <a:solidFill>
                  <a:srgbClr val="C8CEF5"/>
                </a:solidFill>
                <a:latin typeface="Arimo Bold"/>
                <a:ea typeface="Arimo Bold"/>
                <a:cs typeface="Arimo Bold"/>
                <a:sym typeface="Arimo Bold"/>
              </a:rPr>
              <a:t>.</a:t>
            </a:r>
          </a:p>
        </p:txBody>
      </p:sp>
      <p:sp>
        <p:nvSpPr>
          <p:cNvPr name="TextBox 8" id="8"/>
          <p:cNvSpPr txBox="true"/>
          <p:nvPr/>
        </p:nvSpPr>
        <p:spPr>
          <a:xfrm rot="0">
            <a:off x="1143000" y="8020050"/>
            <a:ext cx="3423666"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CONCURRENT RENDERING</a:t>
            </a:r>
          </a:p>
        </p:txBody>
      </p:sp>
      <p:sp>
        <p:nvSpPr>
          <p:cNvPr name="TextBox 9" id="9"/>
          <p:cNvSpPr txBox="true"/>
          <p:nvPr/>
        </p:nvSpPr>
        <p:spPr>
          <a:xfrm rot="0">
            <a:off x="5138166" y="8020050"/>
            <a:ext cx="2125313"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USETRANSITION</a:t>
            </a:r>
          </a:p>
        </p:txBody>
      </p:sp>
      <p:sp>
        <p:nvSpPr>
          <p:cNvPr name="TextBox 10" id="10"/>
          <p:cNvSpPr txBox="true"/>
          <p:nvPr/>
        </p:nvSpPr>
        <p:spPr>
          <a:xfrm rot="0">
            <a:off x="7834884" y="8020050"/>
            <a:ext cx="2709291" cy="342900"/>
          </a:xfrm>
          <a:prstGeom prst="rect">
            <a:avLst/>
          </a:prstGeom>
        </p:spPr>
        <p:txBody>
          <a:bodyPr anchor="t" rtlCol="false" tIns="0" lIns="0" bIns="0" rIns="0">
            <a:spAutoFit/>
          </a:bodyPr>
          <a:lstStyle/>
          <a:p>
            <a:pPr algn="l">
              <a:lnSpc>
                <a:spcPts val="2729"/>
              </a:lnSpc>
            </a:pPr>
            <a:r>
              <a:rPr lang="en-US" sz="1950" spc="78">
                <a:gradFill>
                  <a:gsLst>
                    <a:gs pos="0">
                      <a:srgbClr val="FFFFFF">
                        <a:alpha val="60000"/>
                      </a:srgbClr>
                    </a:gs>
                    <a:gs pos="100000">
                      <a:srgbClr val="FFFFFF">
                        <a:alpha val="60000"/>
                      </a:srgbClr>
                    </a:gs>
                  </a:gsLst>
                  <a:lin ang="16200000"/>
                </a:gradFill>
                <a:latin typeface="Inter"/>
                <a:ea typeface="Inter"/>
                <a:cs typeface="Inter"/>
                <a:sym typeface="Inter"/>
              </a:rPr>
              <a:t>USEDEFERREDVALUE</a:t>
            </a:r>
          </a:p>
        </p:txBody>
      </p:sp>
      <p:sp>
        <p:nvSpPr>
          <p:cNvPr name="AutoShape 11" id="11"/>
          <p:cNvSpPr/>
          <p:nvPr/>
        </p:nvSpPr>
        <p:spPr>
          <a:xfrm rot="0">
            <a:off x="1143000" y="8896350"/>
            <a:ext cx="16002000" cy="9525"/>
          </a:xfrm>
          <a:prstGeom prst="rect">
            <a:avLst/>
          </a:prstGeom>
          <a:solidFill>
            <a:srgbClr val="FFFFFF">
              <a:alpha val="24706"/>
            </a:srgbClr>
          </a:solidFill>
        </p:spPr>
      </p:sp>
      <p:sp>
        <p:nvSpPr>
          <p:cNvPr name="TextBox 12" id="12"/>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SOFTWARE MANSION · REACT PERFORMANCE</a:t>
            </a:r>
          </a:p>
        </p:txBody>
      </p:sp>
      <p:sp>
        <p:nvSpPr>
          <p:cNvPr name="TextBox 13" id="13"/>
          <p:cNvSpPr txBox="true"/>
          <p:nvPr/>
        </p:nvSpPr>
        <p:spPr>
          <a:xfrm rot="0">
            <a:off x="16353949" y="9134475"/>
            <a:ext cx="791051" cy="314325"/>
          </a:xfrm>
          <a:prstGeom prst="rect">
            <a:avLst/>
          </a:prstGeom>
        </p:spPr>
        <p:txBody>
          <a:bodyPr anchor="t" rtlCol="false" tIns="0" lIns="0" bIns="0" rIns="0">
            <a:spAutoFit/>
          </a:bodyPr>
          <a:lstStyle/>
          <a:p>
            <a:pPr algn="l">
              <a:lnSpc>
                <a:spcPts val="2520"/>
              </a:lnSpc>
            </a:pPr>
            <a:r>
              <a:rPr lang="en-US" b="true" sz="1800" spc="72">
                <a:gradFill>
                  <a:gsLst>
                    <a:gs pos="0">
                      <a:srgbClr val="FFFFFF">
                        <a:alpha val="60000"/>
                      </a:srgbClr>
                    </a:gs>
                    <a:gs pos="100000">
                      <a:srgbClr val="FFFFFF">
                        <a:alpha val="60000"/>
                      </a:srgbClr>
                    </a:gs>
                  </a:gsLst>
                  <a:lin ang="16200000"/>
                </a:gradFill>
                <a:latin typeface="Inter Medium"/>
                <a:ea typeface="Inter Medium"/>
                <a:cs typeface="Inter Medium"/>
                <a:sym typeface="Inter Medium"/>
              </a:rPr>
              <a:t>21 / 26</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FFF"/>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6308038" y="833438"/>
            <a:ext cx="837057"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22 / 26</a:t>
            </a:r>
          </a:p>
        </p:txBody>
      </p:sp>
      <p:sp>
        <p:nvSpPr>
          <p:cNvPr name="TextBox 6" id="6"/>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WITHOUT USETRANSITION · CLICK "OPEN DETAILS"</a:t>
            </a:r>
          </a:p>
        </p:txBody>
      </p:sp>
      <p:sp>
        <p:nvSpPr>
          <p:cNvPr name="AutoShape 7" id="7"/>
          <p:cNvSpPr/>
          <p:nvPr/>
        </p:nvSpPr>
        <p:spPr>
          <a:xfrm rot="0">
            <a:off x="4704874" y="2324100"/>
            <a:ext cx="6624447" cy="971550"/>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8" id="8"/>
          <p:cNvSpPr txBox="true"/>
          <p:nvPr/>
        </p:nvSpPr>
        <p:spPr>
          <a:xfrm rot="0">
            <a:off x="1143000" y="2562225"/>
            <a:ext cx="16002000" cy="609600"/>
          </a:xfrm>
          <a:prstGeom prst="rect">
            <a:avLst/>
          </a:prstGeom>
        </p:spPr>
        <p:txBody>
          <a:bodyPr anchor="t" rtlCol="false" tIns="0" lIns="0" bIns="0" rIns="0">
            <a:spAutoFit/>
          </a:bodyPr>
          <a:lstStyle/>
          <a:p>
            <a:pPr algn="l">
              <a:lnSpc>
                <a:spcPts val="5700"/>
              </a:lnSpc>
            </a:pPr>
            <a:r>
              <a:rPr lang="en-US" b="true" sz="6000" spc="-120">
                <a:solidFill>
                  <a:srgbClr val="0D0F26"/>
                </a:solidFill>
                <a:latin typeface="Arimo Bold"/>
                <a:ea typeface="Arimo Bold"/>
                <a:cs typeface="Arimo Bold"/>
                <a:sym typeface="Arimo Bold"/>
              </a:rPr>
              <a:t>One click. Everything blocks.</a:t>
            </a:r>
          </a:p>
        </p:txBody>
      </p:sp>
      <p:sp>
        <p:nvSpPr>
          <p:cNvPr name="AutoShape 9" id="9"/>
          <p:cNvSpPr/>
          <p:nvPr/>
        </p:nvSpPr>
        <p:spPr>
          <a:xfrm rot="0">
            <a:off x="1143000" y="3438525"/>
            <a:ext cx="16002000" cy="3409950"/>
          </a:xfrm>
          <a:prstGeom prst="rect">
            <a:avLst/>
          </a:prstGeom>
          <a:solidFill>
            <a:srgbClr val="0D0F26"/>
          </a:solidFill>
        </p:spPr>
      </p:sp>
      <p:sp>
        <p:nvSpPr>
          <p:cNvPr name="AutoShape 10" id="10"/>
          <p:cNvSpPr/>
          <p:nvPr/>
        </p:nvSpPr>
        <p:spPr>
          <a:xfrm rot="0">
            <a:off x="1562100" y="4171950"/>
            <a:ext cx="15163800" cy="9525"/>
          </a:xfrm>
          <a:prstGeom prst="rect">
            <a:avLst/>
          </a:prstGeom>
          <a:solidFill>
            <a:srgbClr val="FFFFFF">
              <a:alpha val="17647"/>
            </a:srgbClr>
          </a:solidFill>
        </p:spPr>
      </p:sp>
      <p:sp>
        <p:nvSpPr>
          <p:cNvPr name="TextBox 11" id="11"/>
          <p:cNvSpPr txBox="true"/>
          <p:nvPr/>
        </p:nvSpPr>
        <p:spPr>
          <a:xfrm rot="0">
            <a:off x="1562100" y="3667125"/>
            <a:ext cx="3291935" cy="333375"/>
          </a:xfrm>
          <a:prstGeom prst="rect">
            <a:avLst/>
          </a:prstGeom>
        </p:spPr>
        <p:txBody>
          <a:bodyPr anchor="t" rtlCol="false" tIns="0" lIns="0" bIns="0" rIns="0">
            <a:spAutoFit/>
          </a:bodyPr>
          <a:lstStyle/>
          <a:p>
            <a:pPr algn="l">
              <a:lnSpc>
                <a:spcPts val="2520"/>
              </a:lnSpc>
            </a:pPr>
            <a:r>
              <a:rPr lang="en-US" b="true" sz="1800">
                <a:gradFill>
                  <a:gsLst>
                    <a:gs pos="0">
                      <a:srgbClr val="FFFFFF">
                        <a:alpha val="92000"/>
                      </a:srgbClr>
                    </a:gs>
                    <a:gs pos="100000">
                      <a:srgbClr val="FFFFFF">
                        <a:alpha val="92000"/>
                      </a:srgbClr>
                    </a:gs>
                  </a:gsLst>
                  <a:lin ang="16200000"/>
                </a:gradFill>
                <a:latin typeface="JetBrains Mono Bold"/>
                <a:ea typeface="JetBrains Mono Bold"/>
                <a:cs typeface="JetBrains Mono Bold"/>
                <a:sym typeface="JetBrains Mono Bold"/>
              </a:rPr>
              <a:t>Scheduler — Custom track</a:t>
            </a:r>
          </a:p>
        </p:txBody>
      </p:sp>
      <p:sp>
        <p:nvSpPr>
          <p:cNvPr name="TextBox 12" id="12"/>
          <p:cNvSpPr txBox="true"/>
          <p:nvPr/>
        </p:nvSpPr>
        <p:spPr>
          <a:xfrm rot="0">
            <a:off x="11239500" y="3667125"/>
            <a:ext cx="5486400" cy="333375"/>
          </a:xfrm>
          <a:prstGeom prst="rect">
            <a:avLst/>
          </a:prstGeom>
        </p:spPr>
        <p:txBody>
          <a:bodyPr anchor="t" rtlCol="false" tIns="0" lIns="0" bIns="0" rIns="0">
            <a:spAutoFit/>
          </a:bodyPr>
          <a:lstStyle/>
          <a:p>
            <a:pPr algn="l">
              <a:lnSpc>
                <a:spcPts val="2520"/>
              </a:lnSpc>
            </a:pPr>
            <a:r>
              <a:rPr lang="en-US" sz="1800">
                <a:gradFill>
                  <a:gsLst>
                    <a:gs pos="0">
                      <a:srgbClr val="FFFFFF">
                        <a:alpha val="60000"/>
                      </a:srgbClr>
                    </a:gs>
                    <a:gs pos="100000">
                      <a:srgbClr val="FFFFFF">
                        <a:alpha val="60000"/>
                      </a:srgbClr>
                    </a:gs>
                  </a:gsLst>
                  <a:lin ang="16200000"/>
                </a:gradFill>
                <a:latin typeface="JetBrains Mono"/>
                <a:ea typeface="JetBrains Mono"/>
                <a:cs typeface="JetBrains Mono"/>
                <a:sym typeface="JetBrains Mono"/>
              </a:rPr>
              <a:t>click handler · setSelected + setDetails</a:t>
            </a:r>
          </a:p>
        </p:txBody>
      </p:sp>
      <p:sp>
        <p:nvSpPr>
          <p:cNvPr name="TextBox 13" id="13"/>
          <p:cNvSpPr txBox="true"/>
          <p:nvPr/>
        </p:nvSpPr>
        <p:spPr>
          <a:xfrm rot="0">
            <a:off x="2416683" y="4333875"/>
            <a:ext cx="1240917" cy="447675"/>
          </a:xfrm>
          <a:prstGeom prst="rect">
            <a:avLst/>
          </a:prstGeom>
        </p:spPr>
        <p:txBody>
          <a:bodyPr anchor="t" rtlCol="false" tIns="0" lIns="0" bIns="0" rIns="0">
            <a:spAutoFit/>
          </a:bodyPr>
          <a:lstStyle/>
          <a:p>
            <a:pPr algn="l">
              <a:lnSpc>
                <a:spcPts val="2310"/>
              </a:lnSpc>
            </a:pPr>
            <a:r>
              <a:rPr lang="en-US" b="true" sz="1650" spc="33">
                <a:gradFill>
                  <a:gsLst>
                    <a:gs pos="0">
                      <a:srgbClr val="FFFFFF">
                        <a:alpha val="90000"/>
                      </a:srgbClr>
                    </a:gs>
                    <a:gs pos="100000">
                      <a:srgbClr val="FFFFFF">
                        <a:alpha val="90000"/>
                      </a:srgbClr>
                    </a:gs>
                  </a:gsLst>
                  <a:lin ang="16200000"/>
                </a:gradFill>
                <a:latin typeface="JetBrains Mono Bold"/>
                <a:ea typeface="JetBrains Mono Bold"/>
                <a:cs typeface="JetBrains Mono Bold"/>
                <a:sym typeface="JetBrains Mono Bold"/>
              </a:rPr>
              <a:t>Blocking</a:t>
            </a:r>
          </a:p>
        </p:txBody>
      </p:sp>
      <p:sp>
        <p:nvSpPr>
          <p:cNvPr name="TextBox 14" id="14"/>
          <p:cNvSpPr txBox="true"/>
          <p:nvPr/>
        </p:nvSpPr>
        <p:spPr>
          <a:xfrm rot="0">
            <a:off x="3924300" y="4371975"/>
            <a:ext cx="12801600" cy="219075"/>
          </a:xfrm>
          <a:prstGeom prst="rect">
            <a:avLst/>
          </a:prstGeom>
        </p:spPr>
        <p:txBody>
          <a:bodyPr anchor="t" rtlCol="false" tIns="0" lIns="0" bIns="0" rIns="0">
            <a:spAutoFit/>
          </a:bodyPr>
          <a:lstStyle/>
          <a:p>
            <a:pPr algn="l">
              <a:lnSpc>
                <a:spcPts val="1725"/>
              </a:lnSpc>
            </a:pPr>
            <a:r>
              <a:rPr lang="en-US" sz="1500">
                <a:gradFill>
                  <a:gsLst>
                    <a:gs pos="0">
                      <a:srgbClr val="FFFFFF">
                        <a:alpha val="55000"/>
                      </a:srgbClr>
                    </a:gs>
                    <a:gs pos="100000">
                      <a:srgbClr val="FFFFFF">
                        <a:alpha val="55000"/>
                      </a:srgbClr>
                    </a:gs>
                  </a:gsLst>
                  <a:lin ang="16200000"/>
                </a:gradFill>
                <a:latin typeface="Inter"/>
                <a:ea typeface="Inter"/>
                <a:cs typeface="Inter"/>
                <a:sym typeface="Inter"/>
              </a:rPr>
              <a:t>Click → state</a:t>
            </a:r>
          </a:p>
        </p:txBody>
      </p:sp>
      <p:sp>
        <p:nvSpPr>
          <p:cNvPr name="AutoShape 15" id="15"/>
          <p:cNvSpPr/>
          <p:nvPr/>
        </p:nvSpPr>
        <p:spPr>
          <a:xfrm rot="0">
            <a:off x="1562100" y="5410200"/>
            <a:ext cx="15163800" cy="9525"/>
          </a:xfrm>
          <a:prstGeom prst="rect">
            <a:avLst/>
          </a:prstGeom>
          <a:solidFill>
            <a:srgbClr val="FFFFFF">
              <a:alpha val="7843"/>
            </a:srgbClr>
          </a:solidFill>
        </p:spPr>
      </p:sp>
      <p:sp>
        <p:nvSpPr>
          <p:cNvPr name="TextBox 16" id="16"/>
          <p:cNvSpPr txBox="true"/>
          <p:nvPr/>
        </p:nvSpPr>
        <p:spPr>
          <a:xfrm rot="0">
            <a:off x="2156841" y="5514975"/>
            <a:ext cx="1500759" cy="447675"/>
          </a:xfrm>
          <a:prstGeom prst="rect">
            <a:avLst/>
          </a:prstGeom>
        </p:spPr>
        <p:txBody>
          <a:bodyPr anchor="t" rtlCol="false" tIns="0" lIns="0" bIns="0" rIns="0">
            <a:spAutoFit/>
          </a:bodyPr>
          <a:lstStyle/>
          <a:p>
            <a:pPr algn="l">
              <a:lnSpc>
                <a:spcPts val="2310"/>
              </a:lnSpc>
            </a:pPr>
            <a:r>
              <a:rPr lang="en-US" b="true" sz="1650" spc="33">
                <a:gradFill>
                  <a:gsLst>
                    <a:gs pos="0">
                      <a:srgbClr val="FFFFFF">
                        <a:alpha val="40000"/>
                      </a:srgbClr>
                    </a:gs>
                    <a:gs pos="100000">
                      <a:srgbClr val="FFFFFF">
                        <a:alpha val="40000"/>
                      </a:srgbClr>
                    </a:gs>
                  </a:gsLst>
                  <a:lin ang="16200000"/>
                </a:gradFill>
                <a:latin typeface="JetBrains Mono Medium"/>
                <a:ea typeface="JetBrains Mono Medium"/>
                <a:cs typeface="JetBrains Mono Medium"/>
                <a:sym typeface="JetBrains Mono Medium"/>
              </a:rPr>
              <a:t>Transition</a:t>
            </a:r>
          </a:p>
        </p:txBody>
      </p:sp>
      <p:sp>
        <p:nvSpPr>
          <p:cNvPr name="TextBox 17" id="17"/>
          <p:cNvSpPr txBox="true"/>
          <p:nvPr/>
        </p:nvSpPr>
        <p:spPr>
          <a:xfrm rot="0">
            <a:off x="3924300" y="5553075"/>
            <a:ext cx="12801600" cy="219075"/>
          </a:xfrm>
          <a:prstGeom prst="rect">
            <a:avLst/>
          </a:prstGeom>
        </p:spPr>
        <p:txBody>
          <a:bodyPr anchor="t" rtlCol="false" tIns="0" lIns="0" bIns="0" rIns="0">
            <a:spAutoFit/>
          </a:bodyPr>
          <a:lstStyle/>
          <a:p>
            <a:pPr algn="l">
              <a:lnSpc>
                <a:spcPts val="1725"/>
              </a:lnSpc>
            </a:pPr>
            <a:r>
              <a:rPr lang="en-US" sz="1500">
                <a:gradFill>
                  <a:gsLst>
                    <a:gs pos="0">
                      <a:srgbClr val="FFFFFF">
                        <a:alpha val="55000"/>
                      </a:srgbClr>
                    </a:gs>
                    <a:gs pos="100000">
                      <a:srgbClr val="FFFFFF">
                        <a:alpha val="55000"/>
                      </a:srgbClr>
                    </a:gs>
                  </a:gsLst>
                  <a:lin ang="16200000"/>
                </a:gradFill>
                <a:latin typeface="Inter"/>
                <a:ea typeface="Inter"/>
                <a:cs typeface="Inter"/>
                <a:sym typeface="Inter"/>
              </a:rPr>
              <a:t>—</a:t>
            </a:r>
          </a:p>
        </p:txBody>
      </p:sp>
      <p:sp>
        <p:nvSpPr>
          <p:cNvPr name="TextBox 18" id="18"/>
          <p:cNvSpPr txBox="true"/>
          <p:nvPr/>
        </p:nvSpPr>
        <p:spPr>
          <a:xfrm rot="0">
            <a:off x="3924300" y="6343650"/>
            <a:ext cx="411480"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0 ms</a:t>
            </a:r>
          </a:p>
        </p:txBody>
      </p:sp>
      <p:sp>
        <p:nvSpPr>
          <p:cNvPr name="TextBox 19" id="19"/>
          <p:cNvSpPr txBox="true"/>
          <p:nvPr/>
        </p:nvSpPr>
        <p:spPr>
          <a:xfrm rot="0">
            <a:off x="6525673" y="6343650"/>
            <a:ext cx="20583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50</a:t>
            </a:r>
          </a:p>
        </p:txBody>
      </p:sp>
      <p:sp>
        <p:nvSpPr>
          <p:cNvPr name="TextBox 20" id="20"/>
          <p:cNvSpPr txBox="true"/>
          <p:nvPr/>
        </p:nvSpPr>
        <p:spPr>
          <a:xfrm rot="0">
            <a:off x="8921496" y="6343650"/>
            <a:ext cx="30870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100</a:t>
            </a:r>
          </a:p>
        </p:txBody>
      </p:sp>
      <p:sp>
        <p:nvSpPr>
          <p:cNvPr name="TextBox 21" id="21"/>
          <p:cNvSpPr txBox="true"/>
          <p:nvPr/>
        </p:nvSpPr>
        <p:spPr>
          <a:xfrm rot="0">
            <a:off x="11419999" y="6343650"/>
            <a:ext cx="30870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150</a:t>
            </a:r>
          </a:p>
        </p:txBody>
      </p:sp>
      <p:sp>
        <p:nvSpPr>
          <p:cNvPr name="TextBox 22" id="22"/>
          <p:cNvSpPr txBox="true"/>
          <p:nvPr/>
        </p:nvSpPr>
        <p:spPr>
          <a:xfrm rot="0">
            <a:off x="13918692" y="6343650"/>
            <a:ext cx="30870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200</a:t>
            </a:r>
          </a:p>
        </p:txBody>
      </p:sp>
      <p:sp>
        <p:nvSpPr>
          <p:cNvPr name="TextBox 23" id="23"/>
          <p:cNvSpPr txBox="true"/>
          <p:nvPr/>
        </p:nvSpPr>
        <p:spPr>
          <a:xfrm rot="0">
            <a:off x="16417195" y="6343650"/>
            <a:ext cx="30870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250</a:t>
            </a:r>
          </a:p>
        </p:txBody>
      </p:sp>
      <p:sp>
        <p:nvSpPr>
          <p:cNvPr name="AutoShape 24" id="24"/>
          <p:cNvSpPr/>
          <p:nvPr/>
        </p:nvSpPr>
        <p:spPr>
          <a:xfrm rot="0">
            <a:off x="1143000" y="7389590"/>
            <a:ext cx="14744700" cy="973360"/>
          </a:xfrm>
          <a:prstGeom prst="rect">
            <a:avLst/>
          </a:prstGeom>
          <a:solidFill>
            <a:srgbClr val="E5E8FA"/>
          </a:solidFill>
        </p:spPr>
      </p:sp>
      <p:sp>
        <p:nvSpPr>
          <p:cNvPr name="AutoShape 25" id="25"/>
          <p:cNvSpPr/>
          <p:nvPr/>
        </p:nvSpPr>
        <p:spPr>
          <a:xfrm rot="0">
            <a:off x="1143000" y="7389590"/>
            <a:ext cx="38100" cy="973360"/>
          </a:xfrm>
          <a:prstGeom prst="rect">
            <a:avLst/>
          </a:prstGeom>
          <a:solidFill>
            <a:srgbClr val="0D0F26"/>
          </a:solidFill>
        </p:spPr>
      </p:sp>
      <p:grpSp>
        <p:nvGrpSpPr>
          <p:cNvPr name="Group 26" id="26"/>
          <p:cNvGrpSpPr/>
          <p:nvPr/>
        </p:nvGrpSpPr>
        <p:grpSpPr>
          <a:xfrm rot="0">
            <a:off x="1390650" y="7696771"/>
            <a:ext cx="1900809" cy="358997"/>
            <a:chOff x="0" y="0"/>
            <a:chExt cx="2534412" cy="478663"/>
          </a:xfrm>
        </p:grpSpPr>
        <p:sp>
          <p:nvSpPr>
            <p:cNvPr name="Freeform 27" id="27"/>
            <p:cNvSpPr/>
            <p:nvPr/>
          </p:nvSpPr>
          <p:spPr>
            <a:xfrm flipH="false" flipV="false" rot="0">
              <a:off x="0" y="0"/>
              <a:ext cx="2534412" cy="478663"/>
            </a:xfrm>
            <a:custGeom>
              <a:avLst/>
              <a:gdLst/>
              <a:ahLst/>
              <a:cxnLst/>
              <a:rect r="r" b="b" t="t" l="l"/>
              <a:pathLst>
                <a:path h="478663" w="2534412">
                  <a:moveTo>
                    <a:pt x="0" y="0"/>
                  </a:moveTo>
                  <a:lnTo>
                    <a:pt x="2534412" y="0"/>
                  </a:lnTo>
                  <a:lnTo>
                    <a:pt x="2534412" y="478663"/>
                  </a:lnTo>
                  <a:lnTo>
                    <a:pt x="0" y="478663"/>
                  </a:lnTo>
                  <a:lnTo>
                    <a:pt x="0" y="0"/>
                  </a:lnTo>
                  <a:close/>
                </a:path>
              </a:pathLst>
            </a:custGeom>
            <a:solidFill>
              <a:srgbClr val="C8CEF5"/>
            </a:solidFill>
          </p:spPr>
        </p:sp>
        <p:sp>
          <p:nvSpPr>
            <p:cNvPr name="TextBox 28" id="28"/>
            <p:cNvSpPr txBox="true"/>
            <p:nvPr/>
          </p:nvSpPr>
          <p:spPr>
            <a:xfrm>
              <a:off x="0" y="-38100"/>
              <a:ext cx="2534412" cy="516763"/>
            </a:xfrm>
            <a:prstGeom prst="rect">
              <a:avLst/>
            </a:prstGeom>
          </p:spPr>
          <p:txBody>
            <a:bodyPr anchor="t" rtlCol="false" tIns="63500" lIns="63500" bIns="63500" rIns="63500"/>
            <a:lstStyle/>
            <a:p>
              <a:pPr algn="l">
                <a:lnSpc>
                  <a:spcPts val="2227"/>
                </a:lnSpc>
              </a:pPr>
              <a:r>
                <a:rPr lang="en-US" b="true" sz="1650" spc="132">
                  <a:solidFill>
                    <a:srgbClr val="0D0F26"/>
                  </a:solidFill>
                  <a:latin typeface="Inter Bold"/>
                  <a:ea typeface="Inter Bold"/>
                  <a:cs typeface="Inter Bold"/>
                  <a:sym typeface="Inter Bold"/>
                </a:rPr>
                <a:t>THE PROBLEM</a:t>
              </a:r>
            </a:p>
          </p:txBody>
        </p:sp>
      </p:grpSp>
      <p:sp>
        <p:nvSpPr>
          <p:cNvPr name="TextBox 29" id="29"/>
          <p:cNvSpPr txBox="true"/>
          <p:nvPr/>
        </p:nvSpPr>
        <p:spPr>
          <a:xfrm rot="0">
            <a:off x="3462909" y="7503890"/>
            <a:ext cx="12215241" cy="667702"/>
          </a:xfrm>
          <a:prstGeom prst="rect">
            <a:avLst/>
          </a:prstGeom>
        </p:spPr>
        <p:txBody>
          <a:bodyPr anchor="t" rtlCol="false" tIns="0" lIns="0" bIns="0" rIns="0">
            <a:spAutoFit/>
          </a:bodyPr>
          <a:lstStyle/>
          <a:p>
            <a:pPr algn="l">
              <a:lnSpc>
                <a:spcPts val="2632"/>
              </a:lnSpc>
            </a:pPr>
            <a:r>
              <a:rPr lang="en-US" sz="1950">
                <a:solidFill>
                  <a:srgbClr val="0D0F26"/>
                </a:solidFill>
                <a:latin typeface="Inter"/>
                <a:ea typeface="Inter"/>
                <a:cs typeface="Inter"/>
                <a:sym typeface="Inter"/>
              </a:rPr>
              <a:t>Every setState is treated as urgent. The heavy details panel must render before </a:t>
            </a:r>
            <a:r>
              <a:rPr lang="en-US" sz="1950" i="true">
                <a:solidFill>
                  <a:srgbClr val="0D0F26"/>
                </a:solidFill>
                <a:latin typeface="Inter Italics"/>
                <a:ea typeface="Inter Italics"/>
                <a:cs typeface="Inter Italics"/>
                <a:sym typeface="Inter Italics"/>
              </a:rPr>
              <a:t>anything</a:t>
            </a:r>
            <a:r>
              <a:rPr lang="en-US" sz="1950">
                <a:solidFill>
                  <a:srgbClr val="0D0F26"/>
                </a:solidFill>
                <a:latin typeface="Inter"/>
                <a:ea typeface="Inter"/>
                <a:cs typeface="Inter"/>
                <a:sym typeface="Inter"/>
              </a:rPr>
              <a:t> shows — even the cheap "selected" highlight the user clicked for.</a:t>
            </a:r>
          </a:p>
        </p:txBody>
      </p:sp>
      <p:sp>
        <p:nvSpPr>
          <p:cNvPr name="AutoShape 30" id="30"/>
          <p:cNvSpPr/>
          <p:nvPr/>
        </p:nvSpPr>
        <p:spPr>
          <a:xfrm rot="0">
            <a:off x="1143000" y="8896350"/>
            <a:ext cx="16002000" cy="9525"/>
          </a:xfrm>
          <a:prstGeom prst="rect">
            <a:avLst/>
          </a:prstGeom>
          <a:solidFill>
            <a:srgbClr val="0D0F26"/>
          </a:solidFill>
        </p:spPr>
      </p:sp>
      <p:sp>
        <p:nvSpPr>
          <p:cNvPr name="TextBox 31" id="31"/>
          <p:cNvSpPr txBox="true"/>
          <p:nvPr/>
        </p:nvSpPr>
        <p:spPr>
          <a:xfrm rot="0">
            <a:off x="1143000" y="9134475"/>
            <a:ext cx="1922431"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03 · YIELD</a:t>
            </a:r>
          </a:p>
        </p:txBody>
      </p:sp>
      <p:sp>
        <p:nvSpPr>
          <p:cNvPr name="TextBox 32" id="32"/>
          <p:cNvSpPr txBox="true"/>
          <p:nvPr/>
        </p:nvSpPr>
        <p:spPr>
          <a:xfrm rot="0">
            <a:off x="12403646" y="9134475"/>
            <a:ext cx="474135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SYNCHRONOUS. RUN TO COMPLETION.</a:t>
            </a:r>
          </a:p>
        </p:txBody>
      </p:sp>
      <p:sp>
        <p:nvSpPr>
          <p:cNvPr name="AutoShape 33" id="33"/>
          <p:cNvSpPr/>
          <p:nvPr/>
        </p:nvSpPr>
        <p:spPr>
          <a:xfrm rot="0">
            <a:off x="3924300" y="4648200"/>
            <a:ext cx="12801600" cy="533400"/>
          </a:xfrm>
          <a:prstGeom prst="rect">
            <a:avLst/>
          </a:prstGeom>
          <a:solidFill>
            <a:srgbClr val="FFFFFF">
              <a:alpha val="5882"/>
            </a:srgbClr>
          </a:solidFill>
        </p:spPr>
      </p:sp>
      <p:grpSp>
        <p:nvGrpSpPr>
          <p:cNvPr name="Group 34" id="34"/>
          <p:cNvGrpSpPr/>
          <p:nvPr/>
        </p:nvGrpSpPr>
        <p:grpSpPr>
          <a:xfrm rot="0">
            <a:off x="3924300" y="4648200"/>
            <a:ext cx="639985" cy="533400"/>
            <a:chOff x="0" y="0"/>
            <a:chExt cx="853313" cy="711200"/>
          </a:xfrm>
        </p:grpSpPr>
        <p:sp>
          <p:nvSpPr>
            <p:cNvPr name="Freeform 35" id="35"/>
            <p:cNvSpPr/>
            <p:nvPr/>
          </p:nvSpPr>
          <p:spPr>
            <a:xfrm flipH="false" flipV="false" rot="0">
              <a:off x="0" y="0"/>
              <a:ext cx="853313" cy="711200"/>
            </a:xfrm>
            <a:custGeom>
              <a:avLst/>
              <a:gdLst/>
              <a:ahLst/>
              <a:cxnLst/>
              <a:rect r="r" b="b" t="t" l="l"/>
              <a:pathLst>
                <a:path h="711200" w="853313">
                  <a:moveTo>
                    <a:pt x="0" y="0"/>
                  </a:moveTo>
                  <a:lnTo>
                    <a:pt x="853313" y="0"/>
                  </a:lnTo>
                  <a:lnTo>
                    <a:pt x="853313" y="711200"/>
                  </a:lnTo>
                  <a:lnTo>
                    <a:pt x="0" y="711200"/>
                  </a:lnTo>
                  <a:lnTo>
                    <a:pt x="0" y="0"/>
                  </a:lnTo>
                  <a:close/>
                </a:path>
              </a:pathLst>
            </a:custGeom>
            <a:solidFill>
              <a:srgbClr val="F0C24A"/>
            </a:solidFill>
          </p:spPr>
        </p:sp>
        <p:sp>
          <p:nvSpPr>
            <p:cNvPr name="TextBox 36" id="36"/>
            <p:cNvSpPr txBox="true"/>
            <p:nvPr/>
          </p:nvSpPr>
          <p:spPr>
            <a:xfrm>
              <a:off x="0" y="-38100"/>
              <a:ext cx="853313" cy="749300"/>
            </a:xfrm>
            <a:prstGeom prst="rect">
              <a:avLst/>
            </a:prstGeom>
          </p:spPr>
          <p:txBody>
            <a:bodyPr anchor="ctr" rtlCol="false" tIns="190500" lIns="190500" bIns="190500" rIns="190500"/>
            <a:lstStyle/>
            <a:p>
              <a:pPr algn="l">
                <a:lnSpc>
                  <a:spcPts val="2100"/>
                </a:lnSpc>
              </a:pPr>
              <a:r>
                <a:rPr lang="en-US" b="true" sz="1500">
                  <a:solidFill>
                    <a:srgbClr val="0D0F26"/>
                  </a:solidFill>
                  <a:latin typeface="JetBrains Mono Bold"/>
                  <a:ea typeface="JetBrains Mono Bold"/>
                  <a:cs typeface="JetBrains Mono Bold"/>
                  <a:sym typeface="JetBrains Mono Bold"/>
                </a:rPr>
                <a:t>click</a:t>
              </a:r>
            </a:p>
          </p:txBody>
        </p:sp>
      </p:grpSp>
      <p:sp>
        <p:nvSpPr>
          <p:cNvPr name="AutoShape 37" id="37"/>
          <p:cNvSpPr/>
          <p:nvPr/>
        </p:nvSpPr>
        <p:spPr>
          <a:xfrm rot="0">
            <a:off x="4545235" y="4648200"/>
            <a:ext cx="19050" cy="533400"/>
          </a:xfrm>
          <a:prstGeom prst="rect">
            <a:avLst/>
          </a:prstGeom>
          <a:solidFill>
            <a:srgbClr val="0D0F26"/>
          </a:solidFill>
        </p:spPr>
      </p:sp>
      <p:grpSp>
        <p:nvGrpSpPr>
          <p:cNvPr name="Group 38" id="38"/>
          <p:cNvGrpSpPr/>
          <p:nvPr/>
        </p:nvGrpSpPr>
        <p:grpSpPr>
          <a:xfrm rot="0">
            <a:off x="4564285" y="4648200"/>
            <a:ext cx="8961120" cy="533400"/>
            <a:chOff x="0" y="0"/>
            <a:chExt cx="11948160" cy="711200"/>
          </a:xfrm>
        </p:grpSpPr>
        <p:sp>
          <p:nvSpPr>
            <p:cNvPr name="Freeform 39" id="39"/>
            <p:cNvSpPr/>
            <p:nvPr/>
          </p:nvSpPr>
          <p:spPr>
            <a:xfrm flipH="false" flipV="false" rot="0">
              <a:off x="0" y="0"/>
              <a:ext cx="11948160" cy="711200"/>
            </a:xfrm>
            <a:custGeom>
              <a:avLst/>
              <a:gdLst/>
              <a:ahLst/>
              <a:cxnLst/>
              <a:rect r="r" b="b" t="t" l="l"/>
              <a:pathLst>
                <a:path h="711200" w="11948160">
                  <a:moveTo>
                    <a:pt x="0" y="0"/>
                  </a:moveTo>
                  <a:lnTo>
                    <a:pt x="11948160" y="0"/>
                  </a:lnTo>
                  <a:lnTo>
                    <a:pt x="11948160" y="711200"/>
                  </a:lnTo>
                  <a:lnTo>
                    <a:pt x="0" y="711200"/>
                  </a:lnTo>
                  <a:lnTo>
                    <a:pt x="0" y="0"/>
                  </a:lnTo>
                  <a:close/>
                </a:path>
              </a:pathLst>
            </a:custGeom>
            <a:solidFill>
              <a:srgbClr val="C8CEF5"/>
            </a:solidFill>
          </p:spPr>
        </p:sp>
        <p:sp>
          <p:nvSpPr>
            <p:cNvPr name="TextBox 40" id="40"/>
            <p:cNvSpPr txBox="true"/>
            <p:nvPr/>
          </p:nvSpPr>
          <p:spPr>
            <a:xfrm>
              <a:off x="0" y="-38100"/>
              <a:ext cx="11948160" cy="749300"/>
            </a:xfrm>
            <a:prstGeom prst="rect">
              <a:avLst/>
            </a:prstGeom>
          </p:spPr>
          <p:txBody>
            <a:bodyPr anchor="ctr" rtlCol="false" tIns="190500" lIns="190500" bIns="190500" rIns="190500"/>
            <a:lstStyle/>
            <a:p>
              <a:pPr algn="l">
                <a:lnSpc>
                  <a:spcPts val="2100"/>
                </a:lnSpc>
              </a:pPr>
              <a:r>
                <a:rPr lang="en-US" sz="1500">
                  <a:solidFill>
                    <a:srgbClr val="0D0F26"/>
                  </a:solidFill>
                  <a:latin typeface="JetBrains Mono"/>
                  <a:ea typeface="JetBrains Mono"/>
                  <a:cs typeface="JetBrains Mono"/>
                  <a:sym typeface="JetBrains Mono"/>
                </a:rPr>
                <a:t>Render · 220 ms</a:t>
              </a:r>
            </a:p>
          </p:txBody>
        </p:sp>
      </p:grpSp>
      <p:sp>
        <p:nvSpPr>
          <p:cNvPr name="AutoShape 41" id="41"/>
          <p:cNvSpPr/>
          <p:nvPr/>
        </p:nvSpPr>
        <p:spPr>
          <a:xfrm rot="0">
            <a:off x="13506355" y="4648200"/>
            <a:ext cx="19050" cy="533400"/>
          </a:xfrm>
          <a:prstGeom prst="rect">
            <a:avLst/>
          </a:prstGeom>
          <a:solidFill>
            <a:srgbClr val="0D0F26"/>
          </a:solidFill>
        </p:spPr>
      </p:sp>
      <p:grpSp>
        <p:nvGrpSpPr>
          <p:cNvPr name="Group 42" id="42"/>
          <p:cNvGrpSpPr/>
          <p:nvPr/>
        </p:nvGrpSpPr>
        <p:grpSpPr>
          <a:xfrm rot="0">
            <a:off x="13525310" y="4648200"/>
            <a:ext cx="1152049" cy="533400"/>
            <a:chOff x="0" y="0"/>
            <a:chExt cx="1536065" cy="711200"/>
          </a:xfrm>
        </p:grpSpPr>
        <p:sp>
          <p:nvSpPr>
            <p:cNvPr name="Freeform 43" id="43"/>
            <p:cNvSpPr/>
            <p:nvPr/>
          </p:nvSpPr>
          <p:spPr>
            <a:xfrm flipH="false" flipV="false" rot="0">
              <a:off x="0" y="0"/>
              <a:ext cx="1536065" cy="711200"/>
            </a:xfrm>
            <a:custGeom>
              <a:avLst/>
              <a:gdLst/>
              <a:ahLst/>
              <a:cxnLst/>
              <a:rect r="r" b="b" t="t" l="l"/>
              <a:pathLst>
                <a:path h="711200" w="1536065">
                  <a:moveTo>
                    <a:pt x="0" y="0"/>
                  </a:moveTo>
                  <a:lnTo>
                    <a:pt x="1536065" y="0"/>
                  </a:lnTo>
                  <a:lnTo>
                    <a:pt x="1536065" y="711200"/>
                  </a:lnTo>
                  <a:lnTo>
                    <a:pt x="0" y="711200"/>
                  </a:lnTo>
                  <a:lnTo>
                    <a:pt x="0" y="0"/>
                  </a:lnTo>
                  <a:close/>
                </a:path>
              </a:pathLst>
            </a:custGeom>
            <a:solidFill>
              <a:srgbClr val="FFFFFF"/>
            </a:solidFill>
          </p:spPr>
        </p:sp>
        <p:sp>
          <p:nvSpPr>
            <p:cNvPr name="TextBox 44" id="44"/>
            <p:cNvSpPr txBox="true"/>
            <p:nvPr/>
          </p:nvSpPr>
          <p:spPr>
            <a:xfrm>
              <a:off x="0" y="-38100"/>
              <a:ext cx="1536065" cy="749300"/>
            </a:xfrm>
            <a:prstGeom prst="rect">
              <a:avLst/>
            </a:prstGeom>
          </p:spPr>
          <p:txBody>
            <a:bodyPr anchor="ctr" rtlCol="false" tIns="190500" lIns="190500" bIns="190500" rIns="190500"/>
            <a:lstStyle/>
            <a:p>
              <a:pPr algn="l">
                <a:lnSpc>
                  <a:spcPts val="2100"/>
                </a:lnSpc>
              </a:pPr>
              <a:r>
                <a:rPr lang="en-US" sz="1500">
                  <a:solidFill>
                    <a:srgbClr val="0D0F26"/>
                  </a:solidFill>
                  <a:latin typeface="JetBrains Mono"/>
                  <a:ea typeface="JetBrains Mono"/>
                  <a:cs typeface="JetBrains Mono"/>
                  <a:sym typeface="JetBrains Mono"/>
                </a:rPr>
                <a:t>Commit</a:t>
              </a:r>
            </a:p>
          </p:txBody>
        </p:sp>
      </p:grpSp>
      <p:sp>
        <p:nvSpPr>
          <p:cNvPr name="AutoShape 45" id="45"/>
          <p:cNvSpPr/>
          <p:nvPr/>
        </p:nvSpPr>
        <p:spPr>
          <a:xfrm rot="0">
            <a:off x="14658308" y="4648200"/>
            <a:ext cx="19050" cy="533400"/>
          </a:xfrm>
          <a:prstGeom prst="rect">
            <a:avLst/>
          </a:prstGeom>
          <a:solidFill>
            <a:srgbClr val="0D0F26"/>
          </a:solidFill>
        </p:spPr>
      </p:sp>
      <p:sp>
        <p:nvSpPr>
          <p:cNvPr name="AutoShape 46" id="46"/>
          <p:cNvSpPr/>
          <p:nvPr/>
        </p:nvSpPr>
        <p:spPr>
          <a:xfrm rot="0">
            <a:off x="3924300" y="5829300"/>
            <a:ext cx="12801600" cy="419100"/>
          </a:xfrm>
          <a:prstGeom prst="rect">
            <a:avLst/>
          </a:prstGeom>
          <a:solidFill>
            <a:srgbClr val="FFFFFF">
              <a:alpha val="2745"/>
            </a:srgbClr>
          </a:solidFill>
        </p:spPr>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FFF"/>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6305466" y="833438"/>
            <a:ext cx="83953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23 / 26</a:t>
            </a:r>
          </a:p>
        </p:txBody>
      </p:sp>
      <p:sp>
        <p:nvSpPr>
          <p:cNvPr name="TextBox 6" id="6"/>
          <p:cNvSpPr txBox="true"/>
          <p:nvPr/>
        </p:nvSpPr>
        <p:spPr>
          <a:xfrm rot="0">
            <a:off x="1143000" y="2019300"/>
            <a:ext cx="16002000" cy="200025"/>
          </a:xfrm>
          <a:prstGeom prst="rect">
            <a:avLst/>
          </a:prstGeom>
        </p:spPr>
        <p:txBody>
          <a:bodyPr anchor="t" rtlCol="false" tIns="0" lIns="0" bIns="0" rIns="0">
            <a:spAutoFit/>
          </a:bodyPr>
          <a:lstStyle/>
          <a:p>
            <a:pPr algn="l">
              <a:lnSpc>
                <a:spcPts val="180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WITH USETRANSITION · SAME CLICK</a:t>
            </a:r>
          </a:p>
        </p:txBody>
      </p:sp>
      <p:sp>
        <p:nvSpPr>
          <p:cNvPr name="AutoShape 7" id="7"/>
          <p:cNvSpPr/>
          <p:nvPr/>
        </p:nvSpPr>
        <p:spPr>
          <a:xfrm rot="0">
            <a:off x="3968782" y="2324100"/>
            <a:ext cx="5482209" cy="971550"/>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8" id="8"/>
          <p:cNvSpPr txBox="true"/>
          <p:nvPr/>
        </p:nvSpPr>
        <p:spPr>
          <a:xfrm rot="0">
            <a:off x="1143000" y="2562225"/>
            <a:ext cx="16002000" cy="609600"/>
          </a:xfrm>
          <a:prstGeom prst="rect">
            <a:avLst/>
          </a:prstGeom>
        </p:spPr>
        <p:txBody>
          <a:bodyPr anchor="t" rtlCol="false" tIns="0" lIns="0" bIns="0" rIns="0">
            <a:spAutoFit/>
          </a:bodyPr>
          <a:lstStyle/>
          <a:p>
            <a:pPr algn="l">
              <a:lnSpc>
                <a:spcPts val="5700"/>
              </a:lnSpc>
            </a:pPr>
            <a:r>
              <a:rPr lang="en-US" b="true" sz="6000" spc="-120">
                <a:solidFill>
                  <a:srgbClr val="0D0F26"/>
                </a:solidFill>
                <a:latin typeface="Arimo Bold"/>
                <a:ea typeface="Arimo Bold"/>
                <a:cs typeface="Arimo Bold"/>
                <a:sym typeface="Arimo Bold"/>
              </a:rPr>
              <a:t>Mark it. React reorders.</a:t>
            </a:r>
          </a:p>
        </p:txBody>
      </p:sp>
      <p:sp>
        <p:nvSpPr>
          <p:cNvPr name="AutoShape 9" id="9"/>
          <p:cNvSpPr/>
          <p:nvPr/>
        </p:nvSpPr>
        <p:spPr>
          <a:xfrm rot="0">
            <a:off x="1143000" y="3438525"/>
            <a:ext cx="16002000" cy="3743325"/>
          </a:xfrm>
          <a:prstGeom prst="rect">
            <a:avLst/>
          </a:prstGeom>
          <a:solidFill>
            <a:srgbClr val="0D0F26"/>
          </a:solidFill>
        </p:spPr>
      </p:sp>
      <p:sp>
        <p:nvSpPr>
          <p:cNvPr name="AutoShape 10" id="10"/>
          <p:cNvSpPr/>
          <p:nvPr/>
        </p:nvSpPr>
        <p:spPr>
          <a:xfrm rot="0">
            <a:off x="1562100" y="4171950"/>
            <a:ext cx="15163800" cy="9525"/>
          </a:xfrm>
          <a:prstGeom prst="rect">
            <a:avLst/>
          </a:prstGeom>
          <a:solidFill>
            <a:srgbClr val="FFFFFF">
              <a:alpha val="17647"/>
            </a:srgbClr>
          </a:solidFill>
        </p:spPr>
      </p:sp>
      <p:sp>
        <p:nvSpPr>
          <p:cNvPr name="TextBox 11" id="11"/>
          <p:cNvSpPr txBox="true"/>
          <p:nvPr/>
        </p:nvSpPr>
        <p:spPr>
          <a:xfrm rot="0">
            <a:off x="1562100" y="3667125"/>
            <a:ext cx="3291935" cy="333375"/>
          </a:xfrm>
          <a:prstGeom prst="rect">
            <a:avLst/>
          </a:prstGeom>
        </p:spPr>
        <p:txBody>
          <a:bodyPr anchor="t" rtlCol="false" tIns="0" lIns="0" bIns="0" rIns="0">
            <a:spAutoFit/>
          </a:bodyPr>
          <a:lstStyle/>
          <a:p>
            <a:pPr algn="l">
              <a:lnSpc>
                <a:spcPts val="2520"/>
              </a:lnSpc>
            </a:pPr>
            <a:r>
              <a:rPr lang="en-US" b="true" sz="1800">
                <a:gradFill>
                  <a:gsLst>
                    <a:gs pos="0">
                      <a:srgbClr val="FFFFFF">
                        <a:alpha val="92000"/>
                      </a:srgbClr>
                    </a:gs>
                    <a:gs pos="100000">
                      <a:srgbClr val="FFFFFF">
                        <a:alpha val="92000"/>
                      </a:srgbClr>
                    </a:gs>
                  </a:gsLst>
                  <a:lin ang="16200000"/>
                </a:gradFill>
                <a:latin typeface="JetBrains Mono Bold"/>
                <a:ea typeface="JetBrains Mono Bold"/>
                <a:cs typeface="JetBrains Mono Bold"/>
                <a:sym typeface="JetBrains Mono Bold"/>
              </a:rPr>
              <a:t>Scheduler — Custom track</a:t>
            </a:r>
          </a:p>
        </p:txBody>
      </p:sp>
      <p:sp>
        <p:nvSpPr>
          <p:cNvPr name="TextBox 12" id="12"/>
          <p:cNvSpPr txBox="true"/>
          <p:nvPr/>
        </p:nvSpPr>
        <p:spPr>
          <a:xfrm rot="0">
            <a:off x="9456420" y="3667125"/>
            <a:ext cx="7269480" cy="333375"/>
          </a:xfrm>
          <a:prstGeom prst="rect">
            <a:avLst/>
          </a:prstGeom>
        </p:spPr>
        <p:txBody>
          <a:bodyPr anchor="t" rtlCol="false" tIns="0" lIns="0" bIns="0" rIns="0">
            <a:spAutoFit/>
          </a:bodyPr>
          <a:lstStyle/>
          <a:p>
            <a:pPr algn="l">
              <a:lnSpc>
                <a:spcPts val="2520"/>
              </a:lnSpc>
            </a:pPr>
            <a:r>
              <a:rPr lang="en-US" sz="1800">
                <a:gradFill>
                  <a:gsLst>
                    <a:gs pos="0">
                      <a:srgbClr val="FFFFFF">
                        <a:alpha val="60000"/>
                      </a:srgbClr>
                    </a:gs>
                    <a:gs pos="100000">
                      <a:srgbClr val="FFFFFF">
                        <a:alpha val="60000"/>
                      </a:srgbClr>
                    </a:gs>
                  </a:gsLst>
                  <a:lin ang="16200000"/>
                </a:gradFill>
                <a:latin typeface="JetBrains Mono"/>
                <a:ea typeface="JetBrains Mono"/>
                <a:cs typeface="JetBrains Mono"/>
                <a:sym typeface="JetBrains Mono"/>
              </a:rPr>
              <a:t>urgent commits in 12 ms · transition catches up later</a:t>
            </a:r>
          </a:p>
        </p:txBody>
      </p:sp>
      <p:sp>
        <p:nvSpPr>
          <p:cNvPr name="TextBox 13" id="13"/>
          <p:cNvSpPr txBox="true"/>
          <p:nvPr/>
        </p:nvSpPr>
        <p:spPr>
          <a:xfrm rot="0">
            <a:off x="2416683" y="4333875"/>
            <a:ext cx="1240917" cy="447675"/>
          </a:xfrm>
          <a:prstGeom prst="rect">
            <a:avLst/>
          </a:prstGeom>
        </p:spPr>
        <p:txBody>
          <a:bodyPr anchor="t" rtlCol="false" tIns="0" lIns="0" bIns="0" rIns="0">
            <a:spAutoFit/>
          </a:bodyPr>
          <a:lstStyle/>
          <a:p>
            <a:pPr algn="l">
              <a:lnSpc>
                <a:spcPts val="2310"/>
              </a:lnSpc>
            </a:pPr>
            <a:r>
              <a:rPr lang="en-US" b="true" sz="1650" spc="33">
                <a:gradFill>
                  <a:gsLst>
                    <a:gs pos="0">
                      <a:srgbClr val="FFFFFF">
                        <a:alpha val="90000"/>
                      </a:srgbClr>
                    </a:gs>
                    <a:gs pos="100000">
                      <a:srgbClr val="FFFFFF">
                        <a:alpha val="90000"/>
                      </a:srgbClr>
                    </a:gs>
                  </a:gsLst>
                  <a:lin ang="16200000"/>
                </a:gradFill>
                <a:latin typeface="JetBrains Mono Bold"/>
                <a:ea typeface="JetBrains Mono Bold"/>
                <a:cs typeface="JetBrains Mono Bold"/>
                <a:sym typeface="JetBrains Mono Bold"/>
              </a:rPr>
              <a:t>Blocking</a:t>
            </a:r>
          </a:p>
        </p:txBody>
      </p:sp>
      <p:sp>
        <p:nvSpPr>
          <p:cNvPr name="TextBox 14" id="14"/>
          <p:cNvSpPr txBox="true"/>
          <p:nvPr/>
        </p:nvSpPr>
        <p:spPr>
          <a:xfrm rot="0">
            <a:off x="3924300" y="4381500"/>
            <a:ext cx="12801600" cy="209550"/>
          </a:xfrm>
          <a:prstGeom prst="rect">
            <a:avLst/>
          </a:prstGeom>
        </p:spPr>
        <p:txBody>
          <a:bodyPr anchor="t" rtlCol="false" tIns="0" lIns="0" bIns="0" rIns="0">
            <a:spAutoFit/>
          </a:bodyPr>
          <a:lstStyle/>
          <a:p>
            <a:pPr algn="l">
              <a:lnSpc>
                <a:spcPts val="1552"/>
              </a:lnSpc>
            </a:pPr>
            <a:r>
              <a:rPr lang="en-US" sz="1350">
                <a:gradFill>
                  <a:gsLst>
                    <a:gs pos="0">
                      <a:srgbClr val="FFFFFF">
                        <a:alpha val="55000"/>
                      </a:srgbClr>
                    </a:gs>
                    <a:gs pos="100000">
                      <a:srgbClr val="FFFFFF">
                        <a:alpha val="55000"/>
                      </a:srgbClr>
                    </a:gs>
                  </a:gsLst>
                  <a:lin ang="16200000"/>
                </a:gradFill>
                <a:latin typeface="Inter"/>
                <a:ea typeface="Inter"/>
                <a:cs typeface="Inter"/>
                <a:sym typeface="Inter"/>
              </a:rPr>
              <a:t>setSelected(id)</a:t>
            </a:r>
            <a:r>
              <a:rPr lang="en-US" sz="1350">
                <a:gradFill>
                  <a:gsLst>
                    <a:gs pos="0">
                      <a:srgbClr val="FFFFFF">
                        <a:alpha val="40000"/>
                      </a:srgbClr>
                    </a:gs>
                    <a:gs pos="100000">
                      <a:srgbClr val="FFFFFF">
                        <a:alpha val="40000"/>
                      </a:srgbClr>
                    </a:gs>
                  </a:gsLst>
                  <a:lin ang="16200000"/>
                </a:gradFill>
                <a:latin typeface="Inter"/>
                <a:ea typeface="Inter"/>
                <a:cs typeface="Inter"/>
                <a:sym typeface="Inter"/>
              </a:rPr>
              <a:t>urgent · highlight</a:t>
            </a:r>
          </a:p>
        </p:txBody>
      </p:sp>
      <p:sp>
        <p:nvSpPr>
          <p:cNvPr name="AutoShape 15" id="15"/>
          <p:cNvSpPr/>
          <p:nvPr/>
        </p:nvSpPr>
        <p:spPr>
          <a:xfrm rot="0">
            <a:off x="1562100" y="5410200"/>
            <a:ext cx="15163800" cy="9525"/>
          </a:xfrm>
          <a:prstGeom prst="rect">
            <a:avLst/>
          </a:prstGeom>
          <a:solidFill>
            <a:srgbClr val="FFFFFF">
              <a:alpha val="7843"/>
            </a:srgbClr>
          </a:solidFill>
        </p:spPr>
      </p:sp>
      <p:sp>
        <p:nvSpPr>
          <p:cNvPr name="TextBox 16" id="16"/>
          <p:cNvSpPr txBox="true"/>
          <p:nvPr/>
        </p:nvSpPr>
        <p:spPr>
          <a:xfrm rot="0">
            <a:off x="2156841" y="5514975"/>
            <a:ext cx="1500759" cy="447675"/>
          </a:xfrm>
          <a:prstGeom prst="rect">
            <a:avLst/>
          </a:prstGeom>
        </p:spPr>
        <p:txBody>
          <a:bodyPr anchor="t" rtlCol="false" tIns="0" lIns="0" bIns="0" rIns="0">
            <a:spAutoFit/>
          </a:bodyPr>
          <a:lstStyle/>
          <a:p>
            <a:pPr algn="l">
              <a:lnSpc>
                <a:spcPts val="2310"/>
              </a:lnSpc>
            </a:pPr>
            <a:r>
              <a:rPr lang="en-US" b="true" sz="1650" spc="33">
                <a:gradFill>
                  <a:gsLst>
                    <a:gs pos="0">
                      <a:srgbClr val="FFFFFF">
                        <a:alpha val="90000"/>
                      </a:srgbClr>
                    </a:gs>
                    <a:gs pos="100000">
                      <a:srgbClr val="FFFFFF">
                        <a:alpha val="90000"/>
                      </a:srgbClr>
                    </a:gs>
                  </a:gsLst>
                  <a:lin ang="16200000"/>
                </a:gradFill>
                <a:latin typeface="JetBrains Mono Bold"/>
                <a:ea typeface="JetBrains Mono Bold"/>
                <a:cs typeface="JetBrains Mono Bold"/>
                <a:sym typeface="JetBrains Mono Bold"/>
              </a:rPr>
              <a:t>Transition</a:t>
            </a:r>
          </a:p>
        </p:txBody>
      </p:sp>
      <p:sp>
        <p:nvSpPr>
          <p:cNvPr name="TextBox 17" id="17"/>
          <p:cNvSpPr txBox="true"/>
          <p:nvPr/>
        </p:nvSpPr>
        <p:spPr>
          <a:xfrm rot="0">
            <a:off x="3924300" y="5553075"/>
            <a:ext cx="12801600" cy="438150"/>
          </a:xfrm>
          <a:prstGeom prst="rect">
            <a:avLst/>
          </a:prstGeom>
        </p:spPr>
        <p:txBody>
          <a:bodyPr anchor="t" rtlCol="false" tIns="0" lIns="0" bIns="0" rIns="0">
            <a:spAutoFit/>
          </a:bodyPr>
          <a:lstStyle/>
          <a:p>
            <a:pPr algn="l">
              <a:lnSpc>
                <a:spcPts val="1725"/>
              </a:lnSpc>
            </a:pPr>
            <a:r>
              <a:rPr lang="en-US" sz="1500">
                <a:gradFill>
                  <a:gsLst>
                    <a:gs pos="0">
                      <a:srgbClr val="FFFFFF">
                        <a:alpha val="55000"/>
                      </a:srgbClr>
                    </a:gs>
                    <a:gs pos="100000">
                      <a:srgbClr val="FFFFFF">
                        <a:alpha val="55000"/>
                      </a:srgbClr>
                    </a:gs>
                  </a:gsLst>
                  <a:lin ang="16200000"/>
                </a:gradFill>
                <a:latin typeface="Inter"/>
                <a:ea typeface="Inter"/>
                <a:cs typeface="Inter"/>
                <a:sym typeface="Inter"/>
              </a:rPr>
              <a:t>startTransition →</a:t>
            </a:r>
          </a:p>
          <a:p>
            <a:pPr algn="l">
              <a:lnSpc>
                <a:spcPts val="1552"/>
              </a:lnSpc>
            </a:pPr>
            <a:r>
              <a:rPr lang="en-US" sz="1350">
                <a:gradFill>
                  <a:gsLst>
                    <a:gs pos="0">
                      <a:srgbClr val="FFFFFF">
                        <a:alpha val="55000"/>
                      </a:srgbClr>
                    </a:gs>
                    <a:gs pos="100000">
                      <a:srgbClr val="FFFFFF">
                        <a:alpha val="55000"/>
                      </a:srgbClr>
                    </a:gs>
                  </a:gsLst>
                  <a:lin ang="16200000"/>
                </a:gradFill>
                <a:latin typeface="Inter"/>
                <a:ea typeface="Inter"/>
                <a:cs typeface="Inter"/>
                <a:sym typeface="Inter"/>
              </a:rPr>
              <a:t>setDetails(id)</a:t>
            </a:r>
            <a:r>
              <a:rPr lang="en-US" sz="1350">
                <a:gradFill>
                  <a:gsLst>
                    <a:gs pos="0">
                      <a:srgbClr val="FFFFFF">
                        <a:alpha val="40000"/>
                      </a:srgbClr>
                    </a:gs>
                    <a:gs pos="100000">
                      <a:srgbClr val="FFFFFF">
                        <a:alpha val="40000"/>
                      </a:srgbClr>
                    </a:gs>
                  </a:gsLst>
                  <a:lin ang="16200000"/>
                </a:gradFill>
                <a:latin typeface="Inter"/>
                <a:ea typeface="Inter"/>
                <a:cs typeface="Inter"/>
                <a:sym typeface="Inter"/>
              </a:rPr>
              <a:t>deferred · heavy</a:t>
            </a:r>
          </a:p>
        </p:txBody>
      </p:sp>
      <p:sp>
        <p:nvSpPr>
          <p:cNvPr name="TextBox 18" id="18"/>
          <p:cNvSpPr txBox="true"/>
          <p:nvPr/>
        </p:nvSpPr>
        <p:spPr>
          <a:xfrm rot="0">
            <a:off x="3924300" y="6677025"/>
            <a:ext cx="411480"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0 ms</a:t>
            </a:r>
          </a:p>
        </p:txBody>
      </p:sp>
      <p:sp>
        <p:nvSpPr>
          <p:cNvPr name="TextBox 19" id="19"/>
          <p:cNvSpPr txBox="true"/>
          <p:nvPr/>
        </p:nvSpPr>
        <p:spPr>
          <a:xfrm rot="0">
            <a:off x="6525673" y="6677025"/>
            <a:ext cx="20583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50</a:t>
            </a:r>
          </a:p>
        </p:txBody>
      </p:sp>
      <p:sp>
        <p:nvSpPr>
          <p:cNvPr name="TextBox 20" id="20"/>
          <p:cNvSpPr txBox="true"/>
          <p:nvPr/>
        </p:nvSpPr>
        <p:spPr>
          <a:xfrm rot="0">
            <a:off x="8921496" y="6677025"/>
            <a:ext cx="30870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100</a:t>
            </a:r>
          </a:p>
        </p:txBody>
      </p:sp>
      <p:sp>
        <p:nvSpPr>
          <p:cNvPr name="TextBox 21" id="21"/>
          <p:cNvSpPr txBox="true"/>
          <p:nvPr/>
        </p:nvSpPr>
        <p:spPr>
          <a:xfrm rot="0">
            <a:off x="11419999" y="6677025"/>
            <a:ext cx="30870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150</a:t>
            </a:r>
          </a:p>
        </p:txBody>
      </p:sp>
      <p:sp>
        <p:nvSpPr>
          <p:cNvPr name="TextBox 22" id="22"/>
          <p:cNvSpPr txBox="true"/>
          <p:nvPr/>
        </p:nvSpPr>
        <p:spPr>
          <a:xfrm rot="0">
            <a:off x="13918692" y="6677025"/>
            <a:ext cx="30870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200</a:t>
            </a:r>
          </a:p>
        </p:txBody>
      </p:sp>
      <p:sp>
        <p:nvSpPr>
          <p:cNvPr name="TextBox 23" id="23"/>
          <p:cNvSpPr txBox="true"/>
          <p:nvPr/>
        </p:nvSpPr>
        <p:spPr>
          <a:xfrm rot="0">
            <a:off x="16417195" y="6677025"/>
            <a:ext cx="308705" cy="238125"/>
          </a:xfrm>
          <a:prstGeom prst="rect">
            <a:avLst/>
          </a:prstGeom>
        </p:spPr>
        <p:txBody>
          <a:bodyPr anchor="t" rtlCol="false" tIns="0" lIns="0" bIns="0" rIns="0">
            <a:spAutoFit/>
          </a:bodyPr>
          <a:lstStyle/>
          <a:p>
            <a:pPr algn="l">
              <a:lnSpc>
                <a:spcPts val="1889"/>
              </a:lnSpc>
            </a:pPr>
            <a:r>
              <a:rPr lang="en-US" sz="1350">
                <a:gradFill>
                  <a:gsLst>
                    <a:gs pos="0">
                      <a:srgbClr val="FFFFFF">
                        <a:alpha val="40000"/>
                      </a:srgbClr>
                    </a:gs>
                    <a:gs pos="100000">
                      <a:srgbClr val="FFFFFF">
                        <a:alpha val="40000"/>
                      </a:srgbClr>
                    </a:gs>
                  </a:gsLst>
                  <a:lin ang="16200000"/>
                </a:gradFill>
                <a:latin typeface="JetBrains Mono"/>
                <a:ea typeface="JetBrains Mono"/>
                <a:cs typeface="JetBrains Mono"/>
                <a:sym typeface="JetBrains Mono"/>
              </a:rPr>
              <a:t>250</a:t>
            </a:r>
          </a:p>
        </p:txBody>
      </p:sp>
      <p:sp>
        <p:nvSpPr>
          <p:cNvPr name="AutoShape 24" id="24"/>
          <p:cNvSpPr/>
          <p:nvPr/>
        </p:nvSpPr>
        <p:spPr>
          <a:xfrm rot="0">
            <a:off x="1143000" y="7448550"/>
            <a:ext cx="14744700" cy="973360"/>
          </a:xfrm>
          <a:prstGeom prst="rect">
            <a:avLst/>
          </a:prstGeom>
          <a:solidFill>
            <a:srgbClr val="E5E8FA"/>
          </a:solidFill>
        </p:spPr>
      </p:sp>
      <p:sp>
        <p:nvSpPr>
          <p:cNvPr name="AutoShape 25" id="25"/>
          <p:cNvSpPr/>
          <p:nvPr/>
        </p:nvSpPr>
        <p:spPr>
          <a:xfrm rot="0">
            <a:off x="1143000" y="7448550"/>
            <a:ext cx="38100" cy="973360"/>
          </a:xfrm>
          <a:prstGeom prst="rect">
            <a:avLst/>
          </a:prstGeom>
          <a:solidFill>
            <a:srgbClr val="0D0F26"/>
          </a:solidFill>
        </p:spPr>
      </p:sp>
      <p:grpSp>
        <p:nvGrpSpPr>
          <p:cNvPr name="Group 26" id="26"/>
          <p:cNvGrpSpPr/>
          <p:nvPr/>
        </p:nvGrpSpPr>
        <p:grpSpPr>
          <a:xfrm rot="0">
            <a:off x="1390650" y="7755731"/>
            <a:ext cx="1155954" cy="358997"/>
            <a:chOff x="0" y="0"/>
            <a:chExt cx="1541272" cy="478663"/>
          </a:xfrm>
        </p:grpSpPr>
        <p:sp>
          <p:nvSpPr>
            <p:cNvPr name="Freeform 27" id="27"/>
            <p:cNvSpPr/>
            <p:nvPr/>
          </p:nvSpPr>
          <p:spPr>
            <a:xfrm flipH="false" flipV="false" rot="0">
              <a:off x="0" y="0"/>
              <a:ext cx="1541272" cy="478663"/>
            </a:xfrm>
            <a:custGeom>
              <a:avLst/>
              <a:gdLst/>
              <a:ahLst/>
              <a:cxnLst/>
              <a:rect r="r" b="b" t="t" l="l"/>
              <a:pathLst>
                <a:path h="478663" w="1541272">
                  <a:moveTo>
                    <a:pt x="0" y="0"/>
                  </a:moveTo>
                  <a:lnTo>
                    <a:pt x="1541272" y="0"/>
                  </a:lnTo>
                  <a:lnTo>
                    <a:pt x="1541272" y="478663"/>
                  </a:lnTo>
                  <a:lnTo>
                    <a:pt x="0" y="478663"/>
                  </a:lnTo>
                  <a:lnTo>
                    <a:pt x="0" y="0"/>
                  </a:lnTo>
                  <a:close/>
                </a:path>
              </a:pathLst>
            </a:custGeom>
            <a:solidFill>
              <a:srgbClr val="C8CEF5"/>
            </a:solidFill>
          </p:spPr>
        </p:sp>
        <p:sp>
          <p:nvSpPr>
            <p:cNvPr name="TextBox 28" id="28"/>
            <p:cNvSpPr txBox="true"/>
            <p:nvPr/>
          </p:nvSpPr>
          <p:spPr>
            <a:xfrm>
              <a:off x="0" y="-38100"/>
              <a:ext cx="1541272" cy="516763"/>
            </a:xfrm>
            <a:prstGeom prst="rect">
              <a:avLst/>
            </a:prstGeom>
          </p:spPr>
          <p:txBody>
            <a:bodyPr anchor="t" rtlCol="false" tIns="63500" lIns="63500" bIns="63500" rIns="63500"/>
            <a:lstStyle/>
            <a:p>
              <a:pPr algn="l">
                <a:lnSpc>
                  <a:spcPts val="2227"/>
                </a:lnSpc>
              </a:pPr>
              <a:r>
                <a:rPr lang="en-US" b="true" sz="1650" spc="132">
                  <a:solidFill>
                    <a:srgbClr val="0D0F26"/>
                  </a:solidFill>
                  <a:latin typeface="Inter Bold"/>
                  <a:ea typeface="Inter Bold"/>
                  <a:cs typeface="Inter Bold"/>
                  <a:sym typeface="Inter Bold"/>
                </a:rPr>
                <a:t>THE FIX</a:t>
              </a:r>
            </a:p>
          </p:txBody>
        </p:sp>
      </p:grpSp>
      <p:sp>
        <p:nvSpPr>
          <p:cNvPr name="TextBox 29" id="29"/>
          <p:cNvSpPr txBox="true"/>
          <p:nvPr/>
        </p:nvSpPr>
        <p:spPr>
          <a:xfrm rot="0">
            <a:off x="2718054" y="7562850"/>
            <a:ext cx="12960096" cy="667702"/>
          </a:xfrm>
          <a:prstGeom prst="rect">
            <a:avLst/>
          </a:prstGeom>
        </p:spPr>
        <p:txBody>
          <a:bodyPr anchor="t" rtlCol="false" tIns="0" lIns="0" bIns="0" rIns="0">
            <a:spAutoFit/>
          </a:bodyPr>
          <a:lstStyle/>
          <a:p>
            <a:pPr algn="l">
              <a:lnSpc>
                <a:spcPts val="2632"/>
              </a:lnSpc>
            </a:pPr>
            <a:r>
              <a:rPr lang="en-US" sz="1950">
                <a:solidFill>
                  <a:srgbClr val="0D0F26"/>
                </a:solidFill>
                <a:latin typeface="Inter"/>
                <a:ea typeface="Inter"/>
                <a:cs typeface="Inter"/>
                <a:sym typeface="Inter"/>
              </a:rPr>
              <a:t>Wrap the heavy update in startTransition. The urgent </a:t>
            </a:r>
            <a:r>
              <a:rPr lang="en-US" sz="1950" i="true">
                <a:solidFill>
                  <a:srgbClr val="0D0F26"/>
                </a:solidFill>
                <a:latin typeface="Inter Italics"/>
                <a:ea typeface="Inter Italics"/>
                <a:cs typeface="Inter Italics"/>
                <a:sym typeface="Inter Italics"/>
              </a:rPr>
              <a:t>highlight</a:t>
            </a:r>
            <a:r>
              <a:rPr lang="en-US" sz="1950">
                <a:solidFill>
                  <a:srgbClr val="0D0F26"/>
                </a:solidFill>
                <a:latin typeface="Inter"/>
                <a:ea typeface="Inter"/>
                <a:cs typeface="Inter"/>
                <a:sym typeface="Inter"/>
              </a:rPr>
              <a:t> commits now; the heavy </a:t>
            </a:r>
            <a:r>
              <a:rPr lang="en-US" sz="1950" i="true">
                <a:solidFill>
                  <a:srgbClr val="0D0F26"/>
                </a:solidFill>
                <a:latin typeface="Inter Italics"/>
                <a:ea typeface="Inter Italics"/>
                <a:cs typeface="Inter Italics"/>
                <a:sym typeface="Inter Italics"/>
              </a:rPr>
              <a:t>details</a:t>
            </a:r>
            <a:r>
              <a:rPr lang="en-US" sz="1950">
                <a:solidFill>
                  <a:srgbClr val="0D0F26"/>
                </a:solidFill>
                <a:latin typeface="Inter"/>
                <a:ea typeface="Inter"/>
                <a:cs typeface="Inter"/>
                <a:sym typeface="Inter"/>
              </a:rPr>
              <a:t> wait in the Transition lane until React has room.</a:t>
            </a:r>
          </a:p>
        </p:txBody>
      </p:sp>
      <p:sp>
        <p:nvSpPr>
          <p:cNvPr name="AutoShape 30" id="30"/>
          <p:cNvSpPr/>
          <p:nvPr/>
        </p:nvSpPr>
        <p:spPr>
          <a:xfrm rot="0">
            <a:off x="1143000" y="8896350"/>
            <a:ext cx="16002000" cy="9525"/>
          </a:xfrm>
          <a:prstGeom prst="rect">
            <a:avLst/>
          </a:prstGeom>
          <a:solidFill>
            <a:srgbClr val="0D0F26"/>
          </a:solidFill>
        </p:spPr>
      </p:sp>
      <p:sp>
        <p:nvSpPr>
          <p:cNvPr name="TextBox 31" id="31"/>
          <p:cNvSpPr txBox="true"/>
          <p:nvPr/>
        </p:nvSpPr>
        <p:spPr>
          <a:xfrm rot="0">
            <a:off x="1143000" y="9134475"/>
            <a:ext cx="1922431"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03 · YIELD</a:t>
            </a:r>
          </a:p>
        </p:txBody>
      </p:sp>
      <p:sp>
        <p:nvSpPr>
          <p:cNvPr name="TextBox 32" id="32"/>
          <p:cNvSpPr txBox="true"/>
          <p:nvPr/>
        </p:nvSpPr>
        <p:spPr>
          <a:xfrm rot="0">
            <a:off x="13785342" y="9134475"/>
            <a:ext cx="335965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COOPERATIVE SCHEDULING</a:t>
            </a:r>
          </a:p>
        </p:txBody>
      </p:sp>
      <p:sp>
        <p:nvSpPr>
          <p:cNvPr name="AutoShape 33" id="33"/>
          <p:cNvSpPr/>
          <p:nvPr/>
        </p:nvSpPr>
        <p:spPr>
          <a:xfrm rot="0">
            <a:off x="3924300" y="4648200"/>
            <a:ext cx="12801600" cy="533400"/>
          </a:xfrm>
          <a:prstGeom prst="rect">
            <a:avLst/>
          </a:prstGeom>
          <a:solidFill>
            <a:srgbClr val="FFFFFF">
              <a:alpha val="5882"/>
            </a:srgbClr>
          </a:solidFill>
        </p:spPr>
      </p:sp>
      <p:grpSp>
        <p:nvGrpSpPr>
          <p:cNvPr name="Group 34" id="34"/>
          <p:cNvGrpSpPr/>
          <p:nvPr/>
        </p:nvGrpSpPr>
        <p:grpSpPr>
          <a:xfrm rot="0">
            <a:off x="3924300" y="4648200"/>
            <a:ext cx="639985" cy="533400"/>
            <a:chOff x="0" y="0"/>
            <a:chExt cx="853313" cy="711200"/>
          </a:xfrm>
        </p:grpSpPr>
        <p:sp>
          <p:nvSpPr>
            <p:cNvPr name="Freeform 35" id="35"/>
            <p:cNvSpPr/>
            <p:nvPr/>
          </p:nvSpPr>
          <p:spPr>
            <a:xfrm flipH="false" flipV="false" rot="0">
              <a:off x="0" y="0"/>
              <a:ext cx="853313" cy="711200"/>
            </a:xfrm>
            <a:custGeom>
              <a:avLst/>
              <a:gdLst/>
              <a:ahLst/>
              <a:cxnLst/>
              <a:rect r="r" b="b" t="t" l="l"/>
              <a:pathLst>
                <a:path h="711200" w="853313">
                  <a:moveTo>
                    <a:pt x="0" y="0"/>
                  </a:moveTo>
                  <a:lnTo>
                    <a:pt x="853313" y="0"/>
                  </a:lnTo>
                  <a:lnTo>
                    <a:pt x="853313" y="711200"/>
                  </a:lnTo>
                  <a:lnTo>
                    <a:pt x="0" y="711200"/>
                  </a:lnTo>
                  <a:lnTo>
                    <a:pt x="0" y="0"/>
                  </a:lnTo>
                  <a:close/>
                </a:path>
              </a:pathLst>
            </a:custGeom>
            <a:solidFill>
              <a:srgbClr val="F0C24A"/>
            </a:solidFill>
          </p:spPr>
        </p:sp>
        <p:sp>
          <p:nvSpPr>
            <p:cNvPr name="TextBox 36" id="36"/>
            <p:cNvSpPr txBox="true"/>
            <p:nvPr/>
          </p:nvSpPr>
          <p:spPr>
            <a:xfrm>
              <a:off x="0" y="-38100"/>
              <a:ext cx="853313" cy="749300"/>
            </a:xfrm>
            <a:prstGeom prst="rect">
              <a:avLst/>
            </a:prstGeom>
          </p:spPr>
          <p:txBody>
            <a:bodyPr anchor="ctr" rtlCol="false" tIns="190500" lIns="190500" bIns="190500" rIns="190500"/>
            <a:lstStyle/>
            <a:p>
              <a:pPr algn="l">
                <a:lnSpc>
                  <a:spcPts val="2100"/>
                </a:lnSpc>
              </a:pPr>
              <a:r>
                <a:rPr lang="en-US" b="true" sz="1500">
                  <a:solidFill>
                    <a:srgbClr val="0D0F26"/>
                  </a:solidFill>
                  <a:latin typeface="JetBrains Mono Bold"/>
                  <a:ea typeface="JetBrains Mono Bold"/>
                  <a:cs typeface="JetBrains Mono Bold"/>
                  <a:sym typeface="JetBrains Mono Bold"/>
                </a:rPr>
                <a:t>click</a:t>
              </a:r>
            </a:p>
          </p:txBody>
        </p:sp>
      </p:grpSp>
      <p:sp>
        <p:nvSpPr>
          <p:cNvPr name="AutoShape 37" id="37"/>
          <p:cNvSpPr/>
          <p:nvPr/>
        </p:nvSpPr>
        <p:spPr>
          <a:xfrm rot="0">
            <a:off x="4545235" y="4648200"/>
            <a:ext cx="19050" cy="533400"/>
          </a:xfrm>
          <a:prstGeom prst="rect">
            <a:avLst/>
          </a:prstGeom>
          <a:solidFill>
            <a:srgbClr val="0D0F26"/>
          </a:solidFill>
        </p:spPr>
      </p:sp>
      <p:sp>
        <p:nvSpPr>
          <p:cNvPr name="AutoShape 38" id="38"/>
          <p:cNvSpPr/>
          <p:nvPr/>
        </p:nvSpPr>
        <p:spPr>
          <a:xfrm rot="0">
            <a:off x="4564285" y="4648200"/>
            <a:ext cx="639985" cy="533400"/>
          </a:xfrm>
          <a:prstGeom prst="rect">
            <a:avLst/>
          </a:prstGeom>
          <a:solidFill>
            <a:srgbClr val="C8CEF5"/>
          </a:solidFill>
        </p:spPr>
      </p:sp>
      <p:sp>
        <p:nvSpPr>
          <p:cNvPr name="AutoShape 39" id="39"/>
          <p:cNvSpPr/>
          <p:nvPr/>
        </p:nvSpPr>
        <p:spPr>
          <a:xfrm rot="0">
            <a:off x="5185220" y="4648200"/>
            <a:ext cx="19050" cy="533400"/>
          </a:xfrm>
          <a:prstGeom prst="rect">
            <a:avLst/>
          </a:prstGeom>
          <a:solidFill>
            <a:srgbClr val="0D0F26"/>
          </a:solidFill>
        </p:spPr>
      </p:sp>
      <p:sp>
        <p:nvSpPr>
          <p:cNvPr name="TextBox 40" id="40"/>
          <p:cNvSpPr txBox="true"/>
          <p:nvPr/>
        </p:nvSpPr>
        <p:spPr>
          <a:xfrm rot="0">
            <a:off x="4564285" y="4610100"/>
            <a:ext cx="639985" cy="571500"/>
          </a:xfrm>
          <a:prstGeom prst="rect">
            <a:avLst/>
          </a:prstGeom>
        </p:spPr>
        <p:txBody>
          <a:bodyPr anchor="t" rtlCol="false" tIns="0" lIns="0" bIns="0" rIns="0">
            <a:spAutoFit/>
          </a:bodyPr>
          <a:lstStyle/>
          <a:p>
            <a:pPr algn="l">
              <a:lnSpc>
                <a:spcPts val="2100"/>
              </a:lnSpc>
            </a:pPr>
            <a:r>
              <a:rPr lang="en-US" sz="1500">
                <a:solidFill>
                  <a:srgbClr val="0D0F26"/>
                </a:solidFill>
                <a:latin typeface="JetBrains Mono"/>
                <a:ea typeface="JetBrains Mono"/>
                <a:cs typeface="JetBrains Mono"/>
                <a:sym typeface="JetBrains Mono"/>
              </a:rPr>
              <a:t>Render</a:t>
            </a:r>
          </a:p>
        </p:txBody>
      </p:sp>
      <p:grpSp>
        <p:nvGrpSpPr>
          <p:cNvPr name="Group 41" id="41"/>
          <p:cNvGrpSpPr/>
          <p:nvPr/>
        </p:nvGrpSpPr>
        <p:grpSpPr>
          <a:xfrm rot="0">
            <a:off x="5204270" y="4648200"/>
            <a:ext cx="256032" cy="533400"/>
            <a:chOff x="0" y="0"/>
            <a:chExt cx="341376" cy="711200"/>
          </a:xfrm>
        </p:grpSpPr>
        <p:sp>
          <p:nvSpPr>
            <p:cNvPr name="Freeform 42" id="42"/>
            <p:cNvSpPr/>
            <p:nvPr/>
          </p:nvSpPr>
          <p:spPr>
            <a:xfrm flipH="false" flipV="false" rot="0">
              <a:off x="0" y="0"/>
              <a:ext cx="341376" cy="711200"/>
            </a:xfrm>
            <a:custGeom>
              <a:avLst/>
              <a:gdLst/>
              <a:ahLst/>
              <a:cxnLst/>
              <a:rect r="r" b="b" t="t" l="l"/>
              <a:pathLst>
                <a:path h="711200" w="341376">
                  <a:moveTo>
                    <a:pt x="0" y="0"/>
                  </a:moveTo>
                  <a:lnTo>
                    <a:pt x="341376" y="0"/>
                  </a:lnTo>
                  <a:lnTo>
                    <a:pt x="341376" y="711200"/>
                  </a:lnTo>
                  <a:lnTo>
                    <a:pt x="0" y="711200"/>
                  </a:lnTo>
                  <a:lnTo>
                    <a:pt x="0" y="0"/>
                  </a:lnTo>
                  <a:close/>
                </a:path>
              </a:pathLst>
            </a:custGeom>
            <a:solidFill>
              <a:srgbClr val="FFFFFF"/>
            </a:solidFill>
          </p:spPr>
        </p:sp>
        <p:sp>
          <p:nvSpPr>
            <p:cNvPr name="TextBox 43" id="43"/>
            <p:cNvSpPr txBox="true"/>
            <p:nvPr/>
          </p:nvSpPr>
          <p:spPr>
            <a:xfrm>
              <a:off x="0" y="-38100"/>
              <a:ext cx="341376" cy="749300"/>
            </a:xfrm>
            <a:prstGeom prst="rect">
              <a:avLst/>
            </a:prstGeom>
          </p:spPr>
          <p:txBody>
            <a:bodyPr anchor="ctr" rtlCol="false" tIns="190500" lIns="190500" bIns="190500" rIns="190500"/>
            <a:lstStyle/>
            <a:p>
              <a:pPr algn="l">
                <a:lnSpc>
                  <a:spcPts val="2100"/>
                </a:lnSpc>
              </a:pPr>
              <a:r>
                <a:rPr lang="en-US" sz="1500">
                  <a:solidFill>
                    <a:srgbClr val="0D0F26"/>
                  </a:solidFill>
                  <a:latin typeface="JetBrains Mono"/>
                  <a:ea typeface="JetBrains Mono"/>
                  <a:cs typeface="JetBrains Mono"/>
                  <a:sym typeface="JetBrains Mono"/>
                </a:rPr>
                <a:t>·</a:t>
              </a:r>
            </a:p>
          </p:txBody>
        </p:sp>
      </p:grpSp>
      <p:sp>
        <p:nvSpPr>
          <p:cNvPr name="AutoShape 44" id="44"/>
          <p:cNvSpPr/>
          <p:nvPr/>
        </p:nvSpPr>
        <p:spPr>
          <a:xfrm rot="0">
            <a:off x="5441252" y="4648200"/>
            <a:ext cx="19050" cy="533400"/>
          </a:xfrm>
          <a:prstGeom prst="rect">
            <a:avLst/>
          </a:prstGeom>
          <a:solidFill>
            <a:srgbClr val="0D0F26"/>
          </a:solidFill>
        </p:spPr>
      </p:sp>
      <p:sp>
        <p:nvSpPr>
          <p:cNvPr name="AutoShape 45" id="45"/>
          <p:cNvSpPr/>
          <p:nvPr/>
        </p:nvSpPr>
        <p:spPr>
          <a:xfrm rot="0">
            <a:off x="3924300" y="6048375"/>
            <a:ext cx="12801600" cy="533400"/>
          </a:xfrm>
          <a:prstGeom prst="rect">
            <a:avLst/>
          </a:prstGeom>
          <a:solidFill>
            <a:srgbClr val="FFFFFF">
              <a:alpha val="5882"/>
            </a:srgbClr>
          </a:solidFill>
        </p:spPr>
      </p:sp>
      <p:grpSp>
        <p:nvGrpSpPr>
          <p:cNvPr name="Group 46" id="46"/>
          <p:cNvGrpSpPr/>
          <p:nvPr/>
        </p:nvGrpSpPr>
        <p:grpSpPr>
          <a:xfrm rot="0">
            <a:off x="3924300" y="6048375"/>
            <a:ext cx="639985" cy="533400"/>
            <a:chOff x="0" y="0"/>
            <a:chExt cx="853313" cy="711200"/>
          </a:xfrm>
        </p:grpSpPr>
        <p:sp>
          <p:nvSpPr>
            <p:cNvPr name="Freeform 47" id="47"/>
            <p:cNvSpPr/>
            <p:nvPr/>
          </p:nvSpPr>
          <p:spPr>
            <a:xfrm flipH="false" flipV="false" rot="0">
              <a:off x="0" y="0"/>
              <a:ext cx="853313" cy="711200"/>
            </a:xfrm>
            <a:custGeom>
              <a:avLst/>
              <a:gdLst/>
              <a:ahLst/>
              <a:cxnLst/>
              <a:rect r="r" b="b" t="t" l="l"/>
              <a:pathLst>
                <a:path h="711200" w="853313">
                  <a:moveTo>
                    <a:pt x="0" y="0"/>
                  </a:moveTo>
                  <a:lnTo>
                    <a:pt x="853313" y="0"/>
                  </a:lnTo>
                  <a:lnTo>
                    <a:pt x="853313" y="711200"/>
                  </a:lnTo>
                  <a:lnTo>
                    <a:pt x="0" y="711200"/>
                  </a:lnTo>
                  <a:lnTo>
                    <a:pt x="0" y="0"/>
                  </a:lnTo>
                  <a:close/>
                </a:path>
              </a:pathLst>
            </a:custGeom>
            <a:solidFill>
              <a:srgbClr val="F0C24A"/>
            </a:solidFill>
          </p:spPr>
        </p:sp>
        <p:sp>
          <p:nvSpPr>
            <p:cNvPr name="TextBox 48" id="48"/>
            <p:cNvSpPr txBox="true"/>
            <p:nvPr/>
          </p:nvSpPr>
          <p:spPr>
            <a:xfrm>
              <a:off x="0" y="-38100"/>
              <a:ext cx="853313" cy="749300"/>
            </a:xfrm>
            <a:prstGeom prst="rect">
              <a:avLst/>
            </a:prstGeom>
          </p:spPr>
          <p:txBody>
            <a:bodyPr anchor="ctr" rtlCol="false" tIns="190500" lIns="190500" bIns="190500" rIns="190500"/>
            <a:lstStyle/>
            <a:p>
              <a:pPr algn="l">
                <a:lnSpc>
                  <a:spcPts val="2100"/>
                </a:lnSpc>
              </a:pPr>
              <a:r>
                <a:rPr lang="en-US" b="true" sz="1500">
                  <a:solidFill>
                    <a:srgbClr val="0D0F26"/>
                  </a:solidFill>
                  <a:latin typeface="JetBrains Mono Bold"/>
                  <a:ea typeface="JetBrains Mono Bold"/>
                  <a:cs typeface="JetBrains Mono Bold"/>
                  <a:sym typeface="JetBrains Mono Bold"/>
                </a:rPr>
                <a:t>click</a:t>
              </a:r>
            </a:p>
          </p:txBody>
        </p:sp>
      </p:grpSp>
      <p:sp>
        <p:nvSpPr>
          <p:cNvPr name="AutoShape 49" id="49"/>
          <p:cNvSpPr/>
          <p:nvPr/>
        </p:nvSpPr>
        <p:spPr>
          <a:xfrm rot="0">
            <a:off x="4545235" y="6048375"/>
            <a:ext cx="19050" cy="533400"/>
          </a:xfrm>
          <a:prstGeom prst="rect">
            <a:avLst/>
          </a:prstGeom>
          <a:solidFill>
            <a:srgbClr val="0D0F26"/>
          </a:solidFill>
        </p:spPr>
      </p:sp>
      <p:sp>
        <p:nvSpPr>
          <p:cNvPr name="AutoShape 50" id="50"/>
          <p:cNvSpPr/>
          <p:nvPr/>
        </p:nvSpPr>
        <p:spPr>
          <a:xfrm rot="0">
            <a:off x="4564285" y="6048375"/>
            <a:ext cx="7680865" cy="533400"/>
          </a:xfrm>
          <a:prstGeom prst="rect">
            <a:avLst/>
          </a:prstGeom>
          <a:solidFill>
            <a:srgbClr val="C8CEF5">
              <a:alpha val="49804"/>
            </a:srgbClr>
          </a:solidFill>
        </p:spPr>
      </p:sp>
      <p:sp>
        <p:nvSpPr>
          <p:cNvPr name="AutoShape 51" id="51"/>
          <p:cNvSpPr/>
          <p:nvPr/>
        </p:nvSpPr>
        <p:spPr>
          <a:xfrm rot="0">
            <a:off x="12226100" y="6048375"/>
            <a:ext cx="19050" cy="533400"/>
          </a:xfrm>
          <a:prstGeom prst="rect">
            <a:avLst/>
          </a:prstGeom>
          <a:solidFill>
            <a:srgbClr val="0D0F26"/>
          </a:solidFill>
        </p:spPr>
      </p:sp>
      <p:sp>
        <p:nvSpPr>
          <p:cNvPr name="TextBox 52" id="52"/>
          <p:cNvSpPr txBox="true"/>
          <p:nvPr/>
        </p:nvSpPr>
        <p:spPr>
          <a:xfrm rot="0">
            <a:off x="4564285" y="6029325"/>
            <a:ext cx="7680865" cy="552450"/>
          </a:xfrm>
          <a:prstGeom prst="rect">
            <a:avLst/>
          </a:prstGeom>
        </p:spPr>
        <p:txBody>
          <a:bodyPr anchor="t" rtlCol="false" tIns="0" lIns="0" bIns="0" rIns="0">
            <a:spAutoFit/>
          </a:bodyPr>
          <a:lstStyle/>
          <a:p>
            <a:pPr algn="l">
              <a:lnSpc>
                <a:spcPts val="1889"/>
              </a:lnSpc>
            </a:pPr>
            <a:r>
              <a:rPr lang="en-US" b="true" sz="1350">
                <a:gradFill>
                  <a:gsLst>
                    <a:gs pos="0">
                      <a:srgbClr val="0D0F26">
                        <a:alpha val="82000"/>
                      </a:srgbClr>
                    </a:gs>
                    <a:gs pos="100000">
                      <a:srgbClr val="0D0F26">
                        <a:alpha val="82000"/>
                      </a:srgbClr>
                    </a:gs>
                  </a:gsLst>
                  <a:lin ang="16200000"/>
                </a:gradFill>
                <a:latin typeface="JetBrains Mono Medium"/>
                <a:ea typeface="JetBrains Mono Medium"/>
                <a:cs typeface="JetBrains Mono Medium"/>
                <a:sym typeface="JetBrains Mono Medium"/>
              </a:rPr>
              <a:t>Update Blocked · main thread busy</a:t>
            </a:r>
          </a:p>
        </p:txBody>
      </p:sp>
      <p:grpSp>
        <p:nvGrpSpPr>
          <p:cNvPr name="Group 53" id="53"/>
          <p:cNvGrpSpPr/>
          <p:nvPr/>
        </p:nvGrpSpPr>
        <p:grpSpPr>
          <a:xfrm rot="0">
            <a:off x="12245150" y="6048375"/>
            <a:ext cx="2816257" cy="533400"/>
            <a:chOff x="0" y="0"/>
            <a:chExt cx="3755009" cy="711200"/>
          </a:xfrm>
        </p:grpSpPr>
        <p:sp>
          <p:nvSpPr>
            <p:cNvPr name="Freeform 54" id="54"/>
            <p:cNvSpPr/>
            <p:nvPr/>
          </p:nvSpPr>
          <p:spPr>
            <a:xfrm flipH="false" flipV="false" rot="0">
              <a:off x="0" y="0"/>
              <a:ext cx="3755009" cy="711200"/>
            </a:xfrm>
            <a:custGeom>
              <a:avLst/>
              <a:gdLst/>
              <a:ahLst/>
              <a:cxnLst/>
              <a:rect r="r" b="b" t="t" l="l"/>
              <a:pathLst>
                <a:path h="711200" w="3755009">
                  <a:moveTo>
                    <a:pt x="0" y="0"/>
                  </a:moveTo>
                  <a:lnTo>
                    <a:pt x="3755009" y="0"/>
                  </a:lnTo>
                  <a:lnTo>
                    <a:pt x="3755009" y="711200"/>
                  </a:lnTo>
                  <a:lnTo>
                    <a:pt x="0" y="711200"/>
                  </a:lnTo>
                  <a:lnTo>
                    <a:pt x="0" y="0"/>
                  </a:lnTo>
                  <a:close/>
                </a:path>
              </a:pathLst>
            </a:custGeom>
            <a:solidFill>
              <a:srgbClr val="C8CEF5"/>
            </a:solidFill>
          </p:spPr>
        </p:sp>
        <p:sp>
          <p:nvSpPr>
            <p:cNvPr name="TextBox 55" id="55"/>
            <p:cNvSpPr txBox="true"/>
            <p:nvPr/>
          </p:nvSpPr>
          <p:spPr>
            <a:xfrm>
              <a:off x="0" y="-38100"/>
              <a:ext cx="3755009" cy="749300"/>
            </a:xfrm>
            <a:prstGeom prst="rect">
              <a:avLst/>
            </a:prstGeom>
          </p:spPr>
          <p:txBody>
            <a:bodyPr anchor="ctr" rtlCol="false" tIns="190500" lIns="190500" bIns="190500" rIns="190500"/>
            <a:lstStyle/>
            <a:p>
              <a:pPr algn="l">
                <a:lnSpc>
                  <a:spcPts val="2100"/>
                </a:lnSpc>
              </a:pPr>
              <a:r>
                <a:rPr lang="en-US" sz="1500">
                  <a:solidFill>
                    <a:srgbClr val="0D0F26"/>
                  </a:solidFill>
                  <a:latin typeface="JetBrains Mono"/>
                  <a:ea typeface="JetBrains Mono"/>
                  <a:cs typeface="JetBrains Mono"/>
                  <a:sym typeface="JetBrains Mono"/>
                </a:rPr>
                <a:t>Render · 220 ms</a:t>
              </a:r>
            </a:p>
          </p:txBody>
        </p:sp>
      </p:grpSp>
      <p:sp>
        <p:nvSpPr>
          <p:cNvPr name="AutoShape 56" id="56"/>
          <p:cNvSpPr/>
          <p:nvPr/>
        </p:nvSpPr>
        <p:spPr>
          <a:xfrm rot="0">
            <a:off x="15042356" y="6048375"/>
            <a:ext cx="19050" cy="533400"/>
          </a:xfrm>
          <a:prstGeom prst="rect">
            <a:avLst/>
          </a:prstGeom>
          <a:solidFill>
            <a:srgbClr val="0D0F26"/>
          </a:solidFill>
        </p:spPr>
      </p:sp>
      <p:grpSp>
        <p:nvGrpSpPr>
          <p:cNvPr name="Group 57" id="57"/>
          <p:cNvGrpSpPr/>
          <p:nvPr/>
        </p:nvGrpSpPr>
        <p:grpSpPr>
          <a:xfrm rot="0">
            <a:off x="15061406" y="6048375"/>
            <a:ext cx="896112" cy="533400"/>
            <a:chOff x="0" y="0"/>
            <a:chExt cx="1194816" cy="711200"/>
          </a:xfrm>
        </p:grpSpPr>
        <p:sp>
          <p:nvSpPr>
            <p:cNvPr name="Freeform 58" id="58"/>
            <p:cNvSpPr/>
            <p:nvPr/>
          </p:nvSpPr>
          <p:spPr>
            <a:xfrm flipH="false" flipV="false" rot="0">
              <a:off x="0" y="0"/>
              <a:ext cx="1194816" cy="711200"/>
            </a:xfrm>
            <a:custGeom>
              <a:avLst/>
              <a:gdLst/>
              <a:ahLst/>
              <a:cxnLst/>
              <a:rect r="r" b="b" t="t" l="l"/>
              <a:pathLst>
                <a:path h="711200" w="1194816">
                  <a:moveTo>
                    <a:pt x="0" y="0"/>
                  </a:moveTo>
                  <a:lnTo>
                    <a:pt x="1194816" y="0"/>
                  </a:lnTo>
                  <a:lnTo>
                    <a:pt x="1194816" y="711200"/>
                  </a:lnTo>
                  <a:lnTo>
                    <a:pt x="0" y="711200"/>
                  </a:lnTo>
                  <a:lnTo>
                    <a:pt x="0" y="0"/>
                  </a:lnTo>
                  <a:close/>
                </a:path>
              </a:pathLst>
            </a:custGeom>
            <a:solidFill>
              <a:srgbClr val="FFFFFF"/>
            </a:solidFill>
          </p:spPr>
        </p:sp>
        <p:sp>
          <p:nvSpPr>
            <p:cNvPr name="TextBox 59" id="59"/>
            <p:cNvSpPr txBox="true"/>
            <p:nvPr/>
          </p:nvSpPr>
          <p:spPr>
            <a:xfrm>
              <a:off x="0" y="-38100"/>
              <a:ext cx="1194816" cy="749300"/>
            </a:xfrm>
            <a:prstGeom prst="rect">
              <a:avLst/>
            </a:prstGeom>
          </p:spPr>
          <p:txBody>
            <a:bodyPr anchor="ctr" rtlCol="false" tIns="190500" lIns="190500" bIns="190500" rIns="190500"/>
            <a:lstStyle/>
            <a:p>
              <a:pPr algn="l">
                <a:lnSpc>
                  <a:spcPts val="2100"/>
                </a:lnSpc>
              </a:pPr>
              <a:r>
                <a:rPr lang="en-US" sz="1500">
                  <a:solidFill>
                    <a:srgbClr val="0D0F26"/>
                  </a:solidFill>
                  <a:latin typeface="JetBrains Mono"/>
                  <a:ea typeface="JetBrains Mono"/>
                  <a:cs typeface="JetBrains Mono"/>
                  <a:sym typeface="JetBrains Mono"/>
                </a:rPr>
                <a:t>Commit</a:t>
              </a:r>
            </a:p>
          </p:txBody>
        </p:sp>
      </p:grpSp>
      <p:sp>
        <p:nvSpPr>
          <p:cNvPr name="AutoShape 60" id="60"/>
          <p:cNvSpPr/>
          <p:nvPr/>
        </p:nvSpPr>
        <p:spPr>
          <a:xfrm rot="0">
            <a:off x="15938468" y="6048375"/>
            <a:ext cx="19050" cy="533400"/>
          </a:xfrm>
          <a:prstGeom prst="rect">
            <a:avLst/>
          </a:prstGeom>
          <a:solidFill>
            <a:srgbClr val="0D0F26"/>
          </a:solidFill>
        </p:spPr>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FFF"/>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6302323" y="833438"/>
            <a:ext cx="842677"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24 / 26</a:t>
            </a:r>
          </a:p>
        </p:txBody>
      </p:sp>
      <p:sp>
        <p:nvSpPr>
          <p:cNvPr name="TextBox 6" id="6"/>
          <p:cNvSpPr txBox="true"/>
          <p:nvPr/>
        </p:nvSpPr>
        <p:spPr>
          <a:xfrm rot="0">
            <a:off x="1143000" y="1952625"/>
            <a:ext cx="160020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TOOL 04 · THE API</a:t>
            </a:r>
          </a:p>
        </p:txBody>
      </p:sp>
      <p:sp>
        <p:nvSpPr>
          <p:cNvPr name="AutoShape 7" id="7"/>
          <p:cNvSpPr/>
          <p:nvPr/>
        </p:nvSpPr>
        <p:spPr>
          <a:xfrm rot="0">
            <a:off x="1143000" y="2381250"/>
            <a:ext cx="6729889" cy="1209675"/>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8" id="8"/>
          <p:cNvSpPr txBox="true"/>
          <p:nvPr/>
        </p:nvSpPr>
        <p:spPr>
          <a:xfrm rot="0">
            <a:off x="1143000" y="2667000"/>
            <a:ext cx="16002000" cy="781050"/>
          </a:xfrm>
          <a:prstGeom prst="rect">
            <a:avLst/>
          </a:prstGeom>
        </p:spPr>
        <p:txBody>
          <a:bodyPr anchor="t" rtlCol="false" tIns="0" lIns="0" bIns="0" rIns="0">
            <a:spAutoFit/>
          </a:bodyPr>
          <a:lstStyle/>
          <a:p>
            <a:pPr algn="l">
              <a:lnSpc>
                <a:spcPts val="7200"/>
              </a:lnSpc>
            </a:pPr>
            <a:r>
              <a:rPr lang="en-US" b="true" sz="7200" spc="-288">
                <a:solidFill>
                  <a:srgbClr val="0D0F26"/>
                </a:solidFill>
                <a:latin typeface="JetBrains Mono Bold"/>
                <a:ea typeface="JetBrains Mono Bold"/>
                <a:cs typeface="JetBrains Mono Bold"/>
                <a:sym typeface="JetBrains Mono Bold"/>
              </a:rPr>
              <a:t>useTransition</a:t>
            </a:r>
          </a:p>
        </p:txBody>
      </p:sp>
      <p:sp>
        <p:nvSpPr>
          <p:cNvPr name="TextBox 9" id="9"/>
          <p:cNvSpPr txBox="true"/>
          <p:nvPr/>
        </p:nvSpPr>
        <p:spPr>
          <a:xfrm rot="0">
            <a:off x="1143000" y="3724275"/>
            <a:ext cx="14287500" cy="367570"/>
          </a:xfrm>
          <a:prstGeom prst="rect">
            <a:avLst/>
          </a:prstGeom>
        </p:spPr>
        <p:txBody>
          <a:bodyPr anchor="t" rtlCol="false" tIns="0" lIns="0" bIns="0" rIns="0">
            <a:spAutoFit/>
          </a:bodyPr>
          <a:lstStyle/>
          <a:p>
            <a:pPr algn="l">
              <a:lnSpc>
                <a:spcPts val="2970"/>
              </a:lnSpc>
            </a:pPr>
            <a:r>
              <a:rPr lang="en-US" sz="2700" spc="-27">
                <a:solidFill>
                  <a:srgbClr val="0D0F26"/>
                </a:solidFill>
                <a:latin typeface="Arimo"/>
                <a:ea typeface="Arimo"/>
                <a:cs typeface="Arimo"/>
                <a:sym typeface="Arimo"/>
              </a:rPr>
              <a:t>Tell React: "this update is less important. If you're busy, do it later — or drop it."</a:t>
            </a:r>
          </a:p>
        </p:txBody>
      </p:sp>
      <p:sp>
        <p:nvSpPr>
          <p:cNvPr name="AutoShape 10" id="10"/>
          <p:cNvSpPr/>
          <p:nvPr/>
        </p:nvSpPr>
        <p:spPr>
          <a:xfrm rot="0">
            <a:off x="1143000" y="4472845"/>
            <a:ext cx="14973300" cy="4430363"/>
          </a:xfrm>
          <a:prstGeom prst="rect">
            <a:avLst/>
          </a:prstGeom>
          <a:solidFill>
            <a:srgbClr val="0D0F26"/>
          </a:solidFill>
        </p:spPr>
      </p:sp>
      <p:sp>
        <p:nvSpPr>
          <p:cNvPr name="TextBox 11" id="11"/>
          <p:cNvSpPr txBox="true"/>
          <p:nvPr/>
        </p:nvSpPr>
        <p:spPr>
          <a:xfrm rot="0">
            <a:off x="1143000" y="4415695"/>
            <a:ext cx="14973300" cy="4487513"/>
          </a:xfrm>
          <a:prstGeom prst="rect">
            <a:avLst/>
          </a:prstGeom>
        </p:spPr>
        <p:txBody>
          <a:bodyPr anchor="t" rtlCol="false" tIns="0" lIns="0" bIns="0" rIns="0">
            <a:spAutoFit/>
          </a:bodyPr>
          <a:lstStyle/>
          <a:p>
            <a:pPr algn="l">
              <a:lnSpc>
                <a:spcPts val="2557"/>
              </a:lnSpc>
            </a:pPr>
            <a:r>
              <a:rPr lang="en-US" sz="1650">
                <a:solidFill>
                  <a:srgbClr val="FF7A6D"/>
                </a:solidFill>
                <a:latin typeface="JetBrains Mono"/>
                <a:ea typeface="JetBrains Mono"/>
                <a:cs typeface="JetBrains Mono"/>
                <a:sym typeface="JetBrains Mono"/>
              </a:rPr>
              <a:t>function</a:t>
            </a:r>
            <a:r>
              <a:rPr lang="en-US" sz="1650">
                <a:solidFill>
                  <a:srgbClr val="FFFFFF"/>
                </a:solidFill>
                <a:latin typeface="JetBrains Mono"/>
                <a:ea typeface="JetBrains Mono"/>
                <a:cs typeface="JetBrains Mono"/>
                <a:sym typeface="JetBrains Mono"/>
              </a:rPr>
              <a:t> </a:t>
            </a:r>
            <a:r>
              <a:rPr lang="en-US" sz="1650">
                <a:solidFill>
                  <a:srgbClr val="F8D990"/>
                </a:solidFill>
                <a:latin typeface="JetBrains Mono"/>
                <a:ea typeface="JetBrains Mono"/>
                <a:cs typeface="JetBrains Mono"/>
                <a:sym typeface="JetBrains Mono"/>
              </a:rPr>
              <a:t>VideoList</a:t>
            </a:r>
            <a:r>
              <a:rPr lang="en-US" sz="1650">
                <a:solidFill>
                  <a:srgbClr val="FFFFFF"/>
                </a:solidFill>
                <a:latin typeface="JetBrains Mono"/>
                <a:ea typeface="JetBrains Mono"/>
                <a:cs typeface="JetBrains Mono"/>
                <a:sym typeface="JetBrains Mono"/>
              </a:rPr>
              <a:t>() { </a:t>
            </a:r>
            <a:r>
              <a:rPr lang="en-US" sz="1650">
                <a:solidFill>
                  <a:srgbClr val="FF7A6D"/>
                </a:solidFill>
                <a:latin typeface="JetBrains Mono"/>
                <a:ea typeface="JetBrains Mono"/>
                <a:cs typeface="JetBrains Mono"/>
                <a:sym typeface="JetBrains Mono"/>
              </a:rPr>
              <a:t>const</a:t>
            </a:r>
            <a:r>
              <a:rPr lang="en-US" sz="1650">
                <a:solidFill>
                  <a:srgbClr val="FFFFFF"/>
                </a:solidFill>
                <a:latin typeface="JetBrains Mono"/>
                <a:ea typeface="JetBrains Mono"/>
                <a:cs typeface="JetBrains Mono"/>
                <a:sym typeface="JetBrains Mono"/>
              </a:rPr>
              <a:t> [selected, setSelected] = </a:t>
            </a:r>
            <a:r>
              <a:rPr lang="en-US" sz="1650">
                <a:solidFill>
                  <a:srgbClr val="F8D990"/>
                </a:solidFill>
                <a:latin typeface="JetBrains Mono"/>
                <a:ea typeface="JetBrains Mono"/>
                <a:cs typeface="JetBrains Mono"/>
                <a:sym typeface="JetBrains Mono"/>
              </a:rPr>
              <a:t>useState</a:t>
            </a:r>
            <a:r>
              <a:rPr lang="en-US" sz="1650">
                <a:solidFill>
                  <a:srgbClr val="FFFFFF"/>
                </a:solidFill>
                <a:latin typeface="JetBrains Mono"/>
                <a:ea typeface="JetBrains Mono"/>
                <a:cs typeface="JetBrains Mono"/>
                <a:sym typeface="JetBrains Mono"/>
              </a:rPr>
              <a:t>(</a:t>
            </a:r>
            <a:r>
              <a:rPr lang="en-US" sz="1650">
                <a:solidFill>
                  <a:srgbClr val="FFB46B"/>
                </a:solidFill>
                <a:latin typeface="JetBrains Mono"/>
                <a:ea typeface="JetBrains Mono"/>
                <a:cs typeface="JetBrains Mono"/>
                <a:sym typeface="JetBrains Mono"/>
              </a:rPr>
              <a:t>null</a:t>
            </a:r>
            <a:r>
              <a:rPr lang="en-US" sz="1650">
                <a:solidFill>
                  <a:srgbClr val="FFFFFF"/>
                </a:solidFill>
                <a:latin typeface="JetBrains Mono"/>
                <a:ea typeface="JetBrains Mono"/>
                <a:cs typeface="JetBrains Mono"/>
                <a:sym typeface="JetBrains Mono"/>
              </a:rPr>
              <a:t>); </a:t>
            </a:r>
            <a:r>
              <a:rPr lang="en-US" sz="1650">
                <a:solidFill>
                  <a:srgbClr val="FF7A6D"/>
                </a:solidFill>
                <a:latin typeface="JetBrains Mono"/>
                <a:ea typeface="JetBrains Mono"/>
                <a:cs typeface="JetBrains Mono"/>
                <a:sym typeface="JetBrains Mono"/>
              </a:rPr>
              <a:t>const</a:t>
            </a:r>
            <a:r>
              <a:rPr lang="en-US" sz="1650">
                <a:solidFill>
                  <a:srgbClr val="FFFFFF"/>
                </a:solidFill>
                <a:latin typeface="JetBrains Mono"/>
                <a:ea typeface="JetBrains Mono"/>
                <a:cs typeface="JetBrains Mono"/>
                <a:sym typeface="JetBrains Mono"/>
              </a:rPr>
              <a:t> [details, setDetails ] = </a:t>
            </a:r>
            <a:r>
              <a:rPr lang="en-US" sz="1650">
                <a:solidFill>
                  <a:srgbClr val="F8D990"/>
                </a:solidFill>
                <a:latin typeface="JetBrains Mono"/>
                <a:ea typeface="JetBrains Mono"/>
                <a:cs typeface="JetBrains Mono"/>
                <a:sym typeface="JetBrains Mono"/>
              </a:rPr>
              <a:t>useState</a:t>
            </a:r>
            <a:r>
              <a:rPr lang="en-US" sz="1650">
                <a:solidFill>
                  <a:srgbClr val="FFFFFF"/>
                </a:solidFill>
                <a:latin typeface="JetBrains Mono"/>
                <a:ea typeface="JetBrains Mono"/>
                <a:cs typeface="JetBrains Mono"/>
                <a:sym typeface="JetBrains Mono"/>
              </a:rPr>
              <a:t>(</a:t>
            </a:r>
            <a:r>
              <a:rPr lang="en-US" sz="1650">
                <a:solidFill>
                  <a:srgbClr val="FFB46B"/>
                </a:solidFill>
                <a:latin typeface="JetBrains Mono"/>
                <a:ea typeface="JetBrains Mono"/>
                <a:cs typeface="JetBrains Mono"/>
                <a:sym typeface="JetBrains Mono"/>
              </a:rPr>
              <a:t>null</a:t>
            </a:r>
            <a:r>
              <a:rPr lang="en-US" sz="1650">
                <a:solidFill>
                  <a:srgbClr val="FFFFFF"/>
                </a:solidFill>
                <a:latin typeface="JetBrains Mono"/>
                <a:ea typeface="JetBrains Mono"/>
                <a:cs typeface="JetBrains Mono"/>
                <a:sym typeface="JetBrains Mono"/>
              </a:rPr>
              <a:t>); </a:t>
            </a:r>
            <a:r>
              <a:rPr lang="en-US" sz="1650">
                <a:solidFill>
                  <a:srgbClr val="FF7A6D"/>
                </a:solidFill>
                <a:latin typeface="JetBrains Mono"/>
                <a:ea typeface="JetBrains Mono"/>
                <a:cs typeface="JetBrains Mono"/>
                <a:sym typeface="JetBrains Mono"/>
              </a:rPr>
              <a:t>const</a:t>
            </a:r>
            <a:r>
              <a:rPr lang="en-US" sz="1650">
                <a:solidFill>
                  <a:srgbClr val="FFFFFF"/>
                </a:solidFill>
                <a:latin typeface="JetBrains Mono"/>
                <a:ea typeface="JetBrains Mono"/>
                <a:cs typeface="JetBrains Mono"/>
                <a:sym typeface="JetBrains Mono"/>
              </a:rPr>
              <a:t> [isPending, </a:t>
            </a:r>
            <a:r>
              <a:rPr lang="en-US" sz="1650">
                <a:solidFill>
                  <a:srgbClr val="F8D990"/>
                </a:solidFill>
                <a:latin typeface="JetBrains Mono"/>
                <a:ea typeface="JetBrains Mono"/>
                <a:cs typeface="JetBrains Mono"/>
                <a:sym typeface="JetBrains Mono"/>
              </a:rPr>
              <a:t>startTransition</a:t>
            </a:r>
            <a:r>
              <a:rPr lang="en-US" sz="1650">
                <a:solidFill>
                  <a:srgbClr val="FFFFFF"/>
                </a:solidFill>
                <a:latin typeface="JetBrains Mono"/>
                <a:ea typeface="JetBrains Mono"/>
                <a:cs typeface="JetBrains Mono"/>
                <a:sym typeface="JetBrains Mono"/>
              </a:rPr>
              <a:t>] = </a:t>
            </a:r>
            <a:r>
              <a:rPr lang="en-US" sz="1650">
                <a:solidFill>
                  <a:srgbClr val="F8D990"/>
                </a:solidFill>
                <a:latin typeface="JetBrains Mono"/>
                <a:ea typeface="JetBrains Mono"/>
                <a:cs typeface="JetBrains Mono"/>
                <a:sym typeface="JetBrains Mono"/>
              </a:rPr>
              <a:t>useTransition</a:t>
            </a:r>
            <a:r>
              <a:rPr lang="en-US" sz="1650">
                <a:solidFill>
                  <a:srgbClr val="FFFFFF"/>
                </a:solidFill>
                <a:latin typeface="JetBrains Mono"/>
                <a:ea typeface="JetBrains Mono"/>
                <a:cs typeface="JetBrains Mono"/>
                <a:sym typeface="JetBrains Mono"/>
              </a:rPr>
              <a:t>(); </a:t>
            </a:r>
            <a:r>
              <a:rPr lang="en-US" sz="1650">
                <a:solidFill>
                  <a:srgbClr val="FF7A6D"/>
                </a:solidFill>
                <a:latin typeface="JetBrains Mono"/>
                <a:ea typeface="JetBrains Mono"/>
                <a:cs typeface="JetBrains Mono"/>
                <a:sym typeface="JetBrains Mono"/>
              </a:rPr>
              <a:t>return</a:t>
            </a:r>
            <a:r>
              <a:rPr lang="en-US" sz="1650">
                <a:solidFill>
                  <a:srgbClr val="FFFFFF"/>
                </a:solidFill>
                <a:latin typeface="JetBrains Mono"/>
                <a:ea typeface="JetBrains Mono"/>
                <a:cs typeface="JetBrains Mono"/>
                <a:sym typeface="JetBrains Mono"/>
              </a:rPr>
              <a:t> videos.</a:t>
            </a:r>
            <a:r>
              <a:rPr lang="en-US" sz="1650">
                <a:solidFill>
                  <a:srgbClr val="F8D990"/>
                </a:solidFill>
                <a:latin typeface="JetBrains Mono"/>
                <a:ea typeface="JetBrains Mono"/>
                <a:cs typeface="JetBrains Mono"/>
                <a:sym typeface="JetBrains Mono"/>
              </a:rPr>
              <a:t>map</a:t>
            </a:r>
            <a:r>
              <a:rPr lang="en-US" sz="1650">
                <a:solidFill>
                  <a:srgbClr val="FFFFFF"/>
                </a:solidFill>
                <a:latin typeface="JetBrains Mono"/>
                <a:ea typeface="JetBrains Mono"/>
                <a:cs typeface="JetBrains Mono"/>
                <a:sym typeface="JetBrains Mono"/>
              </a:rPr>
              <a:t>(v =&gt; ( &lt;</a:t>
            </a:r>
            <a:r>
              <a:rPr lang="en-US" sz="1650">
                <a:solidFill>
                  <a:srgbClr val="F8D990"/>
                </a:solidFill>
                <a:latin typeface="JetBrains Mono"/>
                <a:ea typeface="JetBrains Mono"/>
                <a:cs typeface="JetBrains Mono"/>
                <a:sym typeface="JetBrains Mono"/>
              </a:rPr>
              <a:t>Card</a:t>
            </a:r>
            <a:r>
              <a:rPr lang="en-US" sz="1650">
                <a:solidFill>
                  <a:srgbClr val="FFFFFF"/>
                </a:solidFill>
                <a:latin typeface="JetBrains Mono"/>
                <a:ea typeface="JetBrains Mono"/>
                <a:cs typeface="JetBrains Mono"/>
                <a:sym typeface="JetBrains Mono"/>
              </a:rPr>
              <a:t> onClick={() =&gt; { </a:t>
            </a:r>
            <a:r>
              <a:rPr lang="en-US" sz="1650">
                <a:solidFill>
                  <a:srgbClr val="F8D990"/>
                </a:solidFill>
                <a:latin typeface="JetBrains Mono"/>
                <a:ea typeface="JetBrains Mono"/>
                <a:cs typeface="JetBrains Mono"/>
                <a:sym typeface="JetBrains Mono"/>
              </a:rPr>
              <a:t>setSelected</a:t>
            </a:r>
            <a:r>
              <a:rPr lang="en-US" sz="1650">
                <a:solidFill>
                  <a:srgbClr val="FFFFFF"/>
                </a:solidFill>
                <a:latin typeface="JetBrains Mono"/>
                <a:ea typeface="JetBrains Mono"/>
                <a:cs typeface="JetBrains Mono"/>
                <a:sym typeface="JetBrains Mono"/>
              </a:rPr>
              <a:t>(v.id); </a:t>
            </a:r>
            <a:r>
              <a:rPr lang="en-US" sz="1650" i="true">
                <a:solidFill>
                  <a:srgbClr val="6C6C66"/>
                </a:solidFill>
                <a:latin typeface="JetBrains Mono Italics"/>
                <a:ea typeface="JetBrains Mono Italics"/>
                <a:cs typeface="JetBrains Mono Italics"/>
                <a:sym typeface="JetBrains Mono Italics"/>
              </a:rPr>
              <a:t>// urgent · highlights instantly</a:t>
            </a:r>
            <a:r>
              <a:rPr lang="en-US" sz="1650">
                <a:solidFill>
                  <a:srgbClr val="FFFFFF"/>
                </a:solidFill>
                <a:latin typeface="JetBrains Mono"/>
                <a:ea typeface="JetBrains Mono"/>
                <a:cs typeface="JetBrains Mono"/>
                <a:sym typeface="JetBrains Mono"/>
              </a:rPr>
              <a:t> </a:t>
            </a:r>
            <a:r>
              <a:rPr lang="en-US" sz="1650">
                <a:solidFill>
                  <a:srgbClr val="F8D990"/>
                </a:solidFill>
                <a:latin typeface="JetBrains Mono"/>
                <a:ea typeface="JetBrains Mono"/>
                <a:cs typeface="JetBrains Mono"/>
                <a:sym typeface="JetBrains Mono"/>
              </a:rPr>
              <a:t>startTransition</a:t>
            </a:r>
            <a:r>
              <a:rPr lang="en-US" sz="1650">
                <a:solidFill>
                  <a:srgbClr val="FFFFFF"/>
                </a:solidFill>
                <a:latin typeface="JetBrains Mono"/>
                <a:ea typeface="JetBrains Mono"/>
                <a:cs typeface="JetBrains Mono"/>
                <a:sym typeface="JetBrains Mono"/>
              </a:rPr>
              <a:t>(() =&gt; </a:t>
            </a:r>
            <a:r>
              <a:rPr lang="en-US" sz="1650">
                <a:solidFill>
                  <a:srgbClr val="F8D990"/>
                </a:solidFill>
                <a:latin typeface="JetBrains Mono"/>
                <a:ea typeface="JetBrains Mono"/>
                <a:cs typeface="JetBrains Mono"/>
                <a:sym typeface="JetBrains Mono"/>
              </a:rPr>
              <a:t>setDetails</a:t>
            </a:r>
            <a:r>
              <a:rPr lang="en-US" sz="1650">
                <a:solidFill>
                  <a:srgbClr val="FFFFFF"/>
                </a:solidFill>
                <a:latin typeface="JetBrains Mono"/>
                <a:ea typeface="JetBrains Mono"/>
                <a:cs typeface="JetBrains Mono"/>
                <a:sym typeface="JetBrains Mono"/>
              </a:rPr>
              <a:t>(v.id)); </a:t>
            </a:r>
            <a:r>
              <a:rPr lang="en-US" sz="1650" i="true">
                <a:solidFill>
                  <a:srgbClr val="6C6C66"/>
                </a:solidFill>
                <a:latin typeface="JetBrains Mono Italics"/>
                <a:ea typeface="JetBrains Mono Italics"/>
                <a:cs typeface="JetBrains Mono Italics"/>
                <a:sym typeface="JetBrains Mono Italics"/>
              </a:rPr>
              <a:t>// transition · waits its turn</a:t>
            </a:r>
            <a:r>
              <a:rPr lang="en-US" sz="1650">
                <a:solidFill>
                  <a:srgbClr val="FFFFFF"/>
                </a:solidFill>
                <a:latin typeface="JetBrains Mono"/>
                <a:ea typeface="JetBrains Mono"/>
                <a:cs typeface="JetBrains Mono"/>
                <a:sym typeface="JetBrains Mono"/>
              </a:rPr>
              <a:t> }} /&gt; )); }</a:t>
            </a:r>
          </a:p>
        </p:txBody>
      </p:sp>
      <p:sp>
        <p:nvSpPr>
          <p:cNvPr name="AutoShape 12" id="12"/>
          <p:cNvSpPr/>
          <p:nvPr/>
        </p:nvSpPr>
        <p:spPr>
          <a:xfrm rot="0">
            <a:off x="1143000" y="8896350"/>
            <a:ext cx="16002000" cy="9525"/>
          </a:xfrm>
          <a:prstGeom prst="rect">
            <a:avLst/>
          </a:prstGeom>
          <a:solidFill>
            <a:srgbClr val="0D0F26"/>
          </a:solidFill>
        </p:spPr>
      </p:sp>
      <p:sp>
        <p:nvSpPr>
          <p:cNvPr name="TextBox 13" id="13"/>
          <p:cNvSpPr txBox="true"/>
          <p:nvPr/>
        </p:nvSpPr>
        <p:spPr>
          <a:xfrm rot="0">
            <a:off x="1143000" y="9134475"/>
            <a:ext cx="1922431"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03 · YIELD</a:t>
            </a:r>
          </a:p>
        </p:txBody>
      </p:sp>
      <p:sp>
        <p:nvSpPr>
          <p:cNvPr name="TextBox 14" id="14"/>
          <p:cNvSpPr txBox="true"/>
          <p:nvPr/>
        </p:nvSpPr>
        <p:spPr>
          <a:xfrm rot="0">
            <a:off x="12823603" y="9134475"/>
            <a:ext cx="4321397"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URGENT VS NON-URGENT UPDATES</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FFF"/>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6310991" y="833438"/>
            <a:ext cx="834009"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25 / 26</a:t>
            </a:r>
          </a:p>
        </p:txBody>
      </p:sp>
      <p:sp>
        <p:nvSpPr>
          <p:cNvPr name="TextBox 6" id="6"/>
          <p:cNvSpPr txBox="true"/>
          <p:nvPr/>
        </p:nvSpPr>
        <p:spPr>
          <a:xfrm rot="0">
            <a:off x="1143000" y="1952625"/>
            <a:ext cx="16002000" cy="314325"/>
          </a:xfrm>
          <a:prstGeom prst="rect">
            <a:avLst/>
          </a:prstGeom>
        </p:spPr>
        <p:txBody>
          <a:bodyPr anchor="t" rtlCol="false" tIns="0" lIns="0" bIns="0" rIns="0">
            <a:spAutoFit/>
          </a:bodyPr>
          <a:lstStyle/>
          <a:p>
            <a:pPr algn="l">
              <a:lnSpc>
                <a:spcPts val="2520"/>
              </a:lnSpc>
            </a:pPr>
            <a:r>
              <a:rPr lang="en-US" b="true" sz="1800" spc="144">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SAME IDEA · CONSUMER SIDE</a:t>
            </a:r>
          </a:p>
        </p:txBody>
      </p:sp>
      <p:sp>
        <p:nvSpPr>
          <p:cNvPr name="AutoShape 7" id="7"/>
          <p:cNvSpPr/>
          <p:nvPr/>
        </p:nvSpPr>
        <p:spPr>
          <a:xfrm rot="0">
            <a:off x="1143000" y="2362200"/>
            <a:ext cx="9643777" cy="1409700"/>
          </a:xfrm>
          <a:prstGeom prst="rect">
            <a:avLst/>
          </a:prstGeom>
          <a:gradFill rotWithShape="true">
            <a:gsLst>
              <a:gs pos="55000">
                <a:srgbClr val="000000">
                  <a:alpha val="0"/>
                </a:srgbClr>
              </a:gs>
              <a:gs pos="55010">
                <a:srgbClr val="C8CEF5">
                  <a:alpha val="100000"/>
                </a:srgbClr>
              </a:gs>
              <a:gs pos="96000">
                <a:srgbClr val="C8CEF5">
                  <a:alpha val="100000"/>
                </a:srgbClr>
              </a:gs>
              <a:gs pos="96010">
                <a:srgbClr val="000000">
                  <a:alpha val="0"/>
                </a:srgbClr>
              </a:gs>
            </a:gsLst>
            <a:lin ang="5400000"/>
          </a:gradFill>
        </p:spPr>
      </p:sp>
      <p:sp>
        <p:nvSpPr>
          <p:cNvPr name="TextBox 8" id="8"/>
          <p:cNvSpPr txBox="true"/>
          <p:nvPr/>
        </p:nvSpPr>
        <p:spPr>
          <a:xfrm rot="0">
            <a:off x="1143000" y="2695575"/>
            <a:ext cx="16002000" cy="904875"/>
          </a:xfrm>
          <a:prstGeom prst="rect">
            <a:avLst/>
          </a:prstGeom>
        </p:spPr>
        <p:txBody>
          <a:bodyPr anchor="t" rtlCol="false" tIns="0" lIns="0" bIns="0" rIns="0">
            <a:spAutoFit/>
          </a:bodyPr>
          <a:lstStyle/>
          <a:p>
            <a:pPr algn="l">
              <a:lnSpc>
                <a:spcPts val="8400"/>
              </a:lnSpc>
            </a:pPr>
            <a:r>
              <a:rPr lang="en-US" b="true" sz="8400" spc="-336">
                <a:solidFill>
                  <a:srgbClr val="0D0F26"/>
                </a:solidFill>
                <a:latin typeface="JetBrains Mono Bold"/>
                <a:ea typeface="JetBrains Mono Bold"/>
                <a:cs typeface="JetBrains Mono Bold"/>
                <a:sym typeface="JetBrains Mono Bold"/>
              </a:rPr>
              <a:t>useDeferredValue</a:t>
            </a:r>
          </a:p>
        </p:txBody>
      </p:sp>
      <p:sp>
        <p:nvSpPr>
          <p:cNvPr name="TextBox 9" id="9"/>
          <p:cNvSpPr txBox="true"/>
          <p:nvPr/>
        </p:nvSpPr>
        <p:spPr>
          <a:xfrm rot="0">
            <a:off x="1143000" y="3876675"/>
            <a:ext cx="14287500" cy="493395"/>
          </a:xfrm>
          <a:prstGeom prst="rect">
            <a:avLst/>
          </a:prstGeom>
        </p:spPr>
        <p:txBody>
          <a:bodyPr anchor="t" rtlCol="false" tIns="0" lIns="0" bIns="0" rIns="0">
            <a:spAutoFit/>
          </a:bodyPr>
          <a:lstStyle/>
          <a:p>
            <a:pPr algn="l">
              <a:lnSpc>
                <a:spcPts val="3960"/>
              </a:lnSpc>
            </a:pPr>
            <a:r>
              <a:rPr lang="en-US" sz="3600" spc="-36">
                <a:solidFill>
                  <a:srgbClr val="0D0F26"/>
                </a:solidFill>
                <a:latin typeface="Arimo"/>
                <a:ea typeface="Arimo"/>
                <a:cs typeface="Arimo"/>
                <a:sym typeface="Arimo"/>
              </a:rPr>
              <a:t>Let the expensive subtree downstream re-render at its own pace.</a:t>
            </a:r>
          </a:p>
        </p:txBody>
      </p:sp>
      <p:sp>
        <p:nvSpPr>
          <p:cNvPr name="TextBox 10" id="10"/>
          <p:cNvSpPr txBox="true"/>
          <p:nvPr/>
        </p:nvSpPr>
        <p:spPr>
          <a:xfrm rot="0">
            <a:off x="1143000" y="7734300"/>
            <a:ext cx="16002000" cy="628650"/>
          </a:xfrm>
          <a:prstGeom prst="rect">
            <a:avLst/>
          </a:prstGeom>
        </p:spPr>
        <p:txBody>
          <a:bodyPr anchor="t" rtlCol="false" tIns="0" lIns="0" bIns="0" rIns="0">
            <a:spAutoFit/>
          </a:bodyPr>
          <a:lstStyle/>
          <a:p>
            <a:pPr algn="l">
              <a:lnSpc>
                <a:spcPts val="2925"/>
              </a:lnSpc>
            </a:pPr>
            <a:r>
              <a:rPr lang="en-US" sz="1950">
                <a:gradFill>
                  <a:gsLst>
                    <a:gs pos="0">
                      <a:srgbClr val="0D0F26">
                        <a:alpha val="55000"/>
                      </a:srgbClr>
                    </a:gs>
                    <a:gs pos="100000">
                      <a:srgbClr val="0D0F26">
                        <a:alpha val="55000"/>
                      </a:srgbClr>
                    </a:gs>
                  </a:gsLst>
                  <a:lin ang="16200000"/>
                </a:gradFill>
                <a:latin typeface="Inter"/>
                <a:ea typeface="Inter"/>
                <a:cs typeface="Inter"/>
                <a:sym typeface="Inter"/>
              </a:rPr>
              <a:t>Useful when you don't own the state update site.</a:t>
            </a:r>
          </a:p>
        </p:txBody>
      </p:sp>
      <p:sp>
        <p:nvSpPr>
          <p:cNvPr name="AutoShape 11" id="11"/>
          <p:cNvSpPr/>
          <p:nvPr/>
        </p:nvSpPr>
        <p:spPr>
          <a:xfrm rot="0">
            <a:off x="1143000" y="8896350"/>
            <a:ext cx="16002000" cy="9525"/>
          </a:xfrm>
          <a:prstGeom prst="rect">
            <a:avLst/>
          </a:prstGeom>
          <a:solidFill>
            <a:srgbClr val="0D0F26"/>
          </a:solidFill>
        </p:spPr>
      </p:sp>
      <p:sp>
        <p:nvSpPr>
          <p:cNvPr name="TextBox 12" id="12"/>
          <p:cNvSpPr txBox="true"/>
          <p:nvPr/>
        </p:nvSpPr>
        <p:spPr>
          <a:xfrm rot="0">
            <a:off x="1143000" y="9134475"/>
            <a:ext cx="1922431"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PART 03 · YIELD</a:t>
            </a:r>
          </a:p>
        </p:txBody>
      </p:sp>
      <p:sp>
        <p:nvSpPr>
          <p:cNvPr name="TextBox 13" id="13"/>
          <p:cNvSpPr txBox="true"/>
          <p:nvPr/>
        </p:nvSpPr>
        <p:spPr>
          <a:xfrm rot="0">
            <a:off x="15125128" y="9134475"/>
            <a:ext cx="2019872"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CONSUMER SIDE</a:t>
            </a:r>
          </a:p>
        </p:txBody>
      </p:sp>
      <p:sp>
        <p:nvSpPr>
          <p:cNvPr name="AutoShape 14" id="14"/>
          <p:cNvSpPr/>
          <p:nvPr/>
        </p:nvSpPr>
        <p:spPr>
          <a:xfrm rot="0">
            <a:off x="1143000" y="4789170"/>
            <a:ext cx="11315700" cy="2102644"/>
          </a:xfrm>
          <a:prstGeom prst="rect">
            <a:avLst/>
          </a:prstGeom>
          <a:solidFill>
            <a:srgbClr val="0D0F26"/>
          </a:solidFill>
        </p:spPr>
      </p:sp>
      <p:sp>
        <p:nvSpPr>
          <p:cNvPr name="TextBox 15" id="15"/>
          <p:cNvSpPr txBox="true"/>
          <p:nvPr/>
        </p:nvSpPr>
        <p:spPr>
          <a:xfrm rot="0">
            <a:off x="1143000" y="4732020"/>
            <a:ext cx="11315700" cy="2159794"/>
          </a:xfrm>
          <a:prstGeom prst="rect">
            <a:avLst/>
          </a:prstGeom>
        </p:spPr>
        <p:txBody>
          <a:bodyPr anchor="t" rtlCol="false" tIns="0" lIns="0" bIns="0" rIns="0">
            <a:spAutoFit/>
          </a:bodyPr>
          <a:lstStyle/>
          <a:p>
            <a:pPr algn="l">
              <a:lnSpc>
                <a:spcPts val="2790"/>
              </a:lnSpc>
            </a:pPr>
            <a:r>
              <a:rPr lang="en-US" sz="1800">
                <a:solidFill>
                  <a:srgbClr val="FF7A6D"/>
                </a:solidFill>
                <a:latin typeface="JetBrains Mono"/>
                <a:ea typeface="JetBrains Mono"/>
                <a:cs typeface="JetBrains Mono"/>
                <a:sym typeface="JetBrains Mono"/>
              </a:rPr>
              <a:t>function</a:t>
            </a:r>
            <a:r>
              <a:rPr lang="en-US" sz="1800">
                <a:solidFill>
                  <a:srgbClr val="FFFFFF"/>
                </a:solidFill>
                <a:latin typeface="JetBrains Mono"/>
                <a:ea typeface="JetBrains Mono"/>
                <a:cs typeface="JetBrains Mono"/>
                <a:sym typeface="JetBrains Mono"/>
              </a:rPr>
              <a:t> </a:t>
            </a:r>
            <a:r>
              <a:rPr lang="en-US" sz="1800">
                <a:solidFill>
                  <a:srgbClr val="F8D990"/>
                </a:solidFill>
                <a:latin typeface="JetBrains Mono"/>
                <a:ea typeface="JetBrains Mono"/>
                <a:cs typeface="JetBrains Mono"/>
                <a:sym typeface="JetBrains Mono"/>
              </a:rPr>
              <a:t>Results</a:t>
            </a:r>
            <a:r>
              <a:rPr lang="en-US" sz="1800">
                <a:solidFill>
                  <a:srgbClr val="FFFFFF"/>
                </a:solidFill>
                <a:latin typeface="JetBrains Mono"/>
                <a:ea typeface="JetBrains Mono"/>
                <a:cs typeface="JetBrains Mono"/>
                <a:sym typeface="JetBrains Mono"/>
              </a:rPr>
              <a:t>({ query }) { </a:t>
            </a:r>
            <a:r>
              <a:rPr lang="en-US" sz="1800">
                <a:solidFill>
                  <a:srgbClr val="FF7A6D"/>
                </a:solidFill>
                <a:latin typeface="JetBrains Mono"/>
                <a:ea typeface="JetBrains Mono"/>
                <a:cs typeface="JetBrains Mono"/>
                <a:sym typeface="JetBrains Mono"/>
              </a:rPr>
              <a:t>const</a:t>
            </a:r>
            <a:r>
              <a:rPr lang="en-US" sz="1800">
                <a:solidFill>
                  <a:srgbClr val="FFFFFF"/>
                </a:solidFill>
                <a:latin typeface="JetBrains Mono"/>
                <a:ea typeface="JetBrains Mono"/>
                <a:cs typeface="JetBrains Mono"/>
                <a:sym typeface="JetBrains Mono"/>
              </a:rPr>
              <a:t> deferred = </a:t>
            </a:r>
            <a:r>
              <a:rPr lang="en-US" sz="1800">
                <a:solidFill>
                  <a:srgbClr val="F8D990"/>
                </a:solidFill>
                <a:latin typeface="JetBrains Mono"/>
                <a:ea typeface="JetBrains Mono"/>
                <a:cs typeface="JetBrains Mono"/>
                <a:sym typeface="JetBrains Mono"/>
              </a:rPr>
              <a:t>useDeferredValue</a:t>
            </a:r>
            <a:r>
              <a:rPr lang="en-US" sz="1800">
                <a:solidFill>
                  <a:srgbClr val="FFFFFF"/>
                </a:solidFill>
                <a:latin typeface="JetBrains Mono"/>
                <a:ea typeface="JetBrains Mono"/>
                <a:cs typeface="JetBrains Mono"/>
                <a:sym typeface="JetBrains Mono"/>
              </a:rPr>
              <a:t>(query); </a:t>
            </a:r>
            <a:r>
              <a:rPr lang="en-US" sz="1800">
                <a:solidFill>
                  <a:srgbClr val="FF7A6D"/>
                </a:solidFill>
                <a:latin typeface="JetBrains Mono"/>
                <a:ea typeface="JetBrains Mono"/>
                <a:cs typeface="JetBrains Mono"/>
                <a:sym typeface="JetBrains Mono"/>
              </a:rPr>
              <a:t>return</a:t>
            </a:r>
            <a:r>
              <a:rPr lang="en-US" sz="1800">
                <a:solidFill>
                  <a:srgbClr val="FFFFFF"/>
                </a:solidFill>
                <a:latin typeface="JetBrains Mono"/>
                <a:ea typeface="JetBrains Mono"/>
                <a:cs typeface="JetBrains Mono"/>
                <a:sym typeface="JetBrains Mono"/>
              </a:rPr>
              <a:t> &lt;</a:t>
            </a:r>
            <a:r>
              <a:rPr lang="en-US" sz="1800">
                <a:solidFill>
                  <a:srgbClr val="F8D990"/>
                </a:solidFill>
                <a:latin typeface="JetBrains Mono"/>
                <a:ea typeface="JetBrains Mono"/>
                <a:cs typeface="JetBrains Mono"/>
                <a:sym typeface="JetBrains Mono"/>
              </a:rPr>
              <a:t>HeavyList</a:t>
            </a:r>
            <a:r>
              <a:rPr lang="en-US" sz="1800">
                <a:solidFill>
                  <a:srgbClr val="FFFFFF"/>
                </a:solidFill>
                <a:latin typeface="JetBrains Mono"/>
                <a:ea typeface="JetBrains Mono"/>
                <a:cs typeface="JetBrains Mono"/>
                <a:sym typeface="JetBrains Mono"/>
              </a:rPr>
              <a:t> filter={deferred} /&gt;; }</a:t>
            </a:r>
          </a:p>
        </p:txBody>
      </p:sp>
      <p:sp>
        <p:nvSpPr>
          <p:cNvPr name="AutoShape 16" id="16"/>
          <p:cNvSpPr/>
          <p:nvPr/>
        </p:nvSpPr>
        <p:spPr>
          <a:xfrm rot="0">
            <a:off x="1143000" y="7519988"/>
            <a:ext cx="16002000" cy="14288"/>
          </a:xfrm>
          <a:prstGeom prst="rect">
            <a:avLst/>
          </a:prstGeom>
          <a:solidFill>
            <a:srgbClr val="0D0F26"/>
          </a:solidFill>
        </p:spPr>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C8CEF5"/>
          </a:solidFill>
        </p:spPr>
      </p:sp>
      <p:sp>
        <p:nvSpPr>
          <p:cNvPr name="AutoShape 3" id="3"/>
          <p:cNvSpPr/>
          <p:nvPr/>
        </p:nvSpPr>
        <p:spPr>
          <a:xfrm rot="0">
            <a:off x="1143000" y="1447800"/>
            <a:ext cx="16002000" cy="9525"/>
          </a:xfrm>
          <a:prstGeom prst="rect">
            <a:avLst/>
          </a:prstGeom>
          <a:solidFill>
            <a:srgbClr val="0D0F26"/>
          </a:solidFill>
        </p:spPr>
      </p:sp>
      <p:sp>
        <p:nvSpPr>
          <p:cNvPr name="TextBox 4" id="4"/>
          <p:cNvSpPr txBox="true"/>
          <p:nvPr/>
        </p:nvSpPr>
        <p:spPr>
          <a:xfrm rot="0">
            <a:off x="1143000" y="790575"/>
            <a:ext cx="2574703" cy="390525"/>
          </a:xfrm>
          <a:prstGeom prst="rect">
            <a:avLst/>
          </a:prstGeom>
        </p:spPr>
        <p:txBody>
          <a:bodyPr anchor="t" rtlCol="false" tIns="0" lIns="0" bIns="0" rIns="0">
            <a:spAutoFit/>
          </a:bodyPr>
          <a:lstStyle/>
          <a:p>
            <a:pPr algn="l">
              <a:lnSpc>
                <a:spcPts val="2940"/>
              </a:lnSpc>
            </a:pPr>
            <a:r>
              <a:rPr lang="en-US" b="true" sz="2100" spc="-21">
                <a:solidFill>
                  <a:srgbClr val="0D0F26"/>
                </a:solidFill>
                <a:latin typeface="Arimo Bold"/>
                <a:ea typeface="Arimo Bold"/>
                <a:cs typeface="Arimo Bold"/>
                <a:sym typeface="Arimo Bold"/>
              </a:rPr>
              <a:t>Software Mansion</a:t>
            </a:r>
          </a:p>
        </p:txBody>
      </p:sp>
      <p:sp>
        <p:nvSpPr>
          <p:cNvPr name="TextBox 5" id="5"/>
          <p:cNvSpPr txBox="true"/>
          <p:nvPr/>
        </p:nvSpPr>
        <p:spPr>
          <a:xfrm rot="0">
            <a:off x="1143000" y="1943100"/>
            <a:ext cx="3387551" cy="340995"/>
          </a:xfrm>
          <a:prstGeom prst="rect">
            <a:avLst/>
          </a:prstGeom>
        </p:spPr>
        <p:txBody>
          <a:bodyPr anchor="t" rtlCol="false" tIns="0" lIns="0" bIns="0" rIns="0">
            <a:spAutoFit/>
          </a:bodyPr>
          <a:lstStyle/>
          <a:p>
            <a:pPr algn="l">
              <a:lnSpc>
                <a:spcPts val="2729"/>
              </a:lnSpc>
            </a:pPr>
            <a:r>
              <a:rPr lang="en-US" b="true" sz="1950" spc="234">
                <a:gradFill>
                  <a:gsLst>
                    <a:gs pos="0">
                      <a:srgbClr val="0D0F26">
                        <a:alpha val="55000"/>
                      </a:srgbClr>
                    </a:gs>
                    <a:gs pos="100000">
                      <a:srgbClr val="0D0F26">
                        <a:alpha val="55000"/>
                      </a:srgbClr>
                    </a:gs>
                  </a:gsLst>
                  <a:lin ang="16200000"/>
                </a:gradFill>
                <a:latin typeface="Inter Semi-Bold"/>
                <a:ea typeface="Inter Semi-Bold"/>
                <a:cs typeface="Inter Semi-Bold"/>
                <a:sym typeface="Inter Semi-Bold"/>
              </a:rPr>
              <a:t>EXERCISE 04 · PART 01</a:t>
            </a:r>
          </a:p>
        </p:txBody>
      </p:sp>
      <p:sp>
        <p:nvSpPr>
          <p:cNvPr name="TextBox 6" id="6"/>
          <p:cNvSpPr txBox="true"/>
          <p:nvPr/>
        </p:nvSpPr>
        <p:spPr>
          <a:xfrm rot="0">
            <a:off x="1143000" y="3307080"/>
            <a:ext cx="16002000" cy="4053840"/>
          </a:xfrm>
          <a:prstGeom prst="rect">
            <a:avLst/>
          </a:prstGeom>
        </p:spPr>
        <p:txBody>
          <a:bodyPr anchor="t" rtlCol="false" tIns="0" lIns="0" bIns="0" rIns="0">
            <a:spAutoFit/>
          </a:bodyPr>
          <a:lstStyle/>
          <a:p>
            <a:pPr algn="l">
              <a:lnSpc>
                <a:spcPts val="15180"/>
              </a:lnSpc>
            </a:pPr>
            <a:r>
              <a:rPr lang="en-US" b="true" sz="16500" spc="-495">
                <a:solidFill>
                  <a:srgbClr val="0D0F26"/>
                </a:solidFill>
                <a:latin typeface="Arimo Bold"/>
                <a:ea typeface="Arimo Bold"/>
                <a:cs typeface="Arimo Bold"/>
                <a:sym typeface="Arimo Bold"/>
              </a:rPr>
              <a:t>Delay</a:t>
            </a:r>
            <a:r>
              <a:rPr lang="en-US" b="true" sz="16500" spc="-495">
                <a:solidFill>
                  <a:srgbClr val="0D0F26"/>
                </a:solidFill>
                <a:latin typeface="Arimo Bold"/>
                <a:ea typeface="Arimo Bold"/>
                <a:cs typeface="Arimo Bold"/>
                <a:sym typeface="Arimo Bold"/>
              </a:rPr>
              <a:t> it.</a:t>
            </a:r>
          </a:p>
          <a:p>
            <a:pPr algn="l">
              <a:lnSpc>
                <a:spcPts val="15180"/>
              </a:lnSpc>
            </a:pPr>
          </a:p>
        </p:txBody>
      </p:sp>
      <p:sp>
        <p:nvSpPr>
          <p:cNvPr name="AutoShape 7" id="7"/>
          <p:cNvSpPr/>
          <p:nvPr/>
        </p:nvSpPr>
        <p:spPr>
          <a:xfrm rot="0">
            <a:off x="1143000" y="8896350"/>
            <a:ext cx="16002000" cy="9525"/>
          </a:xfrm>
          <a:prstGeom prst="rect">
            <a:avLst/>
          </a:prstGeom>
          <a:solidFill>
            <a:srgbClr val="0D0F26"/>
          </a:solidFill>
        </p:spPr>
      </p:sp>
      <p:sp>
        <p:nvSpPr>
          <p:cNvPr name="TextBox 8" id="8"/>
          <p:cNvSpPr txBox="true"/>
          <p:nvPr/>
        </p:nvSpPr>
        <p:spPr>
          <a:xfrm rot="0">
            <a:off x="1143000" y="9134475"/>
            <a:ext cx="5510498"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SOFTWARE MANSION · REACT PERFORMANCE</a:t>
            </a:r>
          </a:p>
        </p:txBody>
      </p:sp>
      <p:sp>
        <p:nvSpPr>
          <p:cNvPr name="TextBox 9" id="9"/>
          <p:cNvSpPr txBox="true"/>
          <p:nvPr/>
        </p:nvSpPr>
        <p:spPr>
          <a:xfrm rot="0">
            <a:off x="16301276" y="9134475"/>
            <a:ext cx="843724" cy="314325"/>
          </a:xfrm>
          <a:prstGeom prst="rect">
            <a:avLst/>
          </a:prstGeom>
        </p:spPr>
        <p:txBody>
          <a:bodyPr anchor="t" rtlCol="false" tIns="0" lIns="0" bIns="0" rIns="0">
            <a:spAutoFit/>
          </a:bodyPr>
          <a:lstStyle/>
          <a:p>
            <a:pPr algn="l">
              <a:lnSpc>
                <a:spcPts val="2520"/>
              </a:lnSpc>
            </a:pPr>
            <a:r>
              <a:rPr lang="en-US" b="true" sz="1800" spc="72">
                <a:gradFill>
                  <a:gsLst>
                    <a:gs pos="0">
                      <a:srgbClr val="0D0F26">
                        <a:alpha val="55000"/>
                      </a:srgbClr>
                    </a:gs>
                    <a:gs pos="100000">
                      <a:srgbClr val="0D0F26">
                        <a:alpha val="55000"/>
                      </a:srgbClr>
                    </a:gs>
                  </a:gsLst>
                  <a:lin ang="16200000"/>
                </a:gradFill>
                <a:latin typeface="Inter Medium"/>
                <a:ea typeface="Inter Medium"/>
                <a:cs typeface="Inter Medium"/>
                <a:sym typeface="Inter Medium"/>
              </a:rPr>
              <a:t>20 / 26</a:t>
            </a:r>
          </a:p>
        </p:txBody>
      </p:sp>
      <p:sp>
        <p:nvSpPr>
          <p:cNvPr name="TextBox 10" id="10"/>
          <p:cNvSpPr txBox="true"/>
          <p:nvPr/>
        </p:nvSpPr>
        <p:spPr>
          <a:xfrm rot="0">
            <a:off x="1143000" y="5610796"/>
            <a:ext cx="15629477" cy="1371600"/>
          </a:xfrm>
          <a:prstGeom prst="rect">
            <a:avLst/>
          </a:prstGeom>
        </p:spPr>
        <p:txBody>
          <a:bodyPr anchor="t" rtlCol="false" tIns="0" lIns="0" bIns="0" rIns="0">
            <a:spAutoFit/>
          </a:bodyPr>
          <a:lstStyle/>
          <a:p>
            <a:pPr algn="l">
              <a:lnSpc>
                <a:spcPts val="5399"/>
              </a:lnSpc>
            </a:pPr>
            <a:r>
              <a:rPr lang="en-US" sz="4499" spc="-44">
                <a:solidFill>
                  <a:srgbClr val="0D0F26"/>
                </a:solidFill>
                <a:latin typeface="Arimo"/>
                <a:ea typeface="Arimo"/>
                <a:cs typeface="Arimo"/>
                <a:sym typeface="Arimo"/>
              </a:rPr>
              <a:t>Delay the </a:t>
            </a:r>
            <a:r>
              <a:rPr lang="en-US" b="true" sz="4499" spc="-44">
                <a:solidFill>
                  <a:srgbClr val="0D0F26"/>
                </a:solidFill>
                <a:latin typeface="Arimo Bold"/>
                <a:ea typeface="Arimo Bold"/>
                <a:cs typeface="Arimo Bold"/>
                <a:sym typeface="Arimo Bold"/>
              </a:rPr>
              <a:t>Related Posts</a:t>
            </a:r>
            <a:r>
              <a:rPr lang="en-US" sz="4499" spc="-44">
                <a:solidFill>
                  <a:srgbClr val="0D0F26"/>
                </a:solidFill>
                <a:latin typeface="Arimo"/>
                <a:ea typeface="Arimo"/>
                <a:cs typeface="Arimo"/>
                <a:sym typeface="Arimo"/>
              </a:rPr>
              <a:t> so they are handles by concurrent React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DAHKsBj0pmk</dc:identifier>
  <dcterms:modified xsi:type="dcterms:W3CDTF">2011-08-01T06:04:30Z</dcterms:modified>
  <cp:revision>1</cp:revision>
  <dc:title>React Performance Workshop</dc:title>
</cp:coreProperties>
</file>